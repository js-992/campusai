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jpeg" ContentType="image/jpeg"/>
  <Default Extension="JPG" ContentType="image/.jp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4.webp" ContentType="image/webp"/>
  <Override PartName="/ppt/media/image3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3"/>
    <p:sldMasterId id="2147483664" r:id="rId4"/>
    <p:sldMasterId id="2147483677" r:id="rId5"/>
    <p:sldMasterId id="2147483690" r:id="rId6"/>
    <p:sldMasterId id="2147483703" r:id="rId7"/>
  </p:sldMasterIdLst>
  <p:notesMasterIdLst>
    <p:notesMasterId r:id="rId11"/>
  </p:notesMasterIdLst>
  <p:handoutMasterIdLst>
    <p:handoutMasterId r:id="rId163"/>
  </p:handoutMasterIdLst>
  <p:sldIdLst>
    <p:sldId id="256" r:id="rId8"/>
    <p:sldId id="470" r:id="rId9"/>
    <p:sldId id="820" r:id="rId10"/>
    <p:sldId id="821" r:id="rId12"/>
    <p:sldId id="822" r:id="rId13"/>
    <p:sldId id="823" r:id="rId14"/>
    <p:sldId id="824" r:id="rId15"/>
    <p:sldId id="825" r:id="rId16"/>
    <p:sldId id="826" r:id="rId17"/>
    <p:sldId id="827" r:id="rId18"/>
    <p:sldId id="828" r:id="rId19"/>
    <p:sldId id="829" r:id="rId20"/>
    <p:sldId id="830" r:id="rId21"/>
    <p:sldId id="831" r:id="rId22"/>
    <p:sldId id="832" r:id="rId23"/>
    <p:sldId id="833" r:id="rId24"/>
    <p:sldId id="834" r:id="rId25"/>
    <p:sldId id="835" r:id="rId26"/>
    <p:sldId id="836" r:id="rId27"/>
    <p:sldId id="837" r:id="rId28"/>
    <p:sldId id="838" r:id="rId29"/>
    <p:sldId id="839" r:id="rId30"/>
    <p:sldId id="840" r:id="rId31"/>
    <p:sldId id="841" r:id="rId32"/>
    <p:sldId id="842" r:id="rId33"/>
    <p:sldId id="843" r:id="rId34"/>
    <p:sldId id="844" r:id="rId35"/>
    <p:sldId id="845" r:id="rId36"/>
    <p:sldId id="846" r:id="rId37"/>
    <p:sldId id="847" r:id="rId38"/>
    <p:sldId id="848" r:id="rId39"/>
    <p:sldId id="849" r:id="rId40"/>
    <p:sldId id="850" r:id="rId41"/>
    <p:sldId id="851" r:id="rId42"/>
    <p:sldId id="852" r:id="rId43"/>
    <p:sldId id="853" r:id="rId44"/>
    <p:sldId id="854" r:id="rId45"/>
    <p:sldId id="855" r:id="rId46"/>
    <p:sldId id="856" r:id="rId47"/>
    <p:sldId id="857" r:id="rId48"/>
    <p:sldId id="858" r:id="rId49"/>
    <p:sldId id="859" r:id="rId50"/>
    <p:sldId id="860" r:id="rId51"/>
    <p:sldId id="861" r:id="rId52"/>
    <p:sldId id="862" r:id="rId53"/>
    <p:sldId id="863" r:id="rId54"/>
    <p:sldId id="864" r:id="rId55"/>
    <p:sldId id="865" r:id="rId56"/>
    <p:sldId id="866" r:id="rId57"/>
    <p:sldId id="867" r:id="rId58"/>
    <p:sldId id="868" r:id="rId59"/>
    <p:sldId id="869" r:id="rId60"/>
    <p:sldId id="870" r:id="rId61"/>
    <p:sldId id="871" r:id="rId62"/>
    <p:sldId id="872" r:id="rId63"/>
    <p:sldId id="873" r:id="rId64"/>
    <p:sldId id="883" r:id="rId65"/>
    <p:sldId id="966" r:id="rId66"/>
    <p:sldId id="967" r:id="rId67"/>
    <p:sldId id="968" r:id="rId68"/>
    <p:sldId id="969" r:id="rId69"/>
    <p:sldId id="970" r:id="rId70"/>
    <p:sldId id="874" r:id="rId71"/>
    <p:sldId id="875" r:id="rId72"/>
    <p:sldId id="876" r:id="rId73"/>
    <p:sldId id="877" r:id="rId74"/>
    <p:sldId id="878" r:id="rId75"/>
    <p:sldId id="879" r:id="rId76"/>
    <p:sldId id="880" r:id="rId77"/>
    <p:sldId id="881" r:id="rId78"/>
    <p:sldId id="882" r:id="rId79"/>
    <p:sldId id="884" r:id="rId80"/>
    <p:sldId id="885" r:id="rId81"/>
    <p:sldId id="886" r:id="rId82"/>
    <p:sldId id="887" r:id="rId83"/>
    <p:sldId id="888" r:id="rId84"/>
    <p:sldId id="889" r:id="rId85"/>
    <p:sldId id="890" r:id="rId86"/>
    <p:sldId id="891" r:id="rId87"/>
    <p:sldId id="892" r:id="rId88"/>
    <p:sldId id="893" r:id="rId89"/>
    <p:sldId id="894" r:id="rId90"/>
    <p:sldId id="895" r:id="rId91"/>
    <p:sldId id="896" r:id="rId92"/>
    <p:sldId id="897" r:id="rId93"/>
    <p:sldId id="898" r:id="rId94"/>
    <p:sldId id="899" r:id="rId95"/>
    <p:sldId id="900" r:id="rId96"/>
    <p:sldId id="901" r:id="rId97"/>
    <p:sldId id="902" r:id="rId98"/>
    <p:sldId id="903" r:id="rId99"/>
    <p:sldId id="904" r:id="rId100"/>
    <p:sldId id="905" r:id="rId101"/>
    <p:sldId id="906" r:id="rId102"/>
    <p:sldId id="907" r:id="rId103"/>
    <p:sldId id="908" r:id="rId104"/>
    <p:sldId id="909" r:id="rId105"/>
    <p:sldId id="910" r:id="rId106"/>
    <p:sldId id="911" r:id="rId107"/>
    <p:sldId id="912" r:id="rId108"/>
    <p:sldId id="913" r:id="rId109"/>
    <p:sldId id="914" r:id="rId110"/>
    <p:sldId id="915" r:id="rId111"/>
    <p:sldId id="916" r:id="rId112"/>
    <p:sldId id="917" r:id="rId113"/>
    <p:sldId id="918" r:id="rId114"/>
    <p:sldId id="919" r:id="rId115"/>
    <p:sldId id="920" r:id="rId116"/>
    <p:sldId id="921" r:id="rId117"/>
    <p:sldId id="922" r:id="rId118"/>
    <p:sldId id="923" r:id="rId119"/>
    <p:sldId id="924" r:id="rId120"/>
    <p:sldId id="925" r:id="rId121"/>
    <p:sldId id="926" r:id="rId122"/>
    <p:sldId id="927" r:id="rId123"/>
    <p:sldId id="928" r:id="rId124"/>
    <p:sldId id="929" r:id="rId125"/>
    <p:sldId id="930" r:id="rId126"/>
    <p:sldId id="931" r:id="rId127"/>
    <p:sldId id="932" r:id="rId128"/>
    <p:sldId id="933" r:id="rId129"/>
    <p:sldId id="934" r:id="rId130"/>
    <p:sldId id="935" r:id="rId131"/>
    <p:sldId id="936" r:id="rId132"/>
    <p:sldId id="937" r:id="rId133"/>
    <p:sldId id="938" r:id="rId134"/>
    <p:sldId id="939" r:id="rId135"/>
    <p:sldId id="940" r:id="rId136"/>
    <p:sldId id="941" r:id="rId137"/>
    <p:sldId id="942" r:id="rId138"/>
    <p:sldId id="943" r:id="rId139"/>
    <p:sldId id="944" r:id="rId140"/>
    <p:sldId id="945" r:id="rId141"/>
    <p:sldId id="946" r:id="rId142"/>
    <p:sldId id="947" r:id="rId143"/>
    <p:sldId id="948" r:id="rId144"/>
    <p:sldId id="949" r:id="rId145"/>
    <p:sldId id="950" r:id="rId146"/>
    <p:sldId id="951" r:id="rId147"/>
    <p:sldId id="952" r:id="rId148"/>
    <p:sldId id="953" r:id="rId149"/>
    <p:sldId id="954" r:id="rId150"/>
    <p:sldId id="955" r:id="rId151"/>
    <p:sldId id="956" r:id="rId152"/>
    <p:sldId id="957" r:id="rId153"/>
    <p:sldId id="958" r:id="rId154"/>
    <p:sldId id="959" r:id="rId155"/>
    <p:sldId id="960" r:id="rId156"/>
    <p:sldId id="961" r:id="rId157"/>
    <p:sldId id="962" r:id="rId158"/>
    <p:sldId id="963" r:id="rId159"/>
    <p:sldId id="964" r:id="rId160"/>
    <p:sldId id="965" r:id="rId161"/>
    <p:sldId id="262" r:id="rId16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283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595" autoAdjust="0"/>
  </p:normalViewPr>
  <p:slideViewPr>
    <p:cSldViewPr showGuides="1">
      <p:cViewPr varScale="1">
        <p:scale>
          <a:sx n="64" d="100"/>
          <a:sy n="64" d="100"/>
        </p:scale>
        <p:origin x="1180" y="44"/>
      </p:cViewPr>
      <p:guideLst>
        <p:guide orient="horz" pos="2168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1.xml"/><Relationship Id="rId98" Type="http://schemas.openxmlformats.org/officeDocument/2006/relationships/slide" Target="slides/slide90.xml"/><Relationship Id="rId97" Type="http://schemas.openxmlformats.org/officeDocument/2006/relationships/slide" Target="slides/slide89.xml"/><Relationship Id="rId96" Type="http://schemas.openxmlformats.org/officeDocument/2006/relationships/slide" Target="slides/slide88.xml"/><Relationship Id="rId95" Type="http://schemas.openxmlformats.org/officeDocument/2006/relationships/slide" Target="slides/slide87.xml"/><Relationship Id="rId94" Type="http://schemas.openxmlformats.org/officeDocument/2006/relationships/slide" Target="slides/slide86.xml"/><Relationship Id="rId93" Type="http://schemas.openxmlformats.org/officeDocument/2006/relationships/slide" Target="slides/slide85.xml"/><Relationship Id="rId92" Type="http://schemas.openxmlformats.org/officeDocument/2006/relationships/slide" Target="slides/slide84.xml"/><Relationship Id="rId91" Type="http://schemas.openxmlformats.org/officeDocument/2006/relationships/slide" Target="slides/slide83.xml"/><Relationship Id="rId90" Type="http://schemas.openxmlformats.org/officeDocument/2006/relationships/slide" Target="slides/slide82.xml"/><Relationship Id="rId9" Type="http://schemas.openxmlformats.org/officeDocument/2006/relationships/slide" Target="slides/slide2.xml"/><Relationship Id="rId89" Type="http://schemas.openxmlformats.org/officeDocument/2006/relationships/slide" Target="slides/slide81.xml"/><Relationship Id="rId88" Type="http://schemas.openxmlformats.org/officeDocument/2006/relationships/slide" Target="slides/slide80.xml"/><Relationship Id="rId87" Type="http://schemas.openxmlformats.org/officeDocument/2006/relationships/slide" Target="slides/slide79.xml"/><Relationship Id="rId86" Type="http://schemas.openxmlformats.org/officeDocument/2006/relationships/slide" Target="slides/slide78.xml"/><Relationship Id="rId85" Type="http://schemas.openxmlformats.org/officeDocument/2006/relationships/slide" Target="slides/slide77.xml"/><Relationship Id="rId84" Type="http://schemas.openxmlformats.org/officeDocument/2006/relationships/slide" Target="slides/slide76.xml"/><Relationship Id="rId83" Type="http://schemas.openxmlformats.org/officeDocument/2006/relationships/slide" Target="slides/slide75.xml"/><Relationship Id="rId82" Type="http://schemas.openxmlformats.org/officeDocument/2006/relationships/slide" Target="slides/slide74.xml"/><Relationship Id="rId81" Type="http://schemas.openxmlformats.org/officeDocument/2006/relationships/slide" Target="slides/slide73.xml"/><Relationship Id="rId80" Type="http://schemas.openxmlformats.org/officeDocument/2006/relationships/slide" Target="slides/slide72.xml"/><Relationship Id="rId8" Type="http://schemas.openxmlformats.org/officeDocument/2006/relationships/slide" Target="slides/slide1.xml"/><Relationship Id="rId79" Type="http://schemas.openxmlformats.org/officeDocument/2006/relationships/slide" Target="slides/slide71.xml"/><Relationship Id="rId78" Type="http://schemas.openxmlformats.org/officeDocument/2006/relationships/slide" Target="slides/slide70.xml"/><Relationship Id="rId77" Type="http://schemas.openxmlformats.org/officeDocument/2006/relationships/slide" Target="slides/slide69.xml"/><Relationship Id="rId76" Type="http://schemas.openxmlformats.org/officeDocument/2006/relationships/slide" Target="slides/slide68.xml"/><Relationship Id="rId75" Type="http://schemas.openxmlformats.org/officeDocument/2006/relationships/slide" Target="slides/slide67.xml"/><Relationship Id="rId74" Type="http://schemas.openxmlformats.org/officeDocument/2006/relationships/slide" Target="slides/slide66.xml"/><Relationship Id="rId73" Type="http://schemas.openxmlformats.org/officeDocument/2006/relationships/slide" Target="slides/slide65.xml"/><Relationship Id="rId72" Type="http://schemas.openxmlformats.org/officeDocument/2006/relationships/slide" Target="slides/slide64.xml"/><Relationship Id="rId71" Type="http://schemas.openxmlformats.org/officeDocument/2006/relationships/slide" Target="slides/slide63.xml"/><Relationship Id="rId70" Type="http://schemas.openxmlformats.org/officeDocument/2006/relationships/slide" Target="slides/slide62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61.xml"/><Relationship Id="rId68" Type="http://schemas.openxmlformats.org/officeDocument/2006/relationships/slide" Target="slides/slide60.xml"/><Relationship Id="rId67" Type="http://schemas.openxmlformats.org/officeDocument/2006/relationships/slide" Target="slides/slide59.xml"/><Relationship Id="rId66" Type="http://schemas.openxmlformats.org/officeDocument/2006/relationships/slide" Target="slides/slide58.xml"/><Relationship Id="rId65" Type="http://schemas.openxmlformats.org/officeDocument/2006/relationships/slide" Target="slides/slide57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60" Type="http://schemas.openxmlformats.org/officeDocument/2006/relationships/slide" Target="slides/slide52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1.xml"/><Relationship Id="rId58" Type="http://schemas.openxmlformats.org/officeDocument/2006/relationships/slide" Target="slides/slide50.xml"/><Relationship Id="rId57" Type="http://schemas.openxmlformats.org/officeDocument/2006/relationships/slide" Target="slides/slide49.xml"/><Relationship Id="rId56" Type="http://schemas.openxmlformats.org/officeDocument/2006/relationships/slide" Target="slides/slide48.xml"/><Relationship Id="rId55" Type="http://schemas.openxmlformats.org/officeDocument/2006/relationships/slide" Target="slides/slide47.xml"/><Relationship Id="rId54" Type="http://schemas.openxmlformats.org/officeDocument/2006/relationships/slide" Target="slides/slide46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0" Type="http://schemas.openxmlformats.org/officeDocument/2006/relationships/slide" Target="slides/slide32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7" Type="http://schemas.openxmlformats.org/officeDocument/2006/relationships/commentAuthors" Target="commentAuthors.xml"/><Relationship Id="rId166" Type="http://schemas.openxmlformats.org/officeDocument/2006/relationships/tableStyles" Target="tableStyles.xml"/><Relationship Id="rId165" Type="http://schemas.openxmlformats.org/officeDocument/2006/relationships/viewProps" Target="viewProps.xml"/><Relationship Id="rId164" Type="http://schemas.openxmlformats.org/officeDocument/2006/relationships/presProps" Target="presProps.xml"/><Relationship Id="rId163" Type="http://schemas.openxmlformats.org/officeDocument/2006/relationships/handoutMaster" Target="handoutMasters/handoutMaster1.xml"/><Relationship Id="rId162" Type="http://schemas.openxmlformats.org/officeDocument/2006/relationships/slide" Target="slides/slide154.xml"/><Relationship Id="rId161" Type="http://schemas.openxmlformats.org/officeDocument/2006/relationships/slide" Target="slides/slide153.xml"/><Relationship Id="rId160" Type="http://schemas.openxmlformats.org/officeDocument/2006/relationships/slide" Target="slides/slide152.xml"/><Relationship Id="rId16" Type="http://schemas.openxmlformats.org/officeDocument/2006/relationships/slide" Target="slides/slide8.xml"/><Relationship Id="rId159" Type="http://schemas.openxmlformats.org/officeDocument/2006/relationships/slide" Target="slides/slide151.xml"/><Relationship Id="rId158" Type="http://schemas.openxmlformats.org/officeDocument/2006/relationships/slide" Target="slides/slide150.xml"/><Relationship Id="rId157" Type="http://schemas.openxmlformats.org/officeDocument/2006/relationships/slide" Target="slides/slide149.xml"/><Relationship Id="rId156" Type="http://schemas.openxmlformats.org/officeDocument/2006/relationships/slide" Target="slides/slide148.xml"/><Relationship Id="rId155" Type="http://schemas.openxmlformats.org/officeDocument/2006/relationships/slide" Target="slides/slide147.xml"/><Relationship Id="rId154" Type="http://schemas.openxmlformats.org/officeDocument/2006/relationships/slide" Target="slides/slide146.xml"/><Relationship Id="rId153" Type="http://schemas.openxmlformats.org/officeDocument/2006/relationships/slide" Target="slides/slide145.xml"/><Relationship Id="rId152" Type="http://schemas.openxmlformats.org/officeDocument/2006/relationships/slide" Target="slides/slide144.xml"/><Relationship Id="rId151" Type="http://schemas.openxmlformats.org/officeDocument/2006/relationships/slide" Target="slides/slide143.xml"/><Relationship Id="rId150" Type="http://schemas.openxmlformats.org/officeDocument/2006/relationships/slide" Target="slides/slide142.xml"/><Relationship Id="rId15" Type="http://schemas.openxmlformats.org/officeDocument/2006/relationships/slide" Target="slides/slide7.xml"/><Relationship Id="rId149" Type="http://schemas.openxmlformats.org/officeDocument/2006/relationships/slide" Target="slides/slide141.xml"/><Relationship Id="rId148" Type="http://schemas.openxmlformats.org/officeDocument/2006/relationships/slide" Target="slides/slide140.xml"/><Relationship Id="rId147" Type="http://schemas.openxmlformats.org/officeDocument/2006/relationships/slide" Target="slides/slide139.xml"/><Relationship Id="rId146" Type="http://schemas.openxmlformats.org/officeDocument/2006/relationships/slide" Target="slides/slide138.xml"/><Relationship Id="rId145" Type="http://schemas.openxmlformats.org/officeDocument/2006/relationships/slide" Target="slides/slide137.xml"/><Relationship Id="rId144" Type="http://schemas.openxmlformats.org/officeDocument/2006/relationships/slide" Target="slides/slide136.xml"/><Relationship Id="rId143" Type="http://schemas.openxmlformats.org/officeDocument/2006/relationships/slide" Target="slides/slide135.xml"/><Relationship Id="rId142" Type="http://schemas.openxmlformats.org/officeDocument/2006/relationships/slide" Target="slides/slide134.xml"/><Relationship Id="rId141" Type="http://schemas.openxmlformats.org/officeDocument/2006/relationships/slide" Target="slides/slide133.xml"/><Relationship Id="rId140" Type="http://schemas.openxmlformats.org/officeDocument/2006/relationships/slide" Target="slides/slide132.xml"/><Relationship Id="rId14" Type="http://schemas.openxmlformats.org/officeDocument/2006/relationships/slide" Target="slides/slide6.xml"/><Relationship Id="rId139" Type="http://schemas.openxmlformats.org/officeDocument/2006/relationships/slide" Target="slides/slide131.xml"/><Relationship Id="rId138" Type="http://schemas.openxmlformats.org/officeDocument/2006/relationships/slide" Target="slides/slide130.xml"/><Relationship Id="rId137" Type="http://schemas.openxmlformats.org/officeDocument/2006/relationships/slide" Target="slides/slide129.xml"/><Relationship Id="rId136" Type="http://schemas.openxmlformats.org/officeDocument/2006/relationships/slide" Target="slides/slide128.xml"/><Relationship Id="rId135" Type="http://schemas.openxmlformats.org/officeDocument/2006/relationships/slide" Target="slides/slide127.xml"/><Relationship Id="rId134" Type="http://schemas.openxmlformats.org/officeDocument/2006/relationships/slide" Target="slides/slide126.xml"/><Relationship Id="rId133" Type="http://schemas.openxmlformats.org/officeDocument/2006/relationships/slide" Target="slides/slide125.xml"/><Relationship Id="rId132" Type="http://schemas.openxmlformats.org/officeDocument/2006/relationships/slide" Target="slides/slide124.xml"/><Relationship Id="rId131" Type="http://schemas.openxmlformats.org/officeDocument/2006/relationships/slide" Target="slides/slide123.xml"/><Relationship Id="rId130" Type="http://schemas.openxmlformats.org/officeDocument/2006/relationships/slide" Target="slides/slide122.xml"/><Relationship Id="rId13" Type="http://schemas.openxmlformats.org/officeDocument/2006/relationships/slide" Target="slides/slide5.xml"/><Relationship Id="rId129" Type="http://schemas.openxmlformats.org/officeDocument/2006/relationships/slide" Target="slides/slide121.xml"/><Relationship Id="rId128" Type="http://schemas.openxmlformats.org/officeDocument/2006/relationships/slide" Target="slides/slide120.xml"/><Relationship Id="rId127" Type="http://schemas.openxmlformats.org/officeDocument/2006/relationships/slide" Target="slides/slide119.xml"/><Relationship Id="rId126" Type="http://schemas.openxmlformats.org/officeDocument/2006/relationships/slide" Target="slides/slide118.xml"/><Relationship Id="rId125" Type="http://schemas.openxmlformats.org/officeDocument/2006/relationships/slide" Target="slides/slide117.xml"/><Relationship Id="rId124" Type="http://schemas.openxmlformats.org/officeDocument/2006/relationships/slide" Target="slides/slide116.xml"/><Relationship Id="rId123" Type="http://schemas.openxmlformats.org/officeDocument/2006/relationships/slide" Target="slides/slide115.xml"/><Relationship Id="rId122" Type="http://schemas.openxmlformats.org/officeDocument/2006/relationships/slide" Target="slides/slide114.xml"/><Relationship Id="rId121" Type="http://schemas.openxmlformats.org/officeDocument/2006/relationships/slide" Target="slides/slide113.xml"/><Relationship Id="rId120" Type="http://schemas.openxmlformats.org/officeDocument/2006/relationships/slide" Target="slides/slide112.xml"/><Relationship Id="rId12" Type="http://schemas.openxmlformats.org/officeDocument/2006/relationships/slide" Target="slides/slide4.xml"/><Relationship Id="rId119" Type="http://schemas.openxmlformats.org/officeDocument/2006/relationships/slide" Target="slides/slide111.xml"/><Relationship Id="rId118" Type="http://schemas.openxmlformats.org/officeDocument/2006/relationships/slide" Target="slides/slide110.xml"/><Relationship Id="rId117" Type="http://schemas.openxmlformats.org/officeDocument/2006/relationships/slide" Target="slides/slide109.xml"/><Relationship Id="rId116" Type="http://schemas.openxmlformats.org/officeDocument/2006/relationships/slide" Target="slides/slide108.xml"/><Relationship Id="rId115" Type="http://schemas.openxmlformats.org/officeDocument/2006/relationships/slide" Target="slides/slide107.xml"/><Relationship Id="rId114" Type="http://schemas.openxmlformats.org/officeDocument/2006/relationships/slide" Target="slides/slide106.xml"/><Relationship Id="rId113" Type="http://schemas.openxmlformats.org/officeDocument/2006/relationships/slide" Target="slides/slide105.xml"/><Relationship Id="rId112" Type="http://schemas.openxmlformats.org/officeDocument/2006/relationships/slide" Target="slides/slide104.xml"/><Relationship Id="rId111" Type="http://schemas.openxmlformats.org/officeDocument/2006/relationships/slide" Target="slides/slide103.xml"/><Relationship Id="rId110" Type="http://schemas.openxmlformats.org/officeDocument/2006/relationships/slide" Target="slides/slide102.xml"/><Relationship Id="rId11" Type="http://schemas.openxmlformats.org/officeDocument/2006/relationships/notesMaster" Target="notesMasters/notesMaster1.xml"/><Relationship Id="rId109" Type="http://schemas.openxmlformats.org/officeDocument/2006/relationships/slide" Target="slides/slide101.xml"/><Relationship Id="rId108" Type="http://schemas.openxmlformats.org/officeDocument/2006/relationships/slide" Target="slides/slide100.xml"/><Relationship Id="rId107" Type="http://schemas.openxmlformats.org/officeDocument/2006/relationships/slide" Target="slides/slide99.xml"/><Relationship Id="rId106" Type="http://schemas.openxmlformats.org/officeDocument/2006/relationships/slide" Target="slides/slide98.xml"/><Relationship Id="rId105" Type="http://schemas.openxmlformats.org/officeDocument/2006/relationships/slide" Target="slides/slide97.xml"/><Relationship Id="rId104" Type="http://schemas.openxmlformats.org/officeDocument/2006/relationships/slide" Target="slides/slide96.xml"/><Relationship Id="rId103" Type="http://schemas.openxmlformats.org/officeDocument/2006/relationships/slide" Target="slides/slide95.xml"/><Relationship Id="rId102" Type="http://schemas.openxmlformats.org/officeDocument/2006/relationships/slide" Target="slides/slide94.xml"/><Relationship Id="rId101" Type="http://schemas.openxmlformats.org/officeDocument/2006/relationships/slide" Target="slides/slide93.xml"/><Relationship Id="rId100" Type="http://schemas.openxmlformats.org/officeDocument/2006/relationships/slide" Target="slides/slide92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image" Target="../media/image6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r>
              <a:rPr lang="en-US" altLang="en-US"/>
              <a:t>Dr. Mahavishnu.V.C</a:t>
            </a: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80198256-21CE-444F-8B34-C9529964DF50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/>
            </a:lvl1pPr>
          </a:lstStyle>
          <a:p>
            <a:r>
              <a:rPr lang="en-US" altLang="en-US"/>
              <a:t>Dr. Mahavishnu.V.C</a:t>
            </a:r>
            <a:endParaRPr lang="en-US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/>
            </a:lvl1pPr>
          </a:lstStyle>
          <a:p>
            <a:endParaRPr lang="en-US" alt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fld id="{1A679A73-E4F8-46C9-BFE8-750300F26D4F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6C1A27-5E0E-4519-B47D-CE7061E41505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E6D4CE-7E51-45F9-9D38-C961FBDFB35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CEC8C6-E810-4484-A297-26A2437CEBA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38E3A2B-1C0B-471A-A4D6-4233FF161C8C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5C7750-47E1-458A-9989-9BA8D4448C94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0C2A26-FBF5-46FA-899B-D75458F32531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AEE641A-9D92-4373-A5E0-4C11D51957E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959CA7-2AF4-41B1-8F12-DE232B007B0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EF6A302-414C-4CF1-ABBB-AF2CB72D9427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4AC478-933A-4CBB-A14C-170BD7B7A3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6B647AF-E822-4E57-BBE1-148D84FF4D7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CCD4250-8549-41EB-B8CE-11C2FE70C1AD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663A73F-90DC-456E-8045-F336DF30EDE6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5DB225-437D-47A1-AC86-C348FBB6B5C2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DB658E-05DD-4628-B2EA-452E849C1C28}" type="slidenum">
              <a:rPr lang="en-US" altLang="en-US">
                <a:latin typeface="Helvetica" panose="020B0604020202020204" pitchFamily="34" charset="0"/>
              </a:rPr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B255F6-0496-42D9-A50C-21BEA778293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8C993A-8BC4-4561-A588-A2EFC571D9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6695E-9013-4825-AE74-B375198EC2B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0FA2C5A-08D3-4CEE-94AC-EFFD301638E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BCE3FF5-CEA2-48B8-900D-389C7BA3E78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1FD1554-F607-4188-A668-41EC0D745C1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9C2251A-E27D-4976-912A-372946474BD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08CBD02-7938-4655-89C2-245E2DD80BF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E4C9D0-7D0A-45DF-B0CE-6AB3AEE439B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6D5DB69-22AD-4E1E-A59B-E2B46FD50CA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9EFB345-C37B-41EB-99D5-09E432045D9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2A2CBD-2239-4BE7-9133-34E34F8619C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720897-7524-49C1-AB7E-87D63B34260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665F5A3-B020-4290-AD98-D5279638C08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BE5443D-CFE2-4772-BFAF-AEDA3BB8263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0AF29B-E1F3-4565-9FEC-4E13442F52B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14756FE-28C0-4689-86B3-AA8D861AF58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E872443-CB56-4F1E-A9D0-0CA6A3CCD69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E28EDC-8892-4BD4-9B03-820979DFF07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0E586-48D7-4940-A2DF-E461BD85B02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A5281E3-0C39-498B-AF39-48565B4544F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D877D31-AB4E-4210-B2DB-080238C5EE9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1B98D01-049E-4171-943F-B5ABC66237D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D7419C-205B-4822-9762-6573B1EDC7C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C82682-D545-467D-8124-18513B1E9CE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D4C080-24BF-412B-8F06-E36EDFECF8D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2676500-2F49-4FEE-A5A8-EF61C8B8708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C81BFE0-00FB-494F-8EAE-0AA4F1450B8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6397F0-D1D0-4685-84E3-808C672B456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EF08-9DD4-482D-90BC-07DC57F8A32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E3A684B-4A3B-43F3-9569-2AE451F945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3DACEB9-9E2C-4066-B0B4-6F4B7E0755D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8AE1AD-3F56-4889-BDA2-43C04193A71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87D0B8B-BAFD-4A3D-B391-FA971194D587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70A1341-C92E-4F22-99B6-43D85D252F2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6D20E2-6F0E-4310-B85C-56C40751DF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B346C7A-1455-4A31-B80D-17977E7A4EF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F514684-2866-4F4C-BBA1-FDD60510CA6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7FEAF7-4BEB-42B5-B76A-25A683C8B67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3E10020-71C2-454F-B242-56666943DF3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19EF8C-4231-4782-B39A-7B2E0F77F2B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CCE5AD-C314-4DFB-97F8-C64B9C4C8E4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090860-9AF5-424D-A333-7DC8522BDD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5CAD1E-1E22-4637-B2E6-50F21264D3FA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658769-8F6C-489F-90D1-9CC8B16600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BBE8513-7EE7-473B-AF73-11B00E2FA16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9FEF30-9510-4C58-8BDC-945E5163F881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3FEAB0-D0B8-4413-8091-47B30D592B6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DA1AAD5-B1CB-4150-8FBD-59C5EEEBE59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4FA84A1-1FEE-4467-9D36-F04EF63A92D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2644C32-2110-4DA3-B36E-B20BD12B768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C3FC6E-E384-4B81-AA25-F632E158956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FFE3F1-2A37-4DDB-9015-6B1A489622A6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85EF551-EF8F-46DA-A89F-7791386C4B4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3CA6C3-4E4A-4280-9B61-3AC42C0B926C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dpi="0" rotWithShape="0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4584" y="230784"/>
            <a:ext cx="8663880" cy="147002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1500000">
              <a:rot lat="20158415" lon="702463" rev="21443315"/>
            </a:camera>
            <a:lightRig rig="twoPt" dir="t">
              <a:rot lat="0" lon="0" rev="0"/>
            </a:lightRig>
          </a:scene3d>
          <a:sp3d extrusionH="44450" prstMaterial="translucentPowder">
            <a:bevelT w="266700" h="228600" prst="softRound"/>
            <a:bevelB w="63500" h="95250"/>
          </a:sp3d>
        </p:spPr>
        <p:txBody>
          <a:bodyPr/>
          <a:lstStyle>
            <a:lvl1pPr algn="ctr">
              <a:defRPr sz="4400" b="1">
                <a:solidFill>
                  <a:srgbClr val="800000"/>
                </a:solidFill>
                <a:latin typeface="Book Antiqua" panose="0204060205030503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en-US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88024" y="4869160"/>
            <a:ext cx="4231332" cy="720080"/>
          </a:xfrm>
          <a:solidFill>
            <a:schemeClr val="bg2">
              <a:lumMod val="40000"/>
              <a:lumOff val="60000"/>
              <a:alpha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19799991" lon="21599966" rev="0"/>
            </a:camera>
            <a:lightRig rig="soft" dir="t">
              <a:rot lat="0" lon="0" rev="0"/>
            </a:lightRig>
          </a:scene3d>
          <a:sp3d prstMaterial="matte">
            <a:bevelT w="171450" h="222250" prst="artDeco"/>
            <a:bevelB w="69850" h="88900"/>
            <a:contourClr>
              <a:srgbClr val="FFFFFF"/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none"/>
        </p:style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altLang="en-US" noProof="0" dirty="0"/>
              <a:t>Dr. Mahavishnu. V.C</a:t>
            </a:r>
            <a:endParaRPr lang="en-US" altLang="en-US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12160" y="-70596"/>
            <a:ext cx="3333800" cy="187228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784890-E535-495A-8881-A9470A82204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7D3E02-F513-43D2-A611-D9561CF2DF6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28051D-309C-43A2-993B-799075491F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9094EB-B1A5-443B-AEB1-46D0772B00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8AC236-EAD6-4E04-95CC-F8F3AA70DD2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C8ACF5-0FA7-421B-A754-9797296E913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797C82-3291-4DE6-952B-3E975119DAE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6AE1A8-597C-4AD5-B46F-24D7145D185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DEDCCD-6652-484F-B6CF-5E24A06825F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0"/>
            <a:ext cx="21526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055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F3F709-C927-4AC9-9869-16A3681B0B1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E40BA-6A86-4CFA-8FF8-AA9C15869C4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Same Side Corner Rectangle 2"/>
          <p:cNvSpPr/>
          <p:nvPr userDrawn="1"/>
        </p:nvSpPr>
        <p:spPr>
          <a:xfrm rot="5400000">
            <a:off x="1306600" y="1963800"/>
            <a:ext cx="2462856" cy="5076056"/>
          </a:xfrm>
          <a:prstGeom prst="round2Same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7544" y="5060583"/>
            <a:ext cx="4320480" cy="384043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3621021"/>
            <a:ext cx="4320480" cy="144016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FREE</a:t>
            </a:r>
            <a:endParaRPr lang="en-US" altLang="ko-KR" dirty="0"/>
          </a:p>
          <a:p>
            <a:pPr lvl="0"/>
            <a:r>
              <a:rPr lang="en-US" altLang="ko-KR" dirty="0"/>
              <a:t>PPT TEMPLATES</a:t>
            </a:r>
            <a:endParaRPr lang="en-US" altLang="ko-KR" dirty="0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2001657" y="4543638"/>
            <a:ext cx="5148064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001657" y="5253203"/>
            <a:ext cx="5148064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  <a:endParaRPr lang="en-US" altLang="ko-KR" dirty="0"/>
          </a:p>
        </p:txBody>
      </p:sp>
    </p:spTree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dpi="0" rotWithShape="0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4584" y="230784"/>
            <a:ext cx="8663880" cy="147002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1500000">
              <a:rot lat="20158415" lon="702463" rev="21443315"/>
            </a:camera>
            <a:lightRig rig="twoPt" dir="t">
              <a:rot lat="0" lon="0" rev="0"/>
            </a:lightRig>
          </a:scene3d>
          <a:sp3d extrusionH="44450" prstMaterial="translucentPowder">
            <a:bevelT w="266700" h="228600" prst="softRound"/>
            <a:bevelB w="63500" h="95250"/>
          </a:sp3d>
        </p:spPr>
        <p:txBody>
          <a:bodyPr/>
          <a:lstStyle>
            <a:lvl1pPr algn="ctr">
              <a:defRPr sz="4400" b="1">
                <a:solidFill>
                  <a:srgbClr val="800000"/>
                </a:solidFill>
                <a:latin typeface="Book Antiqua" panose="02040602050305030304" pitchFamily="18" charset="0"/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  <a:endParaRPr lang="en-US" altLang="en-US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88024" y="4869160"/>
            <a:ext cx="4231332" cy="720080"/>
          </a:xfrm>
          <a:solidFill>
            <a:schemeClr val="bg2">
              <a:lumMod val="40000"/>
              <a:lumOff val="60000"/>
              <a:alpha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19799991" lon="21599966" rev="0"/>
            </a:camera>
            <a:lightRig rig="soft" dir="t">
              <a:rot lat="0" lon="0" rev="0"/>
            </a:lightRig>
          </a:scene3d>
          <a:sp3d prstMaterial="matte">
            <a:bevelT w="171450" h="222250" prst="artDeco"/>
            <a:bevelB w="69850" h="88900"/>
            <a:contourClr>
              <a:srgbClr val="FFFFFF"/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none"/>
        </p:style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altLang="en-US" noProof="0" dirty="0"/>
              <a:t>Dr. Mahavishnu. V.C</a:t>
            </a:r>
            <a:endParaRPr lang="en-US" altLang="en-US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endParaRPr lang="en-I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0"/>
            <a:ext cx="21526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055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  <a:endParaRPr lang="en-IN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000000"/>
                </a:solidFill>
              </a:rPr>
              <a:t>PSG Institute of Technology and Applied Research</a:t>
            </a:r>
            <a:endParaRPr lang="en-I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</a:rPr>
            </a:fld>
            <a:endParaRPr lang="en-IN">
              <a:solidFill>
                <a:srgbClr val="000000"/>
              </a:solidFill>
            </a:endParaRPr>
          </a:p>
        </p:txBody>
      </p:sp>
    </p:spTree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dpi="0" rotWithShape="0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4584" y="230784"/>
            <a:ext cx="8663880" cy="147002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1500000">
              <a:rot lat="20158415" lon="702463" rev="21443315"/>
            </a:camera>
            <a:lightRig rig="twoPt" dir="t">
              <a:rot lat="0" lon="0" rev="0"/>
            </a:lightRig>
          </a:scene3d>
          <a:sp3d extrusionH="44450" prstMaterial="translucentPowder">
            <a:bevelT w="266700" h="228600" prst="softRound"/>
            <a:bevelB w="63500" h="95250"/>
          </a:sp3d>
        </p:spPr>
        <p:txBody>
          <a:bodyPr/>
          <a:lstStyle>
            <a:lvl1pPr algn="ctr">
              <a:defRPr sz="4400" b="1">
                <a:solidFill>
                  <a:srgbClr val="800000"/>
                </a:solidFill>
                <a:latin typeface="Book Antiqua" panose="0204060205030503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en-US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88024" y="4869160"/>
            <a:ext cx="4231332" cy="720080"/>
          </a:xfrm>
          <a:solidFill>
            <a:schemeClr val="bg2">
              <a:lumMod val="40000"/>
              <a:lumOff val="60000"/>
              <a:alpha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19799991" lon="21599966" rev="0"/>
            </a:camera>
            <a:lightRig rig="soft" dir="t">
              <a:rot lat="0" lon="0" rev="0"/>
            </a:lightRig>
          </a:scene3d>
          <a:sp3d prstMaterial="matte">
            <a:bevelT w="171450" h="222250" prst="artDeco"/>
            <a:bevelB w="69850" h="88900"/>
            <a:contourClr>
              <a:srgbClr val="FFFFFF"/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none"/>
        </p:style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altLang="en-US" noProof="0" dirty="0"/>
              <a:t>Dr. Mahavishnu. V.C</a:t>
            </a:r>
            <a:endParaRPr lang="en-US" altLang="en-US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12160" y="-70596"/>
            <a:ext cx="3333800" cy="187228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784890-E535-495A-8881-A9470A82204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7D3E02-F513-43D2-A611-D9561CF2DF6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28051D-309C-43A2-993B-799075491F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9094EB-B1A5-443B-AEB1-46D0772B00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8AC236-EAD6-4E04-95CC-F8F3AA70DD2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C8ACF5-0FA7-421B-A754-9797296E913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797C82-3291-4DE6-952B-3E975119DAE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6AE1A8-597C-4AD5-B46F-24D7145D185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DEDCCD-6652-484F-B6CF-5E24A06825F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0"/>
            <a:ext cx="21526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055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F3F709-C927-4AC9-9869-16A3681B0B1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E40BA-6A86-4CFA-8FF8-AA9C15869C4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dpi="0" rotWithShape="0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4584" y="230784"/>
            <a:ext cx="8663880" cy="147002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1500000">
              <a:rot lat="20158415" lon="702463" rev="21443315"/>
            </a:camera>
            <a:lightRig rig="twoPt" dir="t">
              <a:rot lat="0" lon="0" rev="0"/>
            </a:lightRig>
          </a:scene3d>
          <a:sp3d extrusionH="44450" prstMaterial="translucentPowder">
            <a:bevelT w="266700" h="228600" prst="softRound"/>
            <a:bevelB w="63500" h="95250"/>
          </a:sp3d>
        </p:spPr>
        <p:txBody>
          <a:bodyPr/>
          <a:lstStyle>
            <a:lvl1pPr algn="ctr">
              <a:defRPr sz="4400" b="1">
                <a:solidFill>
                  <a:srgbClr val="800000"/>
                </a:solidFill>
                <a:latin typeface="Book Antiqua" panose="0204060205030503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en-US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88024" y="4869160"/>
            <a:ext cx="4231332" cy="720080"/>
          </a:xfrm>
          <a:solidFill>
            <a:schemeClr val="bg2">
              <a:lumMod val="40000"/>
              <a:lumOff val="60000"/>
              <a:alpha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19799991" lon="21599966" rev="0"/>
            </a:camera>
            <a:lightRig rig="soft" dir="t">
              <a:rot lat="0" lon="0" rev="0"/>
            </a:lightRig>
          </a:scene3d>
          <a:sp3d prstMaterial="matte">
            <a:bevelT w="171450" h="222250" prst="artDeco"/>
            <a:bevelB w="69850" h="88900"/>
            <a:contourClr>
              <a:srgbClr val="FFFFFF"/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none"/>
        </p:style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altLang="en-US" noProof="0" dirty="0"/>
              <a:t>Dr. Mahavishnu. V.C</a:t>
            </a:r>
            <a:endParaRPr lang="en-US" altLang="en-US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12160" y="-70596"/>
            <a:ext cx="3333800" cy="187228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784890-E535-495A-8881-A9470A82204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7D3E02-F513-43D2-A611-D9561CF2DF6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28051D-309C-43A2-993B-799075491F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9094EB-B1A5-443B-AEB1-46D0772B00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8AC236-EAD6-4E04-95CC-F8F3AA70DD2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C8ACF5-0FA7-421B-A754-9797296E913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797C82-3291-4DE6-952B-3E975119DAE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6AE1A8-597C-4AD5-B46F-24D7145D185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DEDCCD-6652-484F-B6CF-5E24A06825F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0"/>
            <a:ext cx="21526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055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F3F709-C927-4AC9-9869-16A3681B0B1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E40BA-6A86-4CFA-8FF8-AA9C15869C4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dpi="0" rotWithShape="0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4584" y="230784"/>
            <a:ext cx="8663880" cy="1470025"/>
          </a:xfrm>
          <a:solidFill>
            <a:schemeClr val="bg2">
              <a:lumMod val="40000"/>
              <a:lumOff val="60000"/>
            </a:schemeClr>
          </a:solidFill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1500000">
              <a:rot lat="20158415" lon="702463" rev="21443315"/>
            </a:camera>
            <a:lightRig rig="twoPt" dir="t">
              <a:rot lat="0" lon="0" rev="0"/>
            </a:lightRig>
          </a:scene3d>
          <a:sp3d extrusionH="44450" prstMaterial="translucentPowder">
            <a:bevelT w="266700" h="228600" prst="softRound"/>
            <a:bevelB w="63500" h="95250"/>
          </a:sp3d>
        </p:spPr>
        <p:txBody>
          <a:bodyPr/>
          <a:lstStyle>
            <a:lvl1pPr algn="ctr">
              <a:defRPr sz="4400" b="1">
                <a:solidFill>
                  <a:srgbClr val="800000"/>
                </a:solidFill>
                <a:latin typeface="Book Antiqua" panose="0204060205030503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  <a:endParaRPr lang="en-US" altLang="en-US" noProof="0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88024" y="4869160"/>
            <a:ext cx="4231332" cy="720080"/>
          </a:xfrm>
          <a:solidFill>
            <a:schemeClr val="bg2">
              <a:lumMod val="40000"/>
              <a:lumOff val="60000"/>
              <a:alpha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19799991" lon="21599966" rev="0"/>
            </a:camera>
            <a:lightRig rig="soft" dir="t">
              <a:rot lat="0" lon="0" rev="0"/>
            </a:lightRig>
          </a:scene3d>
          <a:sp3d prstMaterial="matte">
            <a:bevelT w="171450" h="222250" prst="artDeco"/>
            <a:bevelB w="69850" h="88900"/>
            <a:contourClr>
              <a:srgbClr val="FFFFFF"/>
            </a:contourClr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none"/>
        </p:style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b="1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altLang="en-US" noProof="0" dirty="0"/>
              <a:t>Dr. Mahavishnu. V.C</a:t>
            </a:r>
            <a:endParaRPr lang="en-US" altLang="en-US" noProof="0" dirty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381750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6012160" y="-70596"/>
            <a:ext cx="3333800" cy="187228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2784890-E535-495A-8881-A9470A82204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7D3E02-F513-43D2-A611-D9561CF2DF6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417638"/>
            <a:ext cx="4038600" cy="4525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328051D-309C-43A2-993B-799075491F4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9094EB-B1A5-443B-AEB1-46D0772B00C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8AC236-EAD6-4E04-95CC-F8F3AA70DD2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C8ACF5-0FA7-421B-A754-9797296E913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3797C82-3291-4DE6-952B-3E975119DAE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6AE1A8-597C-4AD5-B46F-24D7145D185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DEDCCD-6652-484F-B6CF-5E24A06825F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0"/>
            <a:ext cx="21526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055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6F3F709-C927-4AC9-9869-16A3681B0B1E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en-IN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7E40BA-6A86-4CFA-8FF8-AA9C15869C4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5" Type="http://schemas.openxmlformats.org/officeDocument/2006/relationships/theme" Target="../theme/theme3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5" Type="http://schemas.openxmlformats.org/officeDocument/2006/relationships/theme" Target="../theme/theme4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5" Type="http://schemas.openxmlformats.org/officeDocument/2006/relationships/theme" Target="../theme/theme5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9.xml"/><Relationship Id="rId8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2.xml"/><Relationship Id="rId15" Type="http://schemas.openxmlformats.org/officeDocument/2006/relationships/theme" Target="../theme/theme6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176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12160" y="-70596"/>
            <a:ext cx="3333800" cy="259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FDFA2284-B9B1-4549-8392-C835ECFD21EA}" type="slidenum">
              <a:rPr lang="en-US" altLang="en-US"/>
            </a:fld>
            <a:endParaRPr lang="en-US" altLang="en-US"/>
          </a:p>
        </p:txBody>
      </p:sp>
      <p:sp>
        <p:nvSpPr>
          <p:cNvPr id="4" name="TextBox 3"/>
          <p:cNvSpPr txBox="1"/>
          <p:nvPr userDrawn="1"/>
        </p:nvSpPr>
        <p:spPr>
          <a:xfrm rot="16200000">
            <a:off x="8474413" y="490652"/>
            <a:ext cx="1196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>
                <a:solidFill>
                  <a:schemeClr val="bg1"/>
                </a:solidFill>
              </a:rPr>
              <a:t>Dr.</a:t>
            </a:r>
            <a:r>
              <a:rPr lang="en-IN" sz="800" dirty="0">
                <a:solidFill>
                  <a:schemeClr val="bg1"/>
                </a:solidFill>
              </a:rPr>
              <a:t> </a:t>
            </a:r>
            <a:r>
              <a:rPr lang="en-IN" sz="800" dirty="0" err="1">
                <a:solidFill>
                  <a:schemeClr val="bg1"/>
                </a:solidFill>
              </a:rPr>
              <a:t>Mahavishnu.V.C</a:t>
            </a:r>
            <a:endParaRPr lang="en-IN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176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r>
              <a:rPr lang="en-US">
                <a:solidFill>
                  <a:srgbClr val="000000"/>
                </a:solidFill>
                <a:latin typeface="Times New Roman" panose="02020603050405020304" pitchFamily="18" charset="0"/>
              </a:rPr>
              <a:t>PSG Institute of Technology and Applied Research</a:t>
            </a:r>
            <a:endParaRPr lang="en-I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1763C9BD-C35F-4065-882B-A88F9F5BE7C7}" type="slidenum">
              <a:rPr lang="en-IN" smtClean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IN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Text Box 10"/>
          <p:cNvSpPr txBox="1">
            <a:spLocks noChangeArrowheads="1"/>
          </p:cNvSpPr>
          <p:nvPr userDrawn="1"/>
        </p:nvSpPr>
        <p:spPr bwMode="auto">
          <a:xfrm>
            <a:off x="4468521" y="855663"/>
            <a:ext cx="184731" cy="60087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B2B2B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>
              <a:lnSpc>
                <a:spcPct val="125000"/>
              </a:lnSpc>
            </a:pPr>
            <a:endParaRPr lang="en-US" altLang="en-US" sz="1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ctr">
              <a:lnSpc>
                <a:spcPct val="125000"/>
              </a:lnSpc>
            </a:pPr>
            <a:endParaRPr lang="en-US" altLang="en-US" sz="14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176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12160" y="-70596"/>
            <a:ext cx="3333800" cy="259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FDFA2284-B9B1-4549-8392-C835ECFD21EA}" type="slidenum">
              <a:rPr lang="en-US" altLang="en-US"/>
            </a:fld>
            <a:endParaRPr lang="en-US" altLang="en-US"/>
          </a:p>
        </p:txBody>
      </p:sp>
      <p:sp>
        <p:nvSpPr>
          <p:cNvPr id="4" name="TextBox 3"/>
          <p:cNvSpPr txBox="1"/>
          <p:nvPr userDrawn="1"/>
        </p:nvSpPr>
        <p:spPr>
          <a:xfrm rot="16200000">
            <a:off x="8474413" y="490652"/>
            <a:ext cx="1196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>
                <a:solidFill>
                  <a:schemeClr val="bg1"/>
                </a:solidFill>
              </a:rPr>
              <a:t>Dr.</a:t>
            </a:r>
            <a:r>
              <a:rPr lang="en-IN" sz="800" dirty="0">
                <a:solidFill>
                  <a:schemeClr val="bg1"/>
                </a:solidFill>
              </a:rPr>
              <a:t> </a:t>
            </a:r>
            <a:r>
              <a:rPr lang="en-IN" sz="800" dirty="0" err="1">
                <a:solidFill>
                  <a:schemeClr val="bg1"/>
                </a:solidFill>
              </a:rPr>
              <a:t>Mahavishnu.V.C</a:t>
            </a:r>
            <a:endParaRPr lang="en-IN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176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12160" y="-70596"/>
            <a:ext cx="3333800" cy="259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FDFA2284-B9B1-4549-8392-C835ECFD21EA}" type="slidenum">
              <a:rPr lang="en-US" altLang="en-US"/>
            </a:fld>
            <a:endParaRPr lang="en-US" altLang="en-US"/>
          </a:p>
        </p:txBody>
      </p:sp>
      <p:sp>
        <p:nvSpPr>
          <p:cNvPr id="4" name="TextBox 3"/>
          <p:cNvSpPr txBox="1"/>
          <p:nvPr userDrawn="1"/>
        </p:nvSpPr>
        <p:spPr>
          <a:xfrm rot="16200000">
            <a:off x="8474413" y="490652"/>
            <a:ext cx="1196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>
                <a:solidFill>
                  <a:schemeClr val="bg1"/>
                </a:solidFill>
              </a:rPr>
              <a:t>Dr.</a:t>
            </a:r>
            <a:r>
              <a:rPr lang="en-IN" sz="800" dirty="0">
                <a:solidFill>
                  <a:schemeClr val="bg1"/>
                </a:solidFill>
              </a:rPr>
              <a:t> </a:t>
            </a:r>
            <a:r>
              <a:rPr lang="en-IN" sz="800" dirty="0" err="1">
                <a:solidFill>
                  <a:schemeClr val="bg1"/>
                </a:solidFill>
              </a:rPr>
              <a:t>Mahavishnu.V.C</a:t>
            </a:r>
            <a:endParaRPr lang="en-IN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17638"/>
            <a:ext cx="822960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12160" y="-70596"/>
            <a:ext cx="3333800" cy="259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FDFA2284-B9B1-4549-8392-C835ECFD21EA}" type="slidenum">
              <a:rPr lang="en-US" altLang="en-US"/>
            </a:fld>
            <a:endParaRPr lang="en-US" altLang="en-US"/>
          </a:p>
        </p:txBody>
      </p:sp>
      <p:sp>
        <p:nvSpPr>
          <p:cNvPr id="4" name="TextBox 3"/>
          <p:cNvSpPr txBox="1"/>
          <p:nvPr userDrawn="1"/>
        </p:nvSpPr>
        <p:spPr>
          <a:xfrm rot="16200000">
            <a:off x="8474413" y="490652"/>
            <a:ext cx="11967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 err="1">
                <a:solidFill>
                  <a:schemeClr val="bg1"/>
                </a:solidFill>
              </a:rPr>
              <a:t>Dr.</a:t>
            </a:r>
            <a:r>
              <a:rPr lang="en-IN" sz="800" dirty="0">
                <a:solidFill>
                  <a:schemeClr val="bg1"/>
                </a:solidFill>
              </a:rPr>
              <a:t> </a:t>
            </a:r>
            <a:r>
              <a:rPr lang="en-IN" sz="800" dirty="0" err="1">
                <a:solidFill>
                  <a:schemeClr val="bg1"/>
                </a:solidFill>
              </a:rPr>
              <a:t>Mahavishnu.V.C</a:t>
            </a:r>
            <a:endParaRPr lang="en-IN" sz="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 b="1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lnSpc>
          <a:spcPct val="120000"/>
        </a:lnSpc>
        <a:spcBef>
          <a:spcPct val="20000"/>
        </a:spcBef>
        <a:spcAft>
          <a:spcPct val="0"/>
        </a:spcAft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3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1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0.xml"/><Relationship Id="rId1" Type="http://schemas.openxmlformats.org/officeDocument/2006/relationships/image" Target="../media/image34.webp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35.webp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9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9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1.e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2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3.e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4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9.jpe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0.jpe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jpe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jpe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jpe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jpe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5.jpe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6.jpe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7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9.e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jpe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emf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3.emf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4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5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4.wmf"/><Relationship Id="rId1" Type="http://schemas.openxmlformats.org/officeDocument/2006/relationships/oleObject" Target="../embeddings/oleObject1.bin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6.jpeg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7.jpeg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8.jpe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9.emf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0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1.emf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jpeg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emf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emf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6.emf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7.jpe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8.jpe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9.jpeg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8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291465" y="1557020"/>
            <a:ext cx="8608695" cy="5775325"/>
          </a:xfrm>
          <a:prstGeom prst="rect">
            <a:avLst/>
          </a:prstGeom>
        </p:spPr>
      </p:pic>
      <p:sp>
        <p:nvSpPr>
          <p:cNvPr id="215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7345" y="298"/>
            <a:ext cx="8663880" cy="1470025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altLang="en-US" sz="4000" dirty="0">
                <a:solidFill>
                  <a:schemeClr val="accent6">
                    <a:lumMod val="50000"/>
                  </a:schemeClr>
                </a:solidFill>
                <a:latin typeface="Algerian" panose="04020705040A02060702" charset="0"/>
                <a:cs typeface="Algerian" panose="04020705040A02060702" charset="0"/>
              </a:rPr>
              <a:t>CS3451 - INTRODUCTION TO OPERATING SYSTEMS </a:t>
            </a:r>
            <a:endParaRPr lang="en-US" altLang="en-US" sz="4000" dirty="0">
              <a:solidFill>
                <a:schemeClr val="accent6">
                  <a:lumMod val="50000"/>
                </a:schemeClr>
              </a:solidFill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166995" y="5922010"/>
            <a:ext cx="3977005" cy="935355"/>
          </a:xfrm>
          <a:solidFill>
            <a:schemeClr val="bg1">
              <a:lumMod val="95000"/>
              <a:alpha val="80000"/>
            </a:schemeClr>
          </a:solidFill>
        </p:spPr>
        <p:txBody>
          <a:bodyPr/>
          <a:lstStyle/>
          <a:p>
            <a:r>
              <a:rPr lang="en-US" altLang="en-US" sz="2800" dirty="0"/>
              <a:t>Dr. MAHAVISHNU.V.C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N" altLang="en-US"/>
              <a:t>Syllabus</a:t>
            </a:r>
            <a:endParaRPr lang="en-IN" altLang="en-US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4525962"/>
          </a:xfrm>
        </p:spPr>
        <p:txBody>
          <a:bodyPr/>
          <a:lstStyle/>
          <a:p>
            <a:pPr algn="just"/>
            <a:r>
              <a:rPr lang="en-US" altLang="en-US" sz="2800" b="1" dirty="0"/>
              <a:t>UNIT III	MEMORY MANAGEMENT	10</a:t>
            </a:r>
            <a:endParaRPr lang="en-US" altLang="en-US" sz="2800" b="1" dirty="0"/>
          </a:p>
          <a:p>
            <a:pPr marL="0" indent="0" algn="just">
              <a:buNone/>
            </a:pPr>
            <a:r>
              <a:rPr lang="en-US" altLang="en-US" sz="2800" dirty="0"/>
              <a:t>Main Memory - Swapping - Contiguous Memory Allocation – Paging - Structure of the Page Table - Segmentation, Segmentation with paging; Virtual Memory - Demand Paging – Copy on Write - Page Replacement - Allocation of Frames –Thrashing.</a:t>
            </a:r>
            <a:endParaRPr lang="en-US" altLang="en-US" sz="2800" dirty="0"/>
          </a:p>
          <a:p>
            <a:pPr marL="0" indent="0" algn="just">
              <a:buNone/>
            </a:pPr>
            <a:endParaRPr lang="en-US" altLang="en-US" sz="28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en-US"/>
              <a:t>PSG Institute of Technology and Applied Research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12660"/>
          <a:stretch>
            <a:fillRect/>
          </a:stretch>
        </p:blipFill>
        <p:spPr>
          <a:xfrm>
            <a:off x="-16510" y="4869180"/>
            <a:ext cx="9159875" cy="198882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t="20883" b="16559"/>
          <a:stretch>
            <a:fillRect/>
          </a:stretch>
        </p:blipFill>
        <p:spPr>
          <a:xfrm>
            <a:off x="179705" y="5949315"/>
            <a:ext cx="6871970" cy="4318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4455" y="5365433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sz="4000" b="0" i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Open Sans"/>
                <a:ea typeface="Open Sans"/>
              </a:rPr>
              <a:t>Slide courtesy of</a:t>
            </a:r>
            <a:endParaRPr sz="4000" b="0" i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Open Sans"/>
              <a:ea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  <a:endParaRPr lang="en-US" altLang="en-US" dirty="0"/>
          </a:p>
        </p:txBody>
      </p:sp>
      <p:sp>
        <p:nvSpPr>
          <p:cNvPr id="614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sz="2000" dirty="0"/>
              <a:t>Program must be brought (from disk)  into memory and placed within a process for it to be run</a:t>
            </a:r>
            <a:endParaRPr lang="en-US" altLang="en-US" sz="500" dirty="0"/>
          </a:p>
          <a:p>
            <a:r>
              <a:rPr lang="en-US" altLang="en-US" sz="2000" dirty="0"/>
              <a:t>Main memory and registers are only storage CPU can access directly</a:t>
            </a:r>
            <a:endParaRPr lang="en-US" altLang="en-US" sz="2000" dirty="0"/>
          </a:p>
          <a:p>
            <a:r>
              <a:rPr lang="en-US" altLang="en-US" sz="2000" dirty="0"/>
              <a:t>Memory unit only sees a stream of:</a:t>
            </a:r>
            <a:endParaRPr lang="en-US" altLang="en-US" sz="2000" dirty="0"/>
          </a:p>
          <a:p>
            <a:pPr lvl="1"/>
            <a:r>
              <a:rPr lang="en-US" altLang="en-US" sz="1800" dirty="0"/>
              <a:t>addresses + read requests, or </a:t>
            </a:r>
            <a:endParaRPr lang="en-US" altLang="en-US" sz="1800" dirty="0"/>
          </a:p>
          <a:p>
            <a:pPr lvl="1"/>
            <a:r>
              <a:rPr lang="en-US" altLang="en-US" sz="1800" dirty="0"/>
              <a:t>address + data and write requests</a:t>
            </a:r>
            <a:endParaRPr lang="en-US" altLang="en-US" sz="500" dirty="0"/>
          </a:p>
          <a:p>
            <a:r>
              <a:rPr lang="en-US" altLang="en-US" sz="2000" dirty="0"/>
              <a:t>Register access is done in one CPU clock (or less)</a:t>
            </a:r>
            <a:endParaRPr lang="en-US" altLang="en-US" sz="500" dirty="0"/>
          </a:p>
          <a:p>
            <a:r>
              <a:rPr lang="en-US" altLang="en-US" sz="2000" dirty="0"/>
              <a:t>Main memory can take many cycles, causing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stall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sits between main memory and CPU registers</a:t>
            </a:r>
            <a:endParaRPr lang="en-US" altLang="en-US" sz="500" dirty="0"/>
          </a:p>
          <a:p>
            <a:r>
              <a:rPr lang="en-US" altLang="en-US" sz="2000" dirty="0"/>
              <a:t>Protection of memory required to ensure correct operation</a:t>
            </a:r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436498" cy="1673193"/>
          </a:xfrm>
        </p:spPr>
        <p:txBody>
          <a:bodyPr/>
          <a:lstStyle/>
          <a:p>
            <a:r>
              <a:rPr lang="en-US" altLang="en-US" sz="2400" dirty="0"/>
              <a:t>Need to ensure that a process can access only those addresses in its address space.</a:t>
            </a:r>
            <a:endParaRPr lang="en-US" altLang="en-US" sz="2400" dirty="0"/>
          </a:p>
          <a:p>
            <a:r>
              <a:rPr lang="en-US" altLang="en-US" sz="2400" dirty="0"/>
              <a:t>We can provide this protection by using  a pair of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and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sz="2400" dirty="0"/>
              <a:t> define the logical address space of a process</a:t>
            </a:r>
            <a:endParaRPr lang="en-US" altLang="en-US" sz="2400" dirty="0"/>
          </a:p>
        </p:txBody>
      </p:sp>
      <p:pic>
        <p:nvPicPr>
          <p:cNvPr id="7172" name="Picture 5" descr="W:\os-book\OS10\slide-dir\os-figures\9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1260" y="3573139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  <a:endParaRPr lang="en-US" altLang="en-US" dirty="0"/>
          </a:p>
        </p:txBody>
      </p:sp>
      <p:sp>
        <p:nvSpPr>
          <p:cNvPr id="8195" name="Content Placeholder 3"/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sz="2000" dirty="0"/>
              <a:t>CPU must check every memory access generated in user mode to be sure it is between base and limit for that user</a:t>
            </a: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the instructions to loading the base and limit registers are privileged </a:t>
            </a:r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8196" name="Picture 4" descr="W:\os-book\OS10\slide-dir\os-figures\9_0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840" y="2348865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sz="2000" dirty="0"/>
              <a:t>Programs on disk, ready to be brought into memory to execute form an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input queue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kumimoji="0" lang="en-US" altLang="en-US" sz="1800" dirty="0"/>
              <a:t>Without support, must be loaded into address 0000</a:t>
            </a:r>
            <a:endParaRPr kumimoji="0" lang="en-US" altLang="en-US" sz="1800" dirty="0"/>
          </a:p>
          <a:p>
            <a:r>
              <a:rPr kumimoji="0" lang="en-US" altLang="en-US" sz="2000" dirty="0"/>
              <a:t>Inconvenient to have first user process physical address always at 0000 </a:t>
            </a:r>
            <a:endParaRPr kumimoji="0" lang="en-US" altLang="en-US" sz="2000" dirty="0"/>
          </a:p>
          <a:p>
            <a:pPr lvl="1"/>
            <a:r>
              <a:rPr kumimoji="0" lang="en-US" altLang="en-US" sz="1800" dirty="0"/>
              <a:t>How can it not be?</a:t>
            </a:r>
            <a:endParaRPr lang="en-US" altLang="en-US" sz="1800" dirty="0"/>
          </a:p>
          <a:p>
            <a:r>
              <a:rPr kumimoji="0" lang="en-US" altLang="en-US" sz="2000" dirty="0"/>
              <a:t>Addresses represented in different ways at different stages of a program</a:t>
            </a:r>
            <a:r>
              <a:rPr kumimoji="0" lang="ja-JP" altLang="en-US" sz="2000" dirty="0"/>
              <a:t>’</a:t>
            </a:r>
            <a:r>
              <a:rPr kumimoji="0" lang="en-US" altLang="ja-JP" sz="2000" dirty="0"/>
              <a:t>s life</a:t>
            </a:r>
            <a:endParaRPr kumimoji="0" lang="en-US" altLang="ja-JP" sz="2000" dirty="0"/>
          </a:p>
          <a:p>
            <a:pPr lvl="1"/>
            <a:r>
              <a:rPr kumimoji="0" lang="en-US" altLang="en-US" sz="1800" dirty="0"/>
              <a:t>Source code addresses usually symbolic</a:t>
            </a:r>
            <a:endParaRPr kumimoji="0" lang="en-US" altLang="en-US" sz="1800" dirty="0"/>
          </a:p>
          <a:p>
            <a:pPr lvl="1"/>
            <a:r>
              <a:rPr kumimoji="0" lang="en-US" altLang="en-US" sz="1800" dirty="0"/>
              <a:t>Compiled code addresses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sz="1800" b="1" dirty="0">
                <a:solidFill>
                  <a:srgbClr val="0000FF"/>
                </a:solidFill>
              </a:rPr>
              <a:t> </a:t>
            </a:r>
            <a:r>
              <a:rPr kumimoji="0" lang="en-US" altLang="en-US" sz="1800" dirty="0"/>
              <a:t>to relocatable addresses</a:t>
            </a:r>
            <a:endParaRPr kumimoji="0" lang="en-US" altLang="en-US" sz="1800" dirty="0"/>
          </a:p>
          <a:p>
            <a:pPr lvl="2"/>
            <a:r>
              <a:rPr kumimoji="0" lang="en-US" altLang="en-US" sz="1600" dirty="0"/>
              <a:t>i.e., </a:t>
            </a:r>
            <a:r>
              <a:rPr kumimoji="0" lang="ja-JP" altLang="en-US" sz="1600" dirty="0"/>
              <a:t>“</a:t>
            </a:r>
            <a:r>
              <a:rPr kumimoji="0" lang="en-US" altLang="ja-JP" sz="1600" dirty="0"/>
              <a:t>14 bytes from beginning of this module</a:t>
            </a:r>
            <a:r>
              <a:rPr kumimoji="0" lang="ja-JP" altLang="en-US" sz="1600" dirty="0"/>
              <a:t>”</a:t>
            </a:r>
            <a:endParaRPr kumimoji="0" lang="en-US" altLang="ja-JP" sz="1600" dirty="0"/>
          </a:p>
          <a:p>
            <a:pPr lvl="1"/>
            <a:r>
              <a:rPr kumimoji="0" lang="en-US" altLang="en-US" sz="1800" dirty="0"/>
              <a:t>Linker or loader will bind relocatable addresses to absolute addresses</a:t>
            </a:r>
            <a:endParaRPr kumimoji="0" lang="en-US" altLang="en-US" sz="1800" dirty="0"/>
          </a:p>
          <a:p>
            <a:pPr lvl="2"/>
            <a:r>
              <a:rPr kumimoji="0" lang="en-US" altLang="en-US" sz="1600" dirty="0"/>
              <a:t>i.e., 74014</a:t>
            </a:r>
            <a:endParaRPr kumimoji="0" lang="en-US" altLang="en-US" sz="1600" dirty="0"/>
          </a:p>
          <a:p>
            <a:pPr lvl="1"/>
            <a:r>
              <a:rPr kumimoji="0" lang="en-US" altLang="en-US" sz="1800" dirty="0"/>
              <a:t>Each binding maps one address space to another</a:t>
            </a:r>
            <a:endParaRPr kumimoji="0" lang="en-US" altLang="en-US" sz="2000" dirty="0"/>
          </a:p>
          <a:p>
            <a:pPr lvl="1"/>
            <a:endParaRPr kumimoji="0" lang="en-US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  <a:endParaRPr lang="en-US" altLang="en-US" sz="2800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sz="2800" dirty="0"/>
              <a:t>Address binding of instructions and data to memory addresses can happen at three different stages</a:t>
            </a:r>
            <a:endParaRPr kumimoji="0" lang="en-US" altLang="en-US" sz="2800" dirty="0"/>
          </a:p>
          <a:p>
            <a:pPr lvl="1"/>
            <a:r>
              <a:rPr lang="en-US" altLang="en-US" sz="2400" b="1" dirty="0"/>
              <a:t>Compile time</a:t>
            </a:r>
            <a:r>
              <a:rPr lang="en-US" altLang="en-US" sz="2400" dirty="0"/>
              <a:t>:  If memory location known a priori,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sz="2400" dirty="0"/>
              <a:t>can be generated; must recompile code if starting location changes</a:t>
            </a:r>
            <a:endParaRPr lang="en-US" altLang="en-US" sz="2400" dirty="0"/>
          </a:p>
          <a:p>
            <a:pPr lvl="1"/>
            <a:r>
              <a:rPr lang="en-US" altLang="en-US" sz="2400" b="1" dirty="0"/>
              <a:t>Load time</a:t>
            </a:r>
            <a:r>
              <a:rPr lang="en-US" altLang="en-US" sz="2400" dirty="0"/>
              <a:t>:  Must generate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sz="2400" dirty="0"/>
              <a:t>if memory location is not known at compile time</a:t>
            </a:r>
            <a:endParaRPr lang="en-US" altLang="en-US" sz="2400" dirty="0"/>
          </a:p>
          <a:p>
            <a:pPr lvl="1"/>
            <a:r>
              <a:rPr lang="en-US" altLang="en-US" sz="2400" b="1" dirty="0"/>
              <a:t>Execution time</a:t>
            </a:r>
            <a:r>
              <a:rPr lang="en-US" altLang="en-US" sz="2400" dirty="0"/>
              <a:t>:  Binding delayed until run time if the process can be moved during its execution from one memory segment to another</a:t>
            </a:r>
            <a:endParaRPr lang="en-US" altLang="en-US" sz="2400" dirty="0"/>
          </a:p>
          <a:p>
            <a:pPr lvl="2"/>
            <a:r>
              <a:rPr lang="en-US" altLang="en-US" sz="2000" dirty="0"/>
              <a:t>Need hardware support for address maps (e.g., base and limit</a:t>
            </a:r>
            <a:r>
              <a:rPr lang="en-US" altLang="en-US" sz="2000" i="1" dirty="0"/>
              <a:t> </a:t>
            </a:r>
            <a:r>
              <a:rPr lang="en-US" altLang="en-US" sz="2000" dirty="0"/>
              <a:t>registers)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  <a:endParaRPr lang="en-US" altLang="en-US" sz="3000" dirty="0"/>
          </a:p>
        </p:txBody>
      </p:sp>
      <p:pic>
        <p:nvPicPr>
          <p:cNvPr id="11267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  <a:endParaRPr lang="en-US" altLang="en-US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sz="2000" dirty="0"/>
              <a:t>The concept of a logical address space that is bound to a separate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central to proper memory management</a:t>
            </a:r>
            <a:endParaRPr lang="en-US" altLang="en-US" sz="2000" dirty="0"/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– generated by the CPU; also referred to as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address</a:t>
            </a:r>
            <a:endParaRPr lang="en-US" altLang="en-US" sz="18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– address seen by the memory unit</a:t>
            </a:r>
            <a:endParaRPr lang="en-US" altLang="en-US" sz="1800" dirty="0"/>
          </a:p>
          <a:p>
            <a:r>
              <a:rPr lang="en-US" altLang="en-US" sz="2000" dirty="0"/>
              <a:t>Logical and physical addresses are the same in compile-time and load-time address-binding schemes; logical (virtual) and physical addresses differ in execution-time address-binding scheme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the set of all logical addresses generated by a program</a:t>
            </a:r>
            <a:endParaRPr lang="en-US" altLang="en-US" sz="2000" dirty="0"/>
          </a:p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is the set of all physical addresses generated by a program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sz="2400" dirty="0"/>
              <a:t>Hardware device that at run time maps virtual to physical address</a:t>
            </a:r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pPr>
              <a:buFont typeface="Monotype Sorts" pitchFamily="-84" charset="2"/>
              <a:buNone/>
            </a:pPr>
            <a:endParaRPr lang="en-US" altLang="en-US" sz="600" dirty="0"/>
          </a:p>
        </p:txBody>
      </p:sp>
      <p:pic>
        <p:nvPicPr>
          <p:cNvPr id="13316" name="Picture 4" descr="W:\os-book\OS10\slide-dir\os-figures\9_0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468" y="2708593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sz="2400" dirty="0"/>
              <a:t>Consider simple scheme. which is  a generalization of the base-register scheme.</a:t>
            </a:r>
            <a:endParaRPr lang="en-US" altLang="en-US" sz="2400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sz="2000" dirty="0"/>
              <a:t>The base register now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>
              <a:defRPr/>
            </a:pPr>
            <a:r>
              <a:rPr lang="en-US" altLang="en-US" sz="2400" dirty="0"/>
              <a:t>The value in the relocation register is added to every address generated by a user process at the time it is sent to memory</a:t>
            </a:r>
            <a:endParaRPr lang="en-US" altLang="en-US" sz="2400" dirty="0"/>
          </a:p>
          <a:p>
            <a:pPr>
              <a:defRPr/>
            </a:pPr>
            <a:r>
              <a:rPr lang="en-US" altLang="en-US" sz="2400" dirty="0"/>
              <a:t>The user program deals with </a:t>
            </a:r>
            <a:r>
              <a:rPr lang="en-US" altLang="en-US" sz="2400" i="1" dirty="0"/>
              <a:t>logical</a:t>
            </a:r>
            <a:r>
              <a:rPr lang="en-US" altLang="en-US" sz="2400" dirty="0"/>
              <a:t> addresses; it never sees the </a:t>
            </a:r>
            <a:r>
              <a:rPr lang="en-US" altLang="en-US" sz="2400" i="1" dirty="0"/>
              <a:t>real</a:t>
            </a:r>
            <a:r>
              <a:rPr lang="en-US" altLang="en-US" sz="2400" dirty="0"/>
              <a:t> physical addresses</a:t>
            </a:r>
            <a:endParaRPr lang="en-US" altLang="en-US" sz="2400" dirty="0"/>
          </a:p>
          <a:p>
            <a:pPr lvl="1">
              <a:defRPr/>
            </a:pPr>
            <a:r>
              <a:rPr lang="en-US" altLang="en-US" sz="2000" dirty="0"/>
              <a:t>Execution-time binding occurs when reference is made to location in memory</a:t>
            </a:r>
            <a:endParaRPr lang="en-US" altLang="en-US" sz="2000" dirty="0"/>
          </a:p>
          <a:p>
            <a:pPr lvl="1">
              <a:defRPr/>
            </a:pPr>
            <a:r>
              <a:rPr lang="en-US" altLang="en-US" sz="2000" dirty="0"/>
              <a:t>Logical address bound to physical addresses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  <a:endParaRPr lang="en-US" alt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sz="2400" dirty="0"/>
              <a:t>Consider simple scheme. which is  a generalization of the base-register scheme.</a:t>
            </a:r>
            <a:endParaRPr lang="en-US" altLang="en-US" sz="2400" dirty="0"/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sz="2000" dirty="0"/>
              <a:t>The base register now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sz="2000" b="1" dirty="0">
                <a:solidFill>
                  <a:srgbClr val="0000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400" dirty="0"/>
              <a:t>The value in the relocation register is added to every address generated by a user process at the time it is sent to memory</a:t>
            </a:r>
            <a:endParaRPr lang="en-US" altLang="en-US" sz="2400" dirty="0"/>
          </a:p>
        </p:txBody>
      </p:sp>
      <p:pic>
        <p:nvPicPr>
          <p:cNvPr id="15364" name="Picture 2" descr="W:\os-book\OS10\slide-dir\os-figures\9_0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3932873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  <a:endParaRPr lang="en-US" altLang="en-US" dirty="0"/>
          </a:p>
        </p:txBody>
      </p:sp>
      <p:sp>
        <p:nvSpPr>
          <p:cNvPr id="16387" name="Rectangle 3"/>
          <p:cNvSpPr txBox="1">
            <a:spLocks noChangeArrowheads="1"/>
          </p:cNvSpPr>
          <p:nvPr/>
        </p:nvSpPr>
        <p:spPr bwMode="auto">
          <a:xfrm>
            <a:off x="135890" y="1340485"/>
            <a:ext cx="8980805" cy="5211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Helvetica" panose="020B0604020202020204" pitchFamily="34" charset="0"/>
              </a:rPr>
              <a:t>The entire  program does need to be in memory to execute</a:t>
            </a:r>
            <a:endParaRPr kumimoji="1" lang="en-US" altLang="en-US" sz="24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Helvetica" panose="020B0604020202020204" pitchFamily="34" charset="0"/>
              </a:rPr>
              <a:t>Routine is not loaded until it is called</a:t>
            </a:r>
            <a:endParaRPr kumimoji="1" lang="en-US" altLang="en-US" sz="24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Helvetica" panose="020B0604020202020204" pitchFamily="34" charset="0"/>
              </a:rPr>
              <a:t>Better memory-space utilization; unused routine is never loaded</a:t>
            </a:r>
            <a:endParaRPr kumimoji="1" lang="en-US" altLang="en-US" sz="24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Helvetica" panose="020B0604020202020204" pitchFamily="34" charset="0"/>
              </a:rPr>
              <a:t>All routines kept on disk in </a:t>
            </a:r>
            <a:r>
              <a:rPr kumimoji="1" lang="en-US" altLang="en-US" sz="2400" b="1" dirty="0">
                <a:latin typeface="Helvetica" panose="020B0604020202020204" pitchFamily="34" charset="0"/>
              </a:rPr>
              <a:t>relocatable load format</a:t>
            </a:r>
            <a:endParaRPr kumimoji="1" lang="en-US" altLang="en-US" sz="24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Helvetica" panose="020B0604020202020204" pitchFamily="34" charset="0"/>
              </a:rPr>
              <a:t>Useful when large amounts of code are needed to handle </a:t>
            </a:r>
            <a:r>
              <a:rPr kumimoji="1" lang="en-US" altLang="en-US" sz="2400" b="1" dirty="0">
                <a:latin typeface="Helvetica" panose="020B0604020202020204" pitchFamily="34" charset="0"/>
              </a:rPr>
              <a:t>infrequently occurring cases</a:t>
            </a:r>
            <a:endParaRPr kumimoji="1" lang="en-US" altLang="en-US" sz="24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2400" dirty="0">
                <a:latin typeface="Helvetica" panose="020B0604020202020204" pitchFamily="34" charset="0"/>
              </a:rPr>
              <a:t>No special support from the operating system is required</a:t>
            </a:r>
            <a:endParaRPr kumimoji="1" lang="en-US" altLang="en-US" sz="24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400" dirty="0">
                <a:latin typeface="Helvetica" panose="020B0604020202020204" pitchFamily="34" charset="0"/>
              </a:rPr>
              <a:t>Implemented through </a:t>
            </a:r>
            <a:r>
              <a:rPr kumimoji="1" lang="en-US" altLang="en-US" sz="2400" b="1" dirty="0">
                <a:latin typeface="Helvetica" panose="020B0604020202020204" pitchFamily="34" charset="0"/>
              </a:rPr>
              <a:t>program design</a:t>
            </a:r>
            <a:endParaRPr kumimoji="1" lang="en-US" altLang="en-US" sz="24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2400" dirty="0">
                <a:latin typeface="Helvetica" panose="020B0604020202020204" pitchFamily="34" charset="0"/>
              </a:rPr>
              <a:t>OS can help by providing libraries to implement </a:t>
            </a:r>
            <a:r>
              <a:rPr kumimoji="1" lang="en-US" altLang="en-US" sz="2400" b="1" dirty="0">
                <a:latin typeface="Helvetica" panose="020B0604020202020204" pitchFamily="34" charset="0"/>
              </a:rPr>
              <a:t>dynamic loading</a:t>
            </a:r>
            <a:endParaRPr kumimoji="1" lang="en-US" altLang="en-US" sz="2400" b="1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system libraries and program code combined by the loader into the binary program image</a:t>
            </a:r>
            <a:endParaRPr lang="en-US" altLang="en-US" sz="2000" dirty="0"/>
          </a:p>
          <a:p>
            <a:r>
              <a:rPr lang="en-US" altLang="en-US" sz="2000" dirty="0"/>
              <a:t>Dynamic linking –linking postponed until </a:t>
            </a:r>
            <a:r>
              <a:rPr lang="en-US" altLang="en-US" sz="2000" b="1" dirty="0"/>
              <a:t>execution time</a:t>
            </a:r>
            <a:endParaRPr lang="en-US" altLang="en-US" sz="500" dirty="0"/>
          </a:p>
          <a:p>
            <a:r>
              <a:rPr lang="en-US" altLang="en-US" sz="2000" dirty="0"/>
              <a:t>Small piece of code,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sz="2000" dirty="0"/>
              <a:t>, used to locate the appropriate memory-resident library routine</a:t>
            </a:r>
            <a:endParaRPr lang="en-US" altLang="en-US" sz="500" dirty="0"/>
          </a:p>
          <a:p>
            <a:r>
              <a:rPr lang="en-US" altLang="en-US" sz="2000" dirty="0"/>
              <a:t>Stub replaces itself with the address of the routine, and executes the routine</a:t>
            </a:r>
            <a:endParaRPr lang="en-US" altLang="en-US" sz="500" dirty="0"/>
          </a:p>
          <a:p>
            <a:r>
              <a:rPr lang="en-US" altLang="en-US" sz="2000" dirty="0"/>
              <a:t>Operating system checks if routine is in processes</a:t>
            </a:r>
            <a:r>
              <a:rPr lang="ja-JP" altLang="en-US" sz="2000" dirty="0"/>
              <a:t>’</a:t>
            </a:r>
            <a:r>
              <a:rPr lang="en-US" altLang="ja-JP" sz="2000" dirty="0"/>
              <a:t> memory address</a:t>
            </a:r>
            <a:endParaRPr lang="en-US" altLang="ja-JP" sz="2000" dirty="0"/>
          </a:p>
          <a:p>
            <a:pPr lvl="1"/>
            <a:r>
              <a:rPr lang="en-US" altLang="en-US" sz="1800" dirty="0"/>
              <a:t>If not in address space, add to address space</a:t>
            </a:r>
            <a:endParaRPr lang="en-US" altLang="en-US" sz="500" dirty="0"/>
          </a:p>
          <a:p>
            <a:r>
              <a:rPr lang="en-US" altLang="en-US" sz="2000" dirty="0"/>
              <a:t>Dynamic linking is particularly useful for libraries</a:t>
            </a:r>
            <a:endParaRPr lang="en-US" altLang="en-US" sz="500" dirty="0"/>
          </a:p>
          <a:p>
            <a:r>
              <a:rPr lang="en-US" altLang="en-US" sz="2000" dirty="0"/>
              <a:t>System also 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libraries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dirty="0">
                <a:solidFill>
                  <a:srgbClr val="000000"/>
                </a:solidFill>
              </a:rPr>
              <a:t>Consider applicability to patching system libraries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lvl="1"/>
            <a:r>
              <a:rPr lang="en-US" altLang="en-US" sz="1800" dirty="0">
                <a:solidFill>
                  <a:srgbClr val="000000"/>
                </a:solidFill>
              </a:rPr>
              <a:t>Versioning may be needed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  <a:endParaRPr lang="en-US" altLang="en-US" dirty="0"/>
          </a:p>
        </p:txBody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sz="2400" dirty="0"/>
              <a:t>Main memory must support both OS and user processes</a:t>
            </a:r>
            <a:endParaRPr lang="en-US" altLang="en-US" sz="2400" dirty="0"/>
          </a:p>
          <a:p>
            <a:r>
              <a:rPr lang="en-US" altLang="en-US" sz="2400" dirty="0"/>
              <a:t>Limited resource, must allocate efficiently</a:t>
            </a:r>
            <a:endParaRPr lang="en-US" altLang="en-US" sz="2400" dirty="0"/>
          </a:p>
          <a:p>
            <a:r>
              <a:rPr lang="en-US" altLang="en-US" sz="2400" dirty="0"/>
              <a:t>Contiguous allocation is one early method</a:t>
            </a:r>
            <a:endParaRPr lang="en-US" altLang="en-US" sz="2400" dirty="0"/>
          </a:p>
          <a:p>
            <a:r>
              <a:rPr lang="en-US" altLang="en-US" sz="2400" dirty="0"/>
              <a:t>Main memory usually into two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sz="2400" dirty="0"/>
              <a:t>:</a:t>
            </a:r>
            <a:endParaRPr lang="en-US" altLang="en-US" sz="2400" dirty="0"/>
          </a:p>
          <a:p>
            <a:pPr lvl="1"/>
            <a:r>
              <a:rPr lang="en-US" altLang="en-US" sz="2000" b="1" dirty="0"/>
              <a:t>Resident operating system</a:t>
            </a:r>
            <a:r>
              <a:rPr lang="en-US" altLang="en-US" sz="2000" dirty="0"/>
              <a:t>, usually held in low memory with interrupt vector</a:t>
            </a:r>
            <a:endParaRPr lang="en-US" altLang="en-US" sz="2000" dirty="0"/>
          </a:p>
          <a:p>
            <a:pPr lvl="1"/>
            <a:r>
              <a:rPr lang="en-US" altLang="en-US" sz="2000" b="1" dirty="0"/>
              <a:t>User processes</a:t>
            </a:r>
            <a:r>
              <a:rPr lang="en-US" altLang="en-US" sz="2000" dirty="0"/>
              <a:t> then held in high memory</a:t>
            </a:r>
            <a:endParaRPr lang="en-US" altLang="en-US" sz="2000" dirty="0"/>
          </a:p>
          <a:p>
            <a:pPr lvl="1"/>
            <a:r>
              <a:rPr lang="en-US" altLang="en-US" sz="2000" dirty="0"/>
              <a:t>Each process contained in single contiguous section of memory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  <a:endParaRPr lang="en-US" altLang="en-US" dirty="0"/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sz="2800" dirty="0"/>
              <a:t>Relocation registers used to protect user processes from each other, and from changing operating-system code and data</a:t>
            </a:r>
            <a:endParaRPr lang="en-US" altLang="en-US" sz="2800" dirty="0"/>
          </a:p>
          <a:p>
            <a:pPr lvl="1"/>
            <a:r>
              <a:rPr lang="en-US" altLang="en-US" sz="2400" dirty="0"/>
              <a:t>Base register contains value of smallest physical address</a:t>
            </a:r>
            <a:endParaRPr lang="en-US" altLang="en-US" sz="2400" dirty="0"/>
          </a:p>
          <a:p>
            <a:pPr lvl="1"/>
            <a:r>
              <a:rPr lang="en-US" altLang="en-US" sz="2400" dirty="0"/>
              <a:t>Limit register contains range of logical addresses – each logical address must be less than the limit register </a:t>
            </a:r>
            <a:endParaRPr lang="en-US" altLang="en-US" sz="2400" dirty="0"/>
          </a:p>
          <a:p>
            <a:pPr lvl="1"/>
            <a:r>
              <a:rPr lang="en-US" altLang="en-US" sz="2400" dirty="0"/>
              <a:t>MMU maps logical address </a:t>
            </a:r>
            <a:r>
              <a:rPr lang="en-US" altLang="en-US" sz="2400" i="1" dirty="0"/>
              <a:t>dynamically</a:t>
            </a:r>
            <a:endParaRPr lang="en-US" altLang="en-US" sz="2400" i="1" dirty="0"/>
          </a:p>
          <a:p>
            <a:pPr lvl="1"/>
            <a:r>
              <a:rPr lang="en-US" altLang="en-US" sz="2400" dirty="0"/>
              <a:t>Can then allow actions such as kernel code being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sz="2400" b="1" dirty="0">
                <a:solidFill>
                  <a:srgbClr val="0000FF"/>
                </a:solidFill>
              </a:rPr>
              <a:t> </a:t>
            </a:r>
            <a:r>
              <a:rPr lang="en-US" altLang="en-US" sz="2400" dirty="0"/>
              <a:t>and kernel changing size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  <a:endParaRPr lang="en-US" altLang="en-US" sz="2400" dirty="0"/>
          </a:p>
        </p:txBody>
      </p:sp>
      <p:pic>
        <p:nvPicPr>
          <p:cNvPr id="2048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05" y="1628775"/>
            <a:ext cx="8034655" cy="3989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br>
              <a:rPr lang="en-US" altLang="en-US" dirty="0"/>
            </a:br>
            <a:r>
              <a:rPr lang="en-US" altLang="en-US" dirty="0"/>
              <a:t>Variable Partition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  <a:endParaRPr lang="en-US" altLang="en-US" dirty="0"/>
          </a:p>
          <a:p>
            <a:pPr lvl="1"/>
            <a:r>
              <a:rPr lang="en-US" altLang="en-US" sz="1600" dirty="0"/>
              <a:t>Degree of multiprogramming limited by number of partitions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  <a:endParaRPr lang="en-US" altLang="en-US" sz="1600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  <a:endParaRPr lang="en-US" altLang="en-US" sz="1600" dirty="0"/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  <a:endParaRPr lang="en-US" altLang="en-US" sz="1600" dirty="0"/>
          </a:p>
          <a:p>
            <a:pPr lvl="1"/>
            <a:r>
              <a:rPr lang="en-US" altLang="en-US" sz="1600" dirty="0"/>
              <a:t>Process exiting frees its partition, adjacent free partitions combined</a:t>
            </a:r>
            <a:endParaRPr lang="en-US" altLang="en-US" sz="1600" dirty="0"/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  <a:endParaRPr lang="en-US" altLang="en-US" sz="1600" dirty="0"/>
          </a:p>
        </p:txBody>
      </p:sp>
      <p:pic>
        <p:nvPicPr>
          <p:cNvPr id="21508" name="Picture 5" descr="W:\os-book\OS10\slide-dir\os-figures\9_07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585" y="5084763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  <a:endParaRPr lang="en-US" altLang="en-US" dirty="0"/>
          </a:p>
        </p:txBody>
      </p:sp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755540" y="609328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  <a:endParaRPr lang="en-US" altLang="en-US" dirty="0"/>
          </a:p>
        </p:txBody>
      </p:sp>
      <p:sp>
        <p:nvSpPr>
          <p:cNvPr id="2355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– total memory space exists to satisfy a request, but it is not contiguous</a:t>
            </a:r>
            <a:endParaRPr lang="en-US" altLang="en-US" sz="2800" b="1" dirty="0">
              <a:solidFill>
                <a:srgbClr val="3366FF"/>
              </a:solidFill>
            </a:endParaRPr>
          </a:p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– allocated memory may be slightly larger than requested memory; this size difference is memory internal to a partition, but not being used</a:t>
            </a:r>
            <a:endParaRPr lang="en-US" altLang="en-US" sz="2800" dirty="0"/>
          </a:p>
          <a:p>
            <a:r>
              <a:rPr lang="en-US" altLang="en-US" sz="2800" dirty="0"/>
              <a:t>First fit analysis reveals that given </a:t>
            </a:r>
            <a:r>
              <a:rPr lang="en-US" altLang="en-US" sz="2800" i="1" dirty="0"/>
              <a:t>N</a:t>
            </a:r>
            <a:r>
              <a:rPr lang="en-US" altLang="en-US" sz="2800" dirty="0"/>
              <a:t> blocks allocated, 0.5 </a:t>
            </a:r>
            <a:r>
              <a:rPr lang="en-US" altLang="en-US" sz="2800" i="1" dirty="0"/>
              <a:t>N</a:t>
            </a:r>
            <a:r>
              <a:rPr lang="en-US" altLang="en-US" sz="2800" dirty="0"/>
              <a:t> blocks lost to fragmentation</a:t>
            </a:r>
            <a:endParaRPr lang="en-US" altLang="en-US" sz="2800" dirty="0"/>
          </a:p>
          <a:p>
            <a:pPr lvl="1"/>
            <a:r>
              <a:rPr lang="en-US" altLang="en-US" sz="2400" dirty="0"/>
              <a:t>1/3 may be unusable -&gt;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rule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  <a:endParaRPr lang="en-US" altLang="en-US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sz="2800" dirty="0"/>
              <a:t>Reduce external fragmentation by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compaction</a:t>
            </a:r>
            <a:endParaRPr lang="en-US" altLang="en-US" sz="28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400" dirty="0"/>
              <a:t>Shuffle memory contents to place all free memory together in one large block</a:t>
            </a:r>
            <a:endParaRPr lang="en-US" altLang="en-US" sz="2400" dirty="0"/>
          </a:p>
          <a:p>
            <a:pPr lvl="1"/>
            <a:r>
              <a:rPr lang="en-US" altLang="en-US" sz="2400" dirty="0"/>
              <a:t>Compaction is possible </a:t>
            </a:r>
            <a:r>
              <a:rPr lang="en-US" altLang="en-US" sz="2400" i="1" dirty="0"/>
              <a:t>only</a:t>
            </a:r>
            <a:r>
              <a:rPr lang="en-US" altLang="en-US" sz="2400" dirty="0"/>
              <a:t> if relocation is dynamic, and is done at execution time</a:t>
            </a:r>
            <a:endParaRPr lang="en-US" altLang="en-US" sz="2400" dirty="0"/>
          </a:p>
          <a:p>
            <a:pPr lvl="1"/>
            <a:r>
              <a:rPr lang="en-US" altLang="en-US" sz="2400" dirty="0"/>
              <a:t>I/O problem</a:t>
            </a:r>
            <a:endParaRPr lang="en-US" altLang="en-US" sz="2400" dirty="0"/>
          </a:p>
          <a:p>
            <a:pPr lvl="2"/>
            <a:r>
              <a:rPr lang="en-US" altLang="en-US" sz="2000" dirty="0"/>
              <a:t>Latch job in memory while it is involved in I/O</a:t>
            </a:r>
            <a:endParaRPr lang="en-US" altLang="en-US" sz="2000" dirty="0"/>
          </a:p>
          <a:p>
            <a:pPr lvl="2"/>
            <a:r>
              <a:rPr lang="en-US" altLang="en-US" sz="2000" dirty="0"/>
              <a:t>Do I/O only into OS buffers</a:t>
            </a:r>
            <a:endParaRPr lang="en-US" altLang="en-US" sz="2000" dirty="0"/>
          </a:p>
          <a:p>
            <a:r>
              <a:rPr lang="en-US" altLang="en-US" sz="2800" dirty="0"/>
              <a:t>Now consider that backing store has same fragmentation problems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  <a:endParaRPr lang="en-US" altLang="en-US" dirty="0"/>
          </a:p>
        </p:txBody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sz="2000" dirty="0"/>
              <a:t>Physical  address space of a process can be noncontiguous; process is allocated physical memory whenever the latter is available</a:t>
            </a:r>
            <a:endParaRPr lang="en-US" altLang="en-US" sz="2000" dirty="0"/>
          </a:p>
          <a:p>
            <a:pPr lvl="1"/>
            <a:r>
              <a:rPr lang="en-US" altLang="en-US" sz="1800" dirty="0"/>
              <a:t>Avoids external fragmentation</a:t>
            </a:r>
            <a:endParaRPr lang="en-US" altLang="en-US" sz="1800" dirty="0"/>
          </a:p>
          <a:p>
            <a:pPr lvl="1"/>
            <a:r>
              <a:rPr lang="en-US" altLang="en-US" sz="1800" dirty="0"/>
              <a:t>Avoids problem of varying sized memory chunks</a:t>
            </a:r>
            <a:endParaRPr lang="en-US" altLang="en-US" sz="500" dirty="0"/>
          </a:p>
          <a:p>
            <a:r>
              <a:rPr lang="en-US" altLang="en-US" sz="2000" dirty="0"/>
              <a:t>Divide physical memory into fixed-sized blocks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frames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1800" dirty="0">
                <a:solidFill>
                  <a:srgbClr val="000000"/>
                </a:solidFill>
              </a:rPr>
              <a:t>Size </a:t>
            </a:r>
            <a:r>
              <a:rPr lang="en-US" altLang="en-US" sz="1800" dirty="0"/>
              <a:t>is power of 2, between 512 bytes and 16 Mbytes</a:t>
            </a:r>
            <a:endParaRPr lang="en-US" altLang="en-US" sz="500" dirty="0"/>
          </a:p>
          <a:p>
            <a:r>
              <a:rPr lang="en-US" altLang="en-US" sz="2000" dirty="0"/>
              <a:t>Divide logical memory into blocks of same size called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pages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dirty="0"/>
              <a:t>Keep track of all free frames</a:t>
            </a:r>
            <a:endParaRPr lang="en-US" altLang="en-US" sz="500" dirty="0"/>
          </a:p>
          <a:p>
            <a:r>
              <a:rPr lang="en-US" altLang="en-US" sz="2000" dirty="0"/>
              <a:t>To run a program of size </a:t>
            </a:r>
            <a:r>
              <a:rPr lang="en-US" altLang="en-US" sz="2000" b="1" i="1" dirty="0"/>
              <a:t>N</a:t>
            </a:r>
            <a:r>
              <a:rPr lang="en-US" altLang="en-US" sz="2000" i="1" dirty="0"/>
              <a:t> </a:t>
            </a:r>
            <a:r>
              <a:rPr lang="en-US" altLang="en-US" sz="2000" dirty="0"/>
              <a:t>pages, need to find </a:t>
            </a:r>
            <a:r>
              <a:rPr lang="en-US" altLang="en-US" sz="2000" b="1" i="1" dirty="0"/>
              <a:t>N</a:t>
            </a:r>
            <a:r>
              <a:rPr lang="en-US" altLang="en-US" sz="2000" dirty="0"/>
              <a:t> free frames and load program</a:t>
            </a:r>
            <a:endParaRPr lang="en-US" altLang="en-US" sz="500" dirty="0"/>
          </a:p>
          <a:p>
            <a:r>
              <a:rPr lang="en-US" altLang="en-US" sz="2000" dirty="0"/>
              <a:t>Set up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dirty="0"/>
              <a:t> to translate logical to physical addresses</a:t>
            </a:r>
            <a:endParaRPr lang="en-US" altLang="en-US" sz="500" dirty="0"/>
          </a:p>
          <a:p>
            <a:r>
              <a:rPr lang="en-US" altLang="en-US" sz="2000" dirty="0"/>
              <a:t>Backing store likewise split into pages</a:t>
            </a:r>
            <a:endParaRPr lang="en-US" altLang="en-US" sz="2000" dirty="0"/>
          </a:p>
          <a:p>
            <a:r>
              <a:rPr lang="en-US" altLang="en-US" sz="2000" dirty="0"/>
              <a:t>Still have Internal fragmentation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  <a:endParaRPr lang="en-US" altLang="en-US" dirty="0"/>
          </a:p>
        </p:txBody>
      </p:sp>
      <p:sp>
        <p:nvSpPr>
          <p:cNvPr id="33795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Address generated by CPU is divided into:</a:t>
            </a:r>
            <a:endParaRPr lang="en-US" altLang="en-US" sz="2000" dirty="0"/>
          </a:p>
          <a:p>
            <a:pPr lvl="1">
              <a:defRPr/>
            </a:pP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(</a:t>
            </a:r>
            <a:r>
              <a:rPr lang="en-US" altLang="en-US" sz="1800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sz="1800" dirty="0"/>
              <a:t>)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– used as an index into a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which contains base address of each page in physical memory</a:t>
            </a:r>
            <a:endParaRPr lang="en-US" altLang="en-US" sz="1800" dirty="0"/>
          </a:p>
          <a:p>
            <a:pPr lvl="1">
              <a:defRPr/>
            </a:pP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(</a:t>
            </a:r>
            <a:r>
              <a:rPr lang="en-US" altLang="en-US" sz="1800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sz="1800" dirty="0"/>
              <a:t>)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– combined with base address to define the physical memory address that is sent to the memory unit</a:t>
            </a:r>
            <a:endParaRPr lang="en-US" altLang="en-US" sz="1800" dirty="0"/>
          </a:p>
          <a:p>
            <a:pPr lvl="1">
              <a:defRPr/>
            </a:pPr>
            <a:endParaRPr lang="en-US" altLang="en-US" sz="1800" dirty="0"/>
          </a:p>
          <a:p>
            <a:pPr lvl="1">
              <a:defRPr/>
            </a:pPr>
            <a:endParaRPr lang="en-US" altLang="en-US" sz="1800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sz="1800" dirty="0"/>
          </a:p>
          <a:p>
            <a:pPr lvl="1">
              <a:defRPr/>
            </a:pPr>
            <a:endParaRPr lang="en-US" altLang="en-US" sz="1800" dirty="0"/>
          </a:p>
          <a:p>
            <a:pPr lvl="1">
              <a:defRPr/>
            </a:pPr>
            <a:r>
              <a:rPr lang="en-US" altLang="en-US" sz="1800" dirty="0"/>
              <a:t>For given logical address space 2</a:t>
            </a:r>
            <a:r>
              <a:rPr lang="en-US" altLang="en-US" sz="1800" i="1" baseline="30000" dirty="0"/>
              <a:t>m </a:t>
            </a:r>
            <a:r>
              <a:rPr lang="en-US" altLang="en-US" sz="1800" dirty="0"/>
              <a:t>and page size</a:t>
            </a:r>
            <a:r>
              <a:rPr lang="en-US" altLang="en-US" sz="1800" baseline="30000" dirty="0"/>
              <a:t> </a:t>
            </a:r>
            <a:r>
              <a:rPr lang="en-US" altLang="en-US" sz="1800" i="1" dirty="0"/>
              <a:t>2</a:t>
            </a:r>
            <a:r>
              <a:rPr lang="en-US" altLang="en-US" sz="1800" baseline="30000" dirty="0"/>
              <a:t>n</a:t>
            </a:r>
            <a:endParaRPr lang="en-US" altLang="en-US" sz="1800" baseline="30000" dirty="0"/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  <a:endParaRPr lang="en-US" altLang="en-US" dirty="0"/>
          </a:p>
        </p:txBody>
      </p:sp>
      <p:pic>
        <p:nvPicPr>
          <p:cNvPr id="27651" name="Picture 7" descr="C:\Users\as668\Desktop\9_0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  <a:endParaRPr lang="en-US" altLang="en-US" sz="2600" dirty="0"/>
          </a:p>
        </p:txBody>
      </p:sp>
      <p:pic>
        <p:nvPicPr>
          <p:cNvPr id="28675" name="Picture 103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4030" y="1268730"/>
            <a:ext cx="5973445" cy="558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  <a:endParaRPr lang="en-US" alt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sz="2800" dirty="0"/>
              <a:t>Logical address:  n = 2 and  m = 4. Using a page size of 4 bytes and a physical memory of 32 bytes (8 pages)</a:t>
            </a:r>
            <a:endParaRPr lang="en-US" altLang="en-US" sz="2800" dirty="0"/>
          </a:p>
        </p:txBody>
      </p:sp>
      <p:pic>
        <p:nvPicPr>
          <p:cNvPr id="29700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3800" y="2276793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  <a:endParaRPr lang="en-US" altLang="en-US" sz="2600" dirty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sz="2400" dirty="0"/>
              <a:t>Page size = 2,048 bytes</a:t>
            </a:r>
            <a:endParaRPr lang="en-US" altLang="en-US" sz="2400" dirty="0"/>
          </a:p>
          <a:p>
            <a:r>
              <a:rPr lang="en-US" altLang="en-US" sz="2400" dirty="0"/>
              <a:t>Process size = 72,766 bytes</a:t>
            </a:r>
            <a:endParaRPr lang="en-US" altLang="en-US" sz="2400" dirty="0"/>
          </a:p>
          <a:p>
            <a:r>
              <a:rPr lang="en-US" altLang="en-US" sz="2400" dirty="0"/>
              <a:t>35 pages + 1,086 bytes</a:t>
            </a:r>
            <a:endParaRPr lang="en-US" altLang="en-US" sz="2400" dirty="0"/>
          </a:p>
          <a:p>
            <a:r>
              <a:rPr lang="en-US" altLang="en-US" sz="2400" dirty="0"/>
              <a:t>Internal fragmentation of 2,048 - 1,086 = 962 bytes</a:t>
            </a:r>
            <a:endParaRPr lang="en-US" altLang="en-US" sz="2400" dirty="0"/>
          </a:p>
          <a:p>
            <a:r>
              <a:rPr lang="en-US" altLang="en-US" sz="2400" dirty="0"/>
              <a:t>Worst case fragmentation = 1 frame – 1 byte</a:t>
            </a:r>
            <a:endParaRPr lang="en-US" altLang="en-US" sz="2400" dirty="0"/>
          </a:p>
          <a:p>
            <a:r>
              <a:rPr lang="en-US" altLang="en-US" sz="2400" dirty="0"/>
              <a:t>On average fragmentation = 1 / 2 frame size</a:t>
            </a:r>
            <a:endParaRPr lang="en-US" altLang="en-US" sz="2400" dirty="0"/>
          </a:p>
          <a:p>
            <a:r>
              <a:rPr lang="en-US" altLang="en-US" sz="2400" dirty="0"/>
              <a:t>So small frame sizes desirable?</a:t>
            </a:r>
            <a:endParaRPr lang="en-US" altLang="en-US" sz="2400" dirty="0"/>
          </a:p>
          <a:p>
            <a:r>
              <a:rPr lang="en-US" altLang="en-US" sz="2400" dirty="0"/>
              <a:t>But each page table entry takes memory to track</a:t>
            </a:r>
            <a:endParaRPr lang="en-US" altLang="en-US" sz="2400" dirty="0"/>
          </a:p>
          <a:p>
            <a:r>
              <a:rPr lang="en-US" altLang="en-US" sz="2400" dirty="0"/>
              <a:t>Page sizes growing over time</a:t>
            </a:r>
            <a:endParaRPr lang="en-US" altLang="en-US" sz="2400" dirty="0"/>
          </a:p>
          <a:p>
            <a:pPr lvl="1"/>
            <a:r>
              <a:rPr lang="en-US" altLang="en-US" sz="2000" dirty="0"/>
              <a:t>Solaris supports two page sizes – 8 KB and 4 MB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  <a:endParaRPr lang="en-US" altLang="en-US" dirty="0"/>
          </a:p>
        </p:txBody>
      </p:sp>
      <p:sp>
        <p:nvSpPr>
          <p:cNvPr id="31747" name="Text Box 4"/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  <a:endParaRPr lang="en-US" altLang="en-US">
              <a:latin typeface="Helvetica" panose="020B0604020202020204" pitchFamily="34" charset="0"/>
            </a:endParaRPr>
          </a:p>
        </p:txBody>
      </p:sp>
      <p:pic>
        <p:nvPicPr>
          <p:cNvPr id="31749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9100" y="1268730"/>
            <a:ext cx="6177280" cy="443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  <a:endParaRPr lang="en-US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sz="2400" dirty="0"/>
              <a:t>Page table is kept in main memory</a:t>
            </a:r>
            <a:endParaRPr lang="en-US" altLang="en-US" sz="2400" dirty="0"/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points to the page table</a:t>
            </a:r>
            <a:endParaRPr lang="en-US" altLang="en-US" sz="2000" dirty="0"/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sz="2000" dirty="0"/>
              <a:t>)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indicates size of the page table</a:t>
            </a:r>
            <a:endParaRPr lang="en-US" altLang="en-US" sz="2000" dirty="0"/>
          </a:p>
          <a:p>
            <a:r>
              <a:rPr lang="en-US" altLang="en-US" sz="2400" dirty="0"/>
              <a:t>In this scheme every data/instruction access requires two memory accesses</a:t>
            </a:r>
            <a:endParaRPr lang="en-US" altLang="en-US" sz="2400" dirty="0"/>
          </a:p>
          <a:p>
            <a:pPr lvl="1"/>
            <a:r>
              <a:rPr lang="en-US" altLang="en-US" sz="2000" dirty="0"/>
              <a:t>One for the page table and one for the data / instruction</a:t>
            </a:r>
            <a:endParaRPr lang="en-US" altLang="en-US" sz="2000" dirty="0"/>
          </a:p>
          <a:p>
            <a:r>
              <a:rPr lang="en-US" altLang="en-US" sz="2400" dirty="0"/>
              <a:t>The two-memory access problem can be solved by the use of a special fast-lookup hardware cache called 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sz="2400" dirty="0"/>
              <a:t>) (also called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sz="2400" dirty="0"/>
              <a:t>).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  <a:endParaRPr lang="en-US" altLang="en-US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sz="2400" dirty="0"/>
              <a:t>Some TLBs store</a:t>
            </a:r>
            <a:r>
              <a:rPr lang="en-US" altLang="en-US" sz="2400" b="1" dirty="0"/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sz="2400" dirty="0"/>
              <a:t>)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in each TLB entry – uniquely identifies each process to provide address-space protection for that process</a:t>
            </a:r>
            <a:endParaRPr lang="en-US" altLang="en-US" sz="2400" dirty="0"/>
          </a:p>
          <a:p>
            <a:pPr lvl="1"/>
            <a:r>
              <a:rPr lang="en-US" altLang="en-US" sz="2000" dirty="0"/>
              <a:t>Otherwise need to flush at every context switch</a:t>
            </a:r>
            <a:endParaRPr lang="en-US" altLang="en-US" sz="2000" dirty="0"/>
          </a:p>
          <a:p>
            <a:r>
              <a:rPr lang="en-US" altLang="en-US" sz="2400" dirty="0"/>
              <a:t>TLBs typically small (64 to 1,024 entries)</a:t>
            </a:r>
            <a:endParaRPr lang="en-US" altLang="en-US" sz="2400" dirty="0"/>
          </a:p>
          <a:p>
            <a:r>
              <a:rPr lang="en-US" altLang="en-US" sz="2400" dirty="0"/>
              <a:t>On a TLB miss, value is loaded into the TLB for faster access next time</a:t>
            </a:r>
            <a:endParaRPr lang="en-US" altLang="en-US" sz="2400" dirty="0"/>
          </a:p>
          <a:p>
            <a:pPr lvl="1"/>
            <a:r>
              <a:rPr lang="en-US" altLang="en-US" sz="2000" dirty="0"/>
              <a:t>Replacement policies must be considered</a:t>
            </a:r>
            <a:endParaRPr lang="en-US" altLang="en-US" sz="2000" dirty="0"/>
          </a:p>
          <a:p>
            <a:pPr lvl="1"/>
            <a:r>
              <a:rPr lang="en-US" altLang="en-US" sz="2000" dirty="0"/>
              <a:t>Some entries can be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for permanent fast access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  <a:endParaRPr lang="en-US" altLang="en-US" dirty="0"/>
          </a:p>
        </p:txBody>
      </p:sp>
      <p:sp>
        <p:nvSpPr>
          <p:cNvPr id="34819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sz="2400" dirty="0"/>
              <a:t>Associative memory – parallel search </a:t>
            </a:r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endParaRPr lang="en-US" altLang="en-US" sz="2400" dirty="0"/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  <a:p>
            <a:r>
              <a:rPr lang="en-US" altLang="en-US" sz="2400" dirty="0"/>
              <a:t>Address translation (p, d)</a:t>
            </a:r>
            <a:endParaRPr lang="en-US" altLang="en-US" sz="2400" dirty="0"/>
          </a:p>
          <a:p>
            <a:pPr marL="627380" lvl="1"/>
            <a:r>
              <a:rPr lang="en-US" altLang="en-US" sz="2000" dirty="0"/>
              <a:t>If p is in associative register, get frame # out</a:t>
            </a:r>
            <a:endParaRPr lang="en-US" altLang="en-US" sz="2000" dirty="0"/>
          </a:p>
          <a:p>
            <a:pPr marL="627380" lvl="1"/>
            <a:r>
              <a:rPr lang="en-US" altLang="en-US" sz="2000" dirty="0"/>
              <a:t>Otherwise get frame # from page table in memory</a:t>
            </a:r>
            <a:endParaRPr lang="en-US" altLang="en-US" sz="2000" dirty="0"/>
          </a:p>
          <a:p>
            <a:pPr marL="627380" lvl="1"/>
            <a:endParaRPr lang="en-US" altLang="en-US" sz="2000" dirty="0"/>
          </a:p>
        </p:txBody>
      </p:sp>
      <p:pic>
        <p:nvPicPr>
          <p:cNvPr id="34820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  <a:endParaRPr lang="en-US" alt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1845" algn="l"/>
                <a:tab pos="2566670" algn="l"/>
              </a:tabLst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Hit ratio – percentage of times that a page number is found in the  TLB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sz="2400" dirty="0"/>
              <a:t>An </a:t>
            </a:r>
            <a:r>
              <a:rPr lang="en-US" altLang="en-US" sz="2400" dirty="0">
                <a:sym typeface="Symbol" panose="05050102010706020507" pitchFamily="18" charset="2"/>
              </a:rPr>
              <a:t>80% hit ratio means that we find the desired  page number  in the TLB 80% of the time.</a:t>
            </a:r>
            <a:endParaRPr lang="en-US" altLang="en-US" sz="2400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sz="2400" dirty="0"/>
              <a:t>Suppose that 10 nanoseconds to access memory.  </a:t>
            </a:r>
            <a:endParaRPr lang="en-US" altLang="en-US" sz="2400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sz="2000" dirty="0"/>
              <a:t>If we find the desired page in TLB then a mapped-memory access take 10 ns</a:t>
            </a:r>
            <a:endParaRPr lang="en-US" altLang="en-US" sz="2000" dirty="0"/>
          </a:p>
          <a:p>
            <a:pPr lvl="1"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sz="2000" dirty="0"/>
              <a:t>Otherwise we need two memory access so it is 20 ns</a:t>
            </a:r>
            <a:endParaRPr lang="en-US" altLang="en-US" sz="2000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Effective</a:t>
            </a:r>
            <a:r>
              <a:rPr lang="en-US" altLang="en-US" sz="2400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Access</a:t>
            </a:r>
            <a:r>
              <a:rPr lang="en-US" altLang="en-US" sz="2400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Time</a:t>
            </a:r>
            <a:r>
              <a:rPr lang="en-US" altLang="en-US" sz="2400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EAT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sz="2400" dirty="0"/>
              <a:t>	               EAT = </a:t>
            </a:r>
            <a:r>
              <a:rPr lang="en-US" altLang="en-US" sz="2400" dirty="0">
                <a:sym typeface="Symbol" panose="05050102010706020507" pitchFamily="18" charset="2"/>
              </a:rPr>
              <a:t>0.80 x 10 + 0.20 x 20 = 12 </a:t>
            </a:r>
            <a:r>
              <a:rPr lang="en-US" altLang="en-US" sz="2400" dirty="0"/>
              <a:t> nanoseconds</a:t>
            </a:r>
            <a:endParaRPr lang="en-US" altLang="en-US" sz="24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sz="2400" dirty="0"/>
              <a:t>       implying 20% slowdown in access time</a:t>
            </a:r>
            <a:endParaRPr lang="en-US" altLang="en-US" sz="2400" dirty="0"/>
          </a:p>
          <a:p>
            <a:pPr>
              <a:lnSpc>
                <a:spcPct val="90000"/>
              </a:lnSpc>
              <a:tabLst>
                <a:tab pos="2061845" algn="l"/>
                <a:tab pos="2566670" algn="l"/>
              </a:tabLst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Consider  amore realistic hit ratio of 99%, 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     EAT = 0.99 x 10 + 0.01 x 20 = 10.1ns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1845" algn="l"/>
                <a:tab pos="2566670" algn="l"/>
              </a:tabLst>
              <a:defRPr/>
            </a:pPr>
            <a:r>
              <a:rPr lang="en-US" altLang="en-US" sz="2400" dirty="0"/>
              <a:t>      implying  only 1% slowdown in access time.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  <a:endParaRPr lang="en-US" altLang="en-US" dirty="0"/>
          </a:p>
        </p:txBody>
      </p:sp>
      <p:sp>
        <p:nvSpPr>
          <p:cNvPr id="37891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sz="2400" dirty="0"/>
              <a:t>Memory protection implemented by associating protection bit with each frame to indicate if read-only or read-write access is allowed</a:t>
            </a:r>
            <a:endParaRPr lang="en-US" altLang="en-US" sz="2400" dirty="0"/>
          </a:p>
          <a:p>
            <a:pPr lvl="1"/>
            <a:r>
              <a:rPr lang="en-US" altLang="en-US" sz="2000" dirty="0"/>
              <a:t>Can also add more bits to indicate page execute-only, and so on</a:t>
            </a:r>
            <a:endParaRPr lang="en-US" altLang="en-US" sz="2000" dirty="0"/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bit attached to each entry in the page table:</a:t>
            </a:r>
            <a:endParaRPr lang="en-US" altLang="en-US" sz="2400" dirty="0"/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valid</a:t>
            </a:r>
            <a:r>
              <a:rPr lang="ja-JP" altLang="en-US" sz="2000" dirty="0"/>
              <a:t>”</a:t>
            </a:r>
            <a:r>
              <a:rPr lang="en-US" altLang="ja-JP" sz="2000" dirty="0"/>
              <a:t> indicates that the associated page is in the process</a:t>
            </a:r>
            <a:r>
              <a:rPr lang="ja-JP" altLang="en-US" sz="2000" dirty="0"/>
              <a:t>’</a:t>
            </a:r>
            <a:r>
              <a:rPr lang="en-US" altLang="ja-JP" sz="2000" dirty="0"/>
              <a:t> logical address space, and is thus a legal page</a:t>
            </a:r>
            <a:endParaRPr lang="en-US" altLang="ja-JP" sz="2000" dirty="0"/>
          </a:p>
          <a:p>
            <a:pPr lvl="1"/>
            <a:r>
              <a:rPr lang="ja-JP" altLang="en-US" sz="2000" dirty="0"/>
              <a:t>“</a:t>
            </a:r>
            <a:r>
              <a:rPr lang="en-US" altLang="ja-JP" sz="2000" dirty="0"/>
              <a:t>invalid</a:t>
            </a:r>
            <a:r>
              <a:rPr lang="ja-JP" altLang="en-US" sz="2000" dirty="0"/>
              <a:t>”</a:t>
            </a:r>
            <a:r>
              <a:rPr lang="en-US" altLang="ja-JP" sz="2000" dirty="0"/>
              <a:t> indicates that the page is not in the process</a:t>
            </a:r>
            <a:r>
              <a:rPr lang="ja-JP" altLang="en-US" sz="2000" dirty="0"/>
              <a:t>’</a:t>
            </a:r>
            <a:r>
              <a:rPr lang="en-US" altLang="ja-JP" sz="2000" dirty="0"/>
              <a:t> logical address space</a:t>
            </a:r>
            <a:endParaRPr lang="en-US" altLang="ja-JP" sz="2000" dirty="0"/>
          </a:p>
          <a:p>
            <a:pPr lvl="1"/>
            <a:r>
              <a:rPr lang="en-US" altLang="en-US" sz="2000" dirty="0"/>
              <a:t>Or use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r>
              <a:rPr lang="en-US" altLang="en-US" sz="2400" dirty="0"/>
              <a:t>Any violations result in a trap to the kernel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  <a:endParaRPr lang="en-US" altLang="en-US" sz="2800" dirty="0"/>
          </a:p>
        </p:txBody>
      </p:sp>
      <p:pic>
        <p:nvPicPr>
          <p:cNvPr id="3891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  <a:endParaRPr lang="en-US" altLang="en-US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code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000" dirty="0"/>
              <a:t>One copy of read-only 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sz="2000" dirty="0"/>
              <a:t>) code shared among processes (i.e., text editors, compilers, window systems)</a:t>
            </a:r>
            <a:endParaRPr lang="en-US" altLang="en-US" sz="2000" dirty="0"/>
          </a:p>
          <a:p>
            <a:pPr lvl="1"/>
            <a:r>
              <a:rPr lang="en-US" altLang="en-US" sz="2000" dirty="0"/>
              <a:t>Similar to multiple threads sharing the same process space</a:t>
            </a:r>
            <a:endParaRPr lang="en-US" altLang="en-US" sz="2000" dirty="0"/>
          </a:p>
          <a:p>
            <a:pPr lvl="1"/>
            <a:r>
              <a:rPr lang="en-US" altLang="en-US" sz="2000" dirty="0"/>
              <a:t>Also useful for interprocess communication if sharing of read-write pages is allowed</a:t>
            </a:r>
            <a:endParaRPr lang="en-US" altLang="en-US" sz="2000" dirty="0"/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endParaRPr lang="en-US" altLang="en-US" sz="2400" dirty="0">
              <a:solidFill>
                <a:srgbClr val="3366FF"/>
              </a:solidFill>
            </a:endParaRPr>
          </a:p>
          <a:p>
            <a:pPr lvl="1"/>
            <a:r>
              <a:rPr lang="en-US" altLang="en-US" sz="2000" dirty="0"/>
              <a:t>Each process keeps a separate copy of the code and data</a:t>
            </a:r>
            <a:endParaRPr lang="en-US" altLang="en-US" sz="2000" dirty="0"/>
          </a:p>
          <a:p>
            <a:pPr lvl="1"/>
            <a:r>
              <a:rPr lang="en-US" altLang="en-US" sz="2000" dirty="0"/>
              <a:t>The pages for the private code and data can appear anywhere in the logical address space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  <a:endParaRPr lang="en-US" altLang="en-U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sz="2400" dirty="0"/>
              <a:t>Memory structures for paging can get huge using straight-forward methods</a:t>
            </a:r>
            <a:endParaRPr lang="en-US" altLang="en-US" sz="2400" dirty="0"/>
          </a:p>
          <a:p>
            <a:pPr lvl="1"/>
            <a:r>
              <a:rPr lang="en-US" altLang="en-US" sz="2000" dirty="0"/>
              <a:t>Consider a 32-bit logical address space as on modern computers</a:t>
            </a:r>
            <a:endParaRPr lang="en-US" altLang="en-US" sz="2000" dirty="0"/>
          </a:p>
          <a:p>
            <a:pPr lvl="1"/>
            <a:r>
              <a:rPr lang="en-US" altLang="en-US" sz="2000" dirty="0"/>
              <a:t>Page size of 4 KB (2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/>
            <a:r>
              <a:rPr lang="en-US" altLang="en-US" sz="2000" dirty="0"/>
              <a:t>Page table would have 1 million entries (2</a:t>
            </a:r>
            <a:r>
              <a:rPr lang="en-US" altLang="en-US" sz="2000" baseline="30000" dirty="0"/>
              <a:t>32</a:t>
            </a:r>
            <a:r>
              <a:rPr lang="en-US" altLang="en-US" sz="2000" dirty="0"/>
              <a:t> / 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/>
            <a:r>
              <a:rPr lang="en-US" altLang="en-US" sz="2000" dirty="0"/>
              <a:t>If each entry is 4 bytes </a:t>
            </a:r>
            <a:r>
              <a:rPr lang="en-US" altLang="en-US" sz="2000" dirty="0">
                <a:sym typeface="Wingdings" panose="05000000000000000000" pitchFamily="2" charset="2"/>
              </a:rPr>
              <a:t></a:t>
            </a:r>
            <a:r>
              <a:rPr lang="en-US" altLang="en-US" sz="2000" dirty="0"/>
              <a:t> each process 4 MB of physical address space for the  page table alone</a:t>
            </a:r>
            <a:endParaRPr lang="en-US" altLang="en-US" sz="2000" dirty="0"/>
          </a:p>
          <a:p>
            <a:pPr lvl="2"/>
            <a:r>
              <a:rPr lang="en-US" altLang="en-US" sz="1800" dirty="0"/>
              <a:t>Don</a:t>
            </a:r>
            <a:r>
              <a:rPr lang="ja-JP" altLang="en-US" sz="1800" dirty="0"/>
              <a:t>’</a:t>
            </a:r>
            <a:r>
              <a:rPr lang="en-US" altLang="ja-JP" sz="1800" dirty="0"/>
              <a:t>t want to allocate that contiguously in main memory</a:t>
            </a:r>
            <a:endParaRPr lang="en-US" altLang="ja-JP" sz="1800" dirty="0"/>
          </a:p>
          <a:p>
            <a:pPr lvl="1"/>
            <a:r>
              <a:rPr lang="en-US" altLang="en-US" sz="2000" dirty="0"/>
              <a:t>One simple solution is to divide the page table into smaller units</a:t>
            </a:r>
            <a:endParaRPr lang="en-US" altLang="en-US" sz="2000" dirty="0"/>
          </a:p>
          <a:p>
            <a:pPr lvl="2"/>
            <a:r>
              <a:rPr lang="en-US" altLang="en-US" sz="1800" dirty="0"/>
              <a:t>Hierarchical Paging</a:t>
            </a:r>
            <a:endParaRPr lang="en-US" altLang="en-US" sz="1800" dirty="0"/>
          </a:p>
          <a:p>
            <a:pPr lvl="2"/>
            <a:r>
              <a:rPr lang="en-US" altLang="en-US" sz="1800" dirty="0"/>
              <a:t>Hashed Page Tables</a:t>
            </a:r>
            <a:endParaRPr lang="en-US" altLang="en-US" sz="1800" dirty="0"/>
          </a:p>
          <a:p>
            <a:pPr lvl="2"/>
            <a:r>
              <a:rPr lang="en-US" altLang="en-US" sz="1800" dirty="0"/>
              <a:t>Inverted Page Tables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sz="2400" dirty="0"/>
              <a:t>Break up the logical address space into multiple page tables</a:t>
            </a:r>
            <a:endParaRPr lang="en-US" altLang="en-US" sz="2400" dirty="0"/>
          </a:p>
          <a:p>
            <a:r>
              <a:rPr lang="en-US" altLang="en-US" sz="2400" dirty="0"/>
              <a:t>A simple technique is a two-level page table</a:t>
            </a:r>
            <a:endParaRPr lang="en-US" altLang="en-US" sz="2400" dirty="0"/>
          </a:p>
          <a:p>
            <a:r>
              <a:rPr lang="en-US" altLang="en-US" sz="2400" dirty="0"/>
              <a:t>We then page the page table</a:t>
            </a:r>
            <a:endParaRPr lang="en-US" altLang="en-US" sz="2400" dirty="0"/>
          </a:p>
        </p:txBody>
      </p:sp>
      <p:pic>
        <p:nvPicPr>
          <p:cNvPr id="43012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840" y="3073083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  <a:endParaRPr lang="en-US" altLang="en-US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A logical address (on 32-bit machine with 4K page size) is divided into:</a:t>
            </a:r>
            <a:endParaRPr lang="en-US" altLang="en-US" sz="2000" dirty="0"/>
          </a:p>
          <a:p>
            <a:pPr marL="627380" lvl="1">
              <a:lnSpc>
                <a:spcPct val="90000"/>
              </a:lnSpc>
            </a:pPr>
            <a:r>
              <a:rPr lang="en-US" altLang="en-US" sz="1800" dirty="0"/>
              <a:t>a page number consisting of 20 bits</a:t>
            </a:r>
            <a:endParaRPr lang="en-US" altLang="en-US" sz="1800" dirty="0"/>
          </a:p>
          <a:p>
            <a:pPr marL="627380" lvl="1">
              <a:lnSpc>
                <a:spcPct val="90000"/>
              </a:lnSpc>
            </a:pPr>
            <a:r>
              <a:rPr lang="en-US" altLang="en-US" sz="1800" dirty="0"/>
              <a:t>a page offset consisting of 12 bits</a:t>
            </a:r>
            <a:endParaRPr lang="en-US" altLang="en-US" sz="1800" dirty="0"/>
          </a:p>
          <a:p>
            <a:pPr marL="627380" lvl="1">
              <a:lnSpc>
                <a:spcPct val="90000"/>
              </a:lnSpc>
            </a:pPr>
            <a:endParaRPr lang="en-US" altLang="en-US" sz="5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Since the page table is paged, the page number is further divided into:</a:t>
            </a:r>
            <a:endParaRPr lang="en-US" altLang="en-US" sz="2000" dirty="0"/>
          </a:p>
          <a:p>
            <a:pPr marL="627380" lvl="1">
              <a:lnSpc>
                <a:spcPct val="90000"/>
              </a:lnSpc>
            </a:pPr>
            <a:r>
              <a:rPr lang="en-US" altLang="en-US" sz="1800" dirty="0"/>
              <a:t>a 10-bit page number </a:t>
            </a:r>
            <a:endParaRPr lang="en-US" altLang="en-US" sz="1800" dirty="0"/>
          </a:p>
          <a:p>
            <a:pPr marL="627380" lvl="1">
              <a:lnSpc>
                <a:spcPct val="90000"/>
              </a:lnSpc>
            </a:pPr>
            <a:r>
              <a:rPr lang="en-US" altLang="en-US" sz="1800"/>
              <a:t>a 10-bit </a:t>
            </a:r>
            <a:r>
              <a:rPr lang="en-US" altLang="en-US" sz="1800" dirty="0"/>
              <a:t>page offset</a:t>
            </a:r>
            <a:endParaRPr lang="en-US" altLang="en-US" sz="1800" dirty="0"/>
          </a:p>
          <a:p>
            <a:pPr marL="627380" lvl="1">
              <a:lnSpc>
                <a:spcPct val="90000"/>
              </a:lnSpc>
            </a:pPr>
            <a:endParaRPr lang="en-US" altLang="en-US" sz="5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Thus, a logical address is as follows:</a:t>
            </a:r>
            <a:br>
              <a:rPr lang="en-US" altLang="en-US" sz="2000" dirty="0"/>
            </a:br>
            <a:br>
              <a:rPr lang="en-US" altLang="en-US" sz="1000" dirty="0"/>
            </a:br>
            <a:br>
              <a:rPr lang="en-US" altLang="en-US" sz="1000" dirty="0"/>
            </a:br>
            <a:br>
              <a:rPr lang="en-US" altLang="en-US" sz="1000" dirty="0"/>
            </a:br>
            <a:br>
              <a:rPr lang="en-US" altLang="en-US" sz="1000" dirty="0"/>
            </a:br>
            <a:br>
              <a:rPr lang="en-US" altLang="en-US" sz="1000" dirty="0"/>
            </a:br>
            <a:endParaRPr lang="en-US" altLang="en-US" sz="1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where</a:t>
            </a:r>
            <a:r>
              <a:rPr lang="en-US" altLang="en-US" sz="2000" i="1" dirty="0"/>
              <a:t> 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 is an index into the outer page table, and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</a:t>
            </a:r>
            <a:r>
              <a:rPr lang="en-US" altLang="en-US" sz="2000" dirty="0"/>
              <a:t> is the displacement within the page of the inner page table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000" dirty="0"/>
              <a:t>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</p:txBody>
      </p:sp>
      <p:pic>
        <p:nvPicPr>
          <p:cNvPr id="44036" name="Picture 5" descr="W:\os-book\OS10\slide-dir\os-figures\in-9_3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  <a:endParaRPr lang="en-US" altLang="en-US" dirty="0"/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875685" y="1196975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Even two-level paging scheme not sufficient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If page size is 4 KB (2</a:t>
            </a:r>
            <a:r>
              <a:rPr lang="en-US" altLang="en-US" sz="2000" baseline="30000" dirty="0"/>
              <a:t>12</a:t>
            </a:r>
            <a:r>
              <a:rPr lang="en-US" altLang="en-US" sz="2000" dirty="0"/>
              <a:t>)</a:t>
            </a:r>
            <a:endParaRPr lang="en-US" altLang="en-US" sz="2000" dirty="0"/>
          </a:p>
          <a:p>
            <a:pPr lvl="1">
              <a:defRPr/>
            </a:pPr>
            <a:r>
              <a:rPr lang="en-US" altLang="en-US" sz="1800" dirty="0"/>
              <a:t>Then page table has 2</a:t>
            </a:r>
            <a:r>
              <a:rPr lang="en-US" altLang="en-US" sz="1800" baseline="30000" dirty="0"/>
              <a:t>52</a:t>
            </a:r>
            <a:r>
              <a:rPr lang="en-US" altLang="en-US" sz="1800" dirty="0"/>
              <a:t> entries</a:t>
            </a:r>
            <a:endParaRPr lang="en-US" altLang="en-US" sz="1800" dirty="0"/>
          </a:p>
          <a:p>
            <a:pPr lvl="1">
              <a:defRPr/>
            </a:pPr>
            <a:r>
              <a:rPr lang="en-US" altLang="en-US" sz="1800" dirty="0"/>
              <a:t>If two level scheme, inner page tables could be 2</a:t>
            </a:r>
            <a:r>
              <a:rPr lang="en-US" altLang="en-US" sz="1800" baseline="30000" dirty="0"/>
              <a:t>10</a:t>
            </a:r>
            <a:r>
              <a:rPr lang="en-US" altLang="en-US" sz="1800" dirty="0"/>
              <a:t> 4-byte entries</a:t>
            </a:r>
            <a:endParaRPr lang="en-US" altLang="en-US" sz="1800" dirty="0"/>
          </a:p>
          <a:p>
            <a:pPr lvl="1">
              <a:defRPr/>
            </a:pPr>
            <a:r>
              <a:rPr lang="en-US" altLang="en-US" sz="1800" dirty="0"/>
              <a:t>Address would look like</a:t>
            </a:r>
            <a:endParaRPr lang="en-US" altLang="en-US" sz="1800" dirty="0"/>
          </a:p>
          <a:p>
            <a:pPr lvl="1">
              <a:defRPr/>
            </a:pPr>
            <a:endParaRPr lang="en-US" altLang="en-US" sz="1800" dirty="0"/>
          </a:p>
          <a:p>
            <a:pPr lvl="1">
              <a:defRPr/>
            </a:pPr>
            <a:endParaRPr lang="en-US" altLang="en-US" sz="1800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sz="1800" dirty="0"/>
          </a:p>
          <a:p>
            <a:pPr lvl="1">
              <a:defRPr/>
            </a:pPr>
            <a:r>
              <a:rPr lang="en-US" altLang="en-US" sz="1800" dirty="0"/>
              <a:t>Outer page table has 2</a:t>
            </a:r>
            <a:r>
              <a:rPr lang="en-US" altLang="en-US" sz="1800" baseline="30000" dirty="0"/>
              <a:t>42</a:t>
            </a:r>
            <a:r>
              <a:rPr lang="en-US" altLang="en-US" sz="1800" dirty="0"/>
              <a:t> entries or 2</a:t>
            </a:r>
            <a:r>
              <a:rPr lang="en-US" altLang="en-US" sz="1800" baseline="30000" dirty="0"/>
              <a:t>44</a:t>
            </a:r>
            <a:r>
              <a:rPr lang="en-US" altLang="en-US" sz="1800" dirty="0"/>
              <a:t> bytes</a:t>
            </a:r>
            <a:endParaRPr lang="en-US" altLang="en-US" sz="1800" dirty="0"/>
          </a:p>
          <a:p>
            <a:pPr lvl="1">
              <a:defRPr/>
            </a:pPr>
            <a:r>
              <a:rPr lang="en-US" altLang="en-US" sz="1800" dirty="0"/>
              <a:t>One solution is to add a 2</a:t>
            </a:r>
            <a:r>
              <a:rPr lang="en-US" altLang="en-US" sz="1800" baseline="30000" dirty="0"/>
              <a:t>nd</a:t>
            </a:r>
            <a:r>
              <a:rPr lang="en-US" altLang="en-US" sz="1800" dirty="0"/>
              <a:t> outer page table</a:t>
            </a:r>
            <a:endParaRPr lang="en-US" altLang="en-US" sz="1800" dirty="0"/>
          </a:p>
          <a:p>
            <a:pPr lvl="1">
              <a:defRPr/>
            </a:pPr>
            <a:r>
              <a:rPr lang="en-US" altLang="en-US" sz="1800" dirty="0"/>
              <a:t>But in the following example the 2</a:t>
            </a:r>
            <a:r>
              <a:rPr lang="en-US" altLang="en-US" sz="1800" baseline="30000" dirty="0"/>
              <a:t>nd</a:t>
            </a:r>
            <a:r>
              <a:rPr lang="en-US" altLang="en-US" sz="1800" dirty="0"/>
              <a:t> outer page table is still 2</a:t>
            </a:r>
            <a:r>
              <a:rPr lang="en-US" altLang="en-US" sz="1800" baseline="30000" dirty="0"/>
              <a:t>34</a:t>
            </a:r>
            <a:r>
              <a:rPr lang="en-US" altLang="en-US" sz="1800" dirty="0"/>
              <a:t> bytes in size</a:t>
            </a:r>
            <a:endParaRPr lang="en-US" altLang="en-US" sz="1800" dirty="0"/>
          </a:p>
          <a:p>
            <a:pPr lvl="2">
              <a:defRPr/>
            </a:pPr>
            <a:r>
              <a:rPr lang="en-US" altLang="en-US" sz="1600" dirty="0"/>
              <a:t>And possibly 4 memory access to get to one physical memory location</a:t>
            </a:r>
            <a:endParaRPr lang="en-US" altLang="en-US" sz="1600" dirty="0"/>
          </a:p>
          <a:p>
            <a:pPr lvl="1">
              <a:defRPr/>
            </a:pPr>
            <a:endParaRPr lang="en-US" altLang="en-US" sz="1600" dirty="0"/>
          </a:p>
        </p:txBody>
      </p:sp>
      <p:pic>
        <p:nvPicPr>
          <p:cNvPr id="46084" name="Picture 5" descr="W:\os-book\OS10\slide-dir\os-figures\in-9_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  <a:endParaRPr lang="en-US" altLang="en-US" dirty="0"/>
          </a:p>
        </p:txBody>
      </p:sp>
      <p:pic>
        <p:nvPicPr>
          <p:cNvPr id="47107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sz="2000" dirty="0"/>
              <a:t>Common in address spaces &gt; 32 bits</a:t>
            </a:r>
            <a:endParaRPr lang="en-US" altLang="en-US" sz="2000" dirty="0"/>
          </a:p>
          <a:p>
            <a:r>
              <a:rPr lang="en-US" altLang="en-US" sz="2000" dirty="0"/>
              <a:t>The virtual page number is hashed into a page table</a:t>
            </a:r>
            <a:endParaRPr lang="en-US" altLang="en-US" sz="2000" dirty="0"/>
          </a:p>
          <a:p>
            <a:pPr lvl="1"/>
            <a:r>
              <a:rPr lang="en-US" altLang="en-US" sz="1800" dirty="0"/>
              <a:t>This page table contains a chain of elements hashing to the same location</a:t>
            </a:r>
            <a:endParaRPr lang="en-US" altLang="en-US" sz="1800" dirty="0"/>
          </a:p>
          <a:p>
            <a:r>
              <a:rPr lang="en-US" altLang="en-US" sz="2000" dirty="0"/>
              <a:t>Each element contains (1) the virtual page number (2) the value of the mapped page frame (3) a pointer to the next element</a:t>
            </a:r>
            <a:endParaRPr lang="en-US" altLang="en-US" sz="2000" dirty="0"/>
          </a:p>
          <a:p>
            <a:r>
              <a:rPr lang="en-US" altLang="en-US" sz="2000" dirty="0"/>
              <a:t>Virtual page numbers are compared in this chain searching for a match</a:t>
            </a:r>
            <a:endParaRPr lang="en-US" altLang="en-US" sz="2000" dirty="0"/>
          </a:p>
          <a:p>
            <a:pPr lvl="1"/>
            <a:r>
              <a:rPr lang="en-US" altLang="en-US" sz="1800" dirty="0"/>
              <a:t>If a match is found, the corresponding physical frame is extracted</a:t>
            </a:r>
            <a:endParaRPr lang="en-US" altLang="en-US" sz="1800" dirty="0"/>
          </a:p>
          <a:p>
            <a:r>
              <a:rPr lang="en-US" altLang="en-US" sz="2000" dirty="0"/>
              <a:t>Variation for 64-bit addresses is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tables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1800" dirty="0"/>
              <a:t>Similar to hashed but each entry refers to several pages (such as 16) rather than 1</a:t>
            </a:r>
            <a:endParaRPr lang="en-US" altLang="en-US" sz="1800" dirty="0"/>
          </a:p>
          <a:p>
            <a:pPr lvl="1"/>
            <a:r>
              <a:rPr lang="en-US" altLang="en-US" sz="1800" dirty="0"/>
              <a:t>Especially useful for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sz="1800" dirty="0"/>
              <a:t> address spaces (where memory references are non-contiguous and scattered) 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  <a:endParaRPr lang="en-US" alt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sz="2000" dirty="0"/>
              <a:t>Rather than each process having a page table and keeping track of all possible logical pages, track all physical pages</a:t>
            </a:r>
            <a:endParaRPr lang="en-US" altLang="en-US" sz="2000" dirty="0"/>
          </a:p>
          <a:p>
            <a:r>
              <a:rPr lang="en-US" altLang="en-US" sz="2000" dirty="0"/>
              <a:t>One entry for each real page of memory</a:t>
            </a:r>
            <a:endParaRPr lang="en-US" altLang="en-US" sz="2000" dirty="0"/>
          </a:p>
          <a:p>
            <a:r>
              <a:rPr lang="en-US" altLang="en-US" sz="2000" dirty="0"/>
              <a:t>Entry consists of the virtual address of the page stored in that real memory location, with information about the process that owns that page</a:t>
            </a:r>
            <a:endParaRPr lang="en-US" altLang="en-US" sz="2000" dirty="0"/>
          </a:p>
          <a:p>
            <a:r>
              <a:rPr lang="en-US" altLang="en-US" sz="2000" dirty="0"/>
              <a:t>Decreases memory needed to store each page table, but increases time needed to search the table when a page reference occurs</a:t>
            </a:r>
            <a:endParaRPr lang="en-US" altLang="en-US" sz="2000" dirty="0"/>
          </a:p>
          <a:p>
            <a:r>
              <a:rPr lang="en-US" altLang="en-US" sz="2000" dirty="0"/>
              <a:t>Use hash table to limit the search to one — or at most a few — page-table entries</a:t>
            </a:r>
            <a:endParaRPr lang="en-US" altLang="en-US" sz="2000" dirty="0"/>
          </a:p>
          <a:p>
            <a:pPr lvl="1"/>
            <a:r>
              <a:rPr lang="en-US" altLang="en-US" sz="1800" dirty="0"/>
              <a:t>TLB can accelerate access</a:t>
            </a:r>
            <a:endParaRPr lang="en-US" altLang="en-US" sz="1800" dirty="0"/>
          </a:p>
          <a:p>
            <a:r>
              <a:rPr lang="en-US" altLang="en-US" sz="2000" dirty="0"/>
              <a:t>But how to implement shared memory?</a:t>
            </a:r>
            <a:endParaRPr lang="en-US" altLang="en-US" sz="2000" dirty="0"/>
          </a:p>
          <a:p>
            <a:pPr lvl="1"/>
            <a:r>
              <a:rPr lang="en-US" altLang="en-US" sz="1800" dirty="0"/>
              <a:t>One mapping of a virtual address to the shared physical address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73025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2433" y="1035050"/>
            <a:ext cx="7679094" cy="5062538"/>
          </a:xfrm>
        </p:spPr>
        <p:txBody>
          <a:bodyPr/>
          <a:lstStyle/>
          <a:p>
            <a:r>
              <a:rPr lang="en-US" altLang="en-US" sz="2400" dirty="0"/>
              <a:t>Consider modern, 64-bit operating system example with tightly integrated HW</a:t>
            </a:r>
            <a:endParaRPr lang="en-US" altLang="en-US" sz="2400" dirty="0"/>
          </a:p>
          <a:p>
            <a:pPr lvl="1"/>
            <a:r>
              <a:rPr lang="en-US" altLang="en-US" sz="2000" dirty="0"/>
              <a:t>Goals are efficiency, low overhead</a:t>
            </a:r>
            <a:endParaRPr lang="en-US" altLang="en-US" sz="2000" dirty="0"/>
          </a:p>
          <a:p>
            <a:r>
              <a:rPr lang="en-US" altLang="en-US" sz="2400" dirty="0"/>
              <a:t>Based on hashing, but more complex</a:t>
            </a:r>
            <a:endParaRPr lang="en-US" altLang="en-US" sz="2400" dirty="0"/>
          </a:p>
          <a:p>
            <a:r>
              <a:rPr lang="en-US" altLang="en-US" sz="2400" dirty="0"/>
              <a:t>Two hash tables</a:t>
            </a:r>
            <a:endParaRPr lang="en-US" altLang="en-US" sz="2400" dirty="0"/>
          </a:p>
          <a:p>
            <a:pPr lvl="1"/>
            <a:r>
              <a:rPr lang="en-US" altLang="en-US" sz="2000" dirty="0"/>
              <a:t>One kernel and one for all user processes</a:t>
            </a:r>
            <a:endParaRPr lang="en-US" altLang="en-US" sz="2000" dirty="0"/>
          </a:p>
          <a:p>
            <a:pPr lvl="1"/>
            <a:r>
              <a:rPr lang="en-US" altLang="en-US" sz="2000" dirty="0"/>
              <a:t>Each maps memory addresses from virtual to physical memory</a:t>
            </a:r>
            <a:endParaRPr lang="en-US" altLang="en-US" sz="2000" dirty="0"/>
          </a:p>
          <a:p>
            <a:pPr lvl="1"/>
            <a:r>
              <a:rPr lang="en-US" altLang="en-US" sz="2000" dirty="0"/>
              <a:t>Each entry represents a contiguous area of mapped virtual memory,</a:t>
            </a:r>
            <a:endParaRPr lang="en-US" altLang="en-US" sz="2000" dirty="0"/>
          </a:p>
          <a:p>
            <a:pPr lvl="2"/>
            <a:r>
              <a:rPr lang="en-US" altLang="en-US" sz="1800" dirty="0"/>
              <a:t>More efficient than having a separate hash-table entry for each page</a:t>
            </a:r>
            <a:endParaRPr lang="en-US" altLang="en-US" sz="1800" dirty="0"/>
          </a:p>
          <a:p>
            <a:pPr lvl="1"/>
            <a:r>
              <a:rPr lang="en-US" altLang="en-US" sz="2000" dirty="0"/>
              <a:t>Each entry has  base address and  span (indicating the number of pages the entry represents)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35762"/>
            <a:ext cx="7956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Oracle SPARC Solaris (Cont.)</a:t>
            </a:r>
            <a:endParaRPr lang="en-US" altLang="en-U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5" y="1096963"/>
            <a:ext cx="7665876" cy="5062537"/>
          </a:xfrm>
        </p:spPr>
        <p:txBody>
          <a:bodyPr/>
          <a:lstStyle/>
          <a:p>
            <a:r>
              <a:rPr lang="en-US" altLang="en-US" sz="2400" dirty="0"/>
              <a:t>TLB holds translation table entries (TTEs) for fast hardware lookups</a:t>
            </a:r>
            <a:endParaRPr lang="en-US" altLang="en-US" sz="2400" dirty="0"/>
          </a:p>
          <a:p>
            <a:pPr lvl="1"/>
            <a:r>
              <a:rPr lang="en-US" altLang="en-US" sz="2000" dirty="0"/>
              <a:t>A cache of TTEs reside in a translation storage buffer (TSB)</a:t>
            </a:r>
            <a:endParaRPr lang="en-US" altLang="en-US" sz="2000" dirty="0"/>
          </a:p>
          <a:p>
            <a:pPr lvl="2"/>
            <a:r>
              <a:rPr lang="en-US" altLang="en-US" sz="1800" dirty="0"/>
              <a:t>Includes an entry per recently accessed page</a:t>
            </a:r>
            <a:endParaRPr lang="en-US" altLang="en-US" sz="1800" dirty="0"/>
          </a:p>
          <a:p>
            <a:r>
              <a:rPr lang="en-US" altLang="en-US" sz="2400" dirty="0"/>
              <a:t>Virtual address reference causes TLB search </a:t>
            </a:r>
            <a:endParaRPr lang="en-US" altLang="en-US" sz="2400" dirty="0"/>
          </a:p>
          <a:p>
            <a:pPr lvl="1"/>
            <a:r>
              <a:rPr lang="en-US" altLang="en-US" sz="2000" dirty="0"/>
              <a:t>If miss, hardware walks the in-memory TSB looking for the TTE corresponding to the address</a:t>
            </a:r>
            <a:endParaRPr lang="en-US" altLang="en-US" sz="2000" dirty="0"/>
          </a:p>
          <a:p>
            <a:pPr lvl="2"/>
            <a:r>
              <a:rPr lang="en-US" altLang="en-US" sz="1800" dirty="0"/>
              <a:t>If match found, the CPU copies the TSB entry into the TLB and translation completes</a:t>
            </a:r>
            <a:endParaRPr lang="en-US" altLang="en-US" sz="1800" dirty="0"/>
          </a:p>
          <a:p>
            <a:pPr lvl="2"/>
            <a:r>
              <a:rPr lang="en-US" altLang="en-US" sz="1800" dirty="0"/>
              <a:t>If no match found, kernel interrupted to search the hash table</a:t>
            </a:r>
            <a:endParaRPr lang="en-US" altLang="en-US" sz="1800" dirty="0"/>
          </a:p>
          <a:p>
            <a:pPr lvl="3"/>
            <a:r>
              <a:rPr lang="en-US" altLang="en-US" sz="1600" dirty="0"/>
              <a:t>The kernel then creates a TTE from the appropriate hash table and stores it in the TSB, Interrupt handler returns control to the MMU, which completes the address translation. </a:t>
            </a:r>
            <a:endParaRPr lang="en-US" altLang="en-US" sz="1600" dirty="0"/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103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</a:t>
            </a:r>
            <a:endParaRPr lang="en-US" altLang="en-US" dirty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122363"/>
            <a:ext cx="7679094" cy="5067300"/>
          </a:xfrm>
        </p:spPr>
        <p:txBody>
          <a:bodyPr/>
          <a:lstStyle/>
          <a:p>
            <a:r>
              <a:rPr lang="en-US" altLang="en-US" sz="1800" dirty="0"/>
              <a:t>A process can be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swapped</a:t>
            </a:r>
            <a:r>
              <a:rPr lang="en-US" altLang="en-US" sz="1800" dirty="0"/>
              <a:t> temporarily out of memory to a backing store, and then brought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back</a:t>
            </a:r>
            <a:r>
              <a:rPr lang="en-US" altLang="en-US" sz="1800" dirty="0"/>
              <a:t> into memory for continued execution</a:t>
            </a:r>
            <a:endParaRPr lang="en-US" altLang="en-US" sz="1800" dirty="0"/>
          </a:p>
          <a:p>
            <a:pPr lvl="1"/>
            <a:r>
              <a:rPr lang="en-US" altLang="en-US" sz="1600" dirty="0"/>
              <a:t>Total physical memory space of processes can exceed physical memory</a:t>
            </a:r>
            <a:endParaRPr lang="en-US" altLang="en-US" sz="1600" dirty="0"/>
          </a:p>
          <a:p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Backing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store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– fast disk large enough to accommodate copies of all memory images for all users; must provide direct access to these memory images</a:t>
            </a:r>
            <a:endParaRPr lang="en-US" altLang="en-US" sz="1800" dirty="0"/>
          </a:p>
          <a:p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out</a:t>
            </a:r>
            <a:r>
              <a:rPr lang="en-US" altLang="en-US" sz="1800" b="1" dirty="0">
                <a:solidFill>
                  <a:srgbClr val="3366FF"/>
                </a:solidFill>
              </a:rPr>
              <a:t>,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roll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in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– swapping variant used for priority-based scheduling algorithms; lower-priority process is swapped out so higher-priority process can be loaded and executed</a:t>
            </a:r>
            <a:endParaRPr lang="en-US" altLang="en-US" sz="1800" dirty="0"/>
          </a:p>
          <a:p>
            <a:r>
              <a:rPr lang="en-US" altLang="en-US" sz="1800" dirty="0"/>
              <a:t>Major part of swap time is transfer time; total transfer time is directly proportional to the amount of memory swapped</a:t>
            </a:r>
            <a:endParaRPr lang="en-US" altLang="en-US" sz="1800" dirty="0"/>
          </a:p>
          <a:p>
            <a:r>
              <a:rPr lang="en-US" altLang="en-US" sz="1800" dirty="0"/>
              <a:t>System maintains a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ready</a:t>
            </a:r>
            <a:r>
              <a:rPr lang="en-US" altLang="en-US" sz="1800" b="1" dirty="0">
                <a:solidFill>
                  <a:srgbClr val="3366FF"/>
                </a:solidFill>
              </a:rPr>
              <a:t>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queue</a:t>
            </a:r>
            <a:r>
              <a:rPr lang="en-US" altLang="en-US" sz="1800" dirty="0">
                <a:solidFill>
                  <a:srgbClr val="3366FF"/>
                </a:solidFill>
              </a:rPr>
              <a:t> </a:t>
            </a:r>
            <a:r>
              <a:rPr lang="en-US" altLang="en-US" sz="1800" dirty="0"/>
              <a:t>of ready-to-run processes which have memory images on disk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(Cont.)</a:t>
            </a:r>
            <a:endParaRPr lang="en-US" altLang="en-US" dirty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101725"/>
            <a:ext cx="7697755" cy="5067300"/>
          </a:xfrm>
        </p:spPr>
        <p:txBody>
          <a:bodyPr/>
          <a:lstStyle/>
          <a:p>
            <a:r>
              <a:rPr lang="en-US" altLang="en-US" sz="2400" dirty="0"/>
              <a:t>Does the swapped out process need to swap back in to same physical addresses?</a:t>
            </a:r>
            <a:endParaRPr lang="en-US" altLang="en-US" sz="2400" dirty="0"/>
          </a:p>
          <a:p>
            <a:r>
              <a:rPr lang="en-US" altLang="en-US" sz="2400" dirty="0"/>
              <a:t>Depends on address binding method</a:t>
            </a:r>
            <a:endParaRPr lang="en-US" altLang="en-US" sz="2400" dirty="0"/>
          </a:p>
          <a:p>
            <a:pPr lvl="1"/>
            <a:r>
              <a:rPr lang="en-US" altLang="en-US" sz="2000" dirty="0"/>
              <a:t>Plus consider pending I/O to / from process memory space</a:t>
            </a:r>
            <a:endParaRPr lang="en-US" altLang="en-US" sz="2000" dirty="0"/>
          </a:p>
          <a:p>
            <a:r>
              <a:rPr lang="en-US" altLang="en-US" sz="2400" dirty="0"/>
              <a:t>Modified versions of swapping are found on many systems (i.e., UNIX, Linux, and Windows)</a:t>
            </a:r>
            <a:endParaRPr lang="en-US" altLang="en-US" sz="2400" dirty="0"/>
          </a:p>
          <a:p>
            <a:pPr lvl="1"/>
            <a:r>
              <a:rPr lang="en-US" altLang="en-US" sz="2000" dirty="0"/>
              <a:t>Swapping normally disabled</a:t>
            </a:r>
            <a:endParaRPr lang="en-US" altLang="en-US" sz="2000" dirty="0"/>
          </a:p>
          <a:p>
            <a:pPr lvl="1"/>
            <a:r>
              <a:rPr lang="en-US" altLang="en-US" sz="2000" dirty="0"/>
              <a:t>Started if more than threshold amount of memory allocated</a:t>
            </a:r>
            <a:endParaRPr lang="en-US" altLang="en-US" sz="2000" dirty="0"/>
          </a:p>
          <a:p>
            <a:pPr lvl="1"/>
            <a:r>
              <a:rPr lang="en-US" altLang="en-US" sz="2000" dirty="0"/>
              <a:t>Disabled again once memory demand reduced below threshold</a:t>
            </a:r>
            <a:endParaRPr lang="en-US" altLang="en-US" sz="2000" dirty="0"/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2921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Schematic View of Swapping</a:t>
            </a:r>
            <a:endParaRPr lang="en-US" altLang="en-US" sz="2400" dirty="0"/>
          </a:p>
        </p:txBody>
      </p:sp>
      <p:pic>
        <p:nvPicPr>
          <p:cNvPr id="56323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213" y="1400175"/>
            <a:ext cx="5099050" cy="381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869950" y="241336"/>
            <a:ext cx="8037513" cy="576262"/>
          </a:xfrm>
        </p:spPr>
        <p:txBody>
          <a:bodyPr/>
          <a:lstStyle/>
          <a:p>
            <a:r>
              <a:rPr lang="en-US" altLang="en-US" sz="3000" dirty="0"/>
              <a:t>Context Switch Time including Swapping</a:t>
            </a:r>
            <a:endParaRPr lang="en-US" altLang="en-US" sz="3000" dirty="0"/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869950" y="1112838"/>
            <a:ext cx="7686221" cy="4754562"/>
          </a:xfrm>
        </p:spPr>
        <p:txBody>
          <a:bodyPr/>
          <a:lstStyle/>
          <a:p>
            <a:r>
              <a:rPr lang="en-US" altLang="en-US" sz="2000" dirty="0"/>
              <a:t>If next processes to be put on CPU is not in memory, need to swap out a process and swap in target process</a:t>
            </a:r>
            <a:endParaRPr lang="en-US" altLang="en-US" sz="2000" dirty="0"/>
          </a:p>
          <a:p>
            <a:r>
              <a:rPr lang="en-US" altLang="en-US" sz="2000" dirty="0"/>
              <a:t>Context switch time can then be very high</a:t>
            </a:r>
            <a:endParaRPr lang="en-US" altLang="en-US" sz="2000" dirty="0"/>
          </a:p>
          <a:p>
            <a:r>
              <a:rPr lang="en-US" altLang="en-US" sz="2000" dirty="0"/>
              <a:t>100MB process swapping to hard disk with transfer rate of 50MB/sec</a:t>
            </a:r>
            <a:endParaRPr lang="en-US" altLang="en-US" sz="2000" dirty="0"/>
          </a:p>
          <a:p>
            <a:pPr lvl="1"/>
            <a:r>
              <a:rPr lang="en-US" altLang="en-US" sz="1800" dirty="0"/>
              <a:t>Swap out time of 2000 </a:t>
            </a:r>
            <a:r>
              <a:rPr lang="en-US" altLang="en-US" sz="1800" dirty="0" err="1"/>
              <a:t>ms</a:t>
            </a:r>
            <a:endParaRPr lang="en-US" altLang="en-US" sz="1800" dirty="0"/>
          </a:p>
          <a:p>
            <a:pPr lvl="1"/>
            <a:r>
              <a:rPr lang="en-US" altLang="en-US" sz="1800" dirty="0"/>
              <a:t>Plus swap in of same sized process</a:t>
            </a:r>
            <a:endParaRPr lang="en-US" altLang="en-US" sz="1800" dirty="0"/>
          </a:p>
          <a:p>
            <a:pPr lvl="1"/>
            <a:r>
              <a:rPr lang="en-US" altLang="en-US" sz="1800" dirty="0"/>
              <a:t>Total context switch swapping component time of 4000ms (4 seconds)</a:t>
            </a:r>
            <a:endParaRPr lang="en-US" altLang="en-US" sz="1800" dirty="0"/>
          </a:p>
          <a:p>
            <a:r>
              <a:rPr lang="en-US" altLang="en-US" sz="2000" dirty="0"/>
              <a:t>Can reduce if reduce size of memory swapped – by knowing how much memory really being used</a:t>
            </a:r>
            <a:endParaRPr lang="en-US" altLang="en-US" sz="2000" dirty="0"/>
          </a:p>
          <a:p>
            <a:pPr lvl="1"/>
            <a:r>
              <a:rPr lang="en-US" altLang="en-US" sz="1800" dirty="0"/>
              <a:t>System calls to inform OS of memory use via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request_memory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en-US" sz="1800" dirty="0"/>
              <a:t>and </a:t>
            </a:r>
            <a:r>
              <a:rPr lang="en-US" alt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release_memory</a:t>
            </a:r>
            <a:r>
              <a:rPr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1046809" y="232005"/>
            <a:ext cx="7635875" cy="576262"/>
          </a:xfrm>
        </p:spPr>
        <p:txBody>
          <a:bodyPr/>
          <a:lstStyle/>
          <a:p>
            <a:r>
              <a:rPr lang="en-US" altLang="en-US" sz="2800" dirty="0"/>
              <a:t>Context Switch Time and Swapping (Cont.)</a:t>
            </a:r>
            <a:endParaRPr lang="en-US" altLang="en-US" sz="2800" dirty="0"/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821094" y="1160463"/>
            <a:ext cx="7635875" cy="4754562"/>
          </a:xfrm>
        </p:spPr>
        <p:txBody>
          <a:bodyPr/>
          <a:lstStyle/>
          <a:p>
            <a:r>
              <a:rPr lang="en-US" altLang="en-US" sz="2800" dirty="0"/>
              <a:t>Other constraints as well on swapping</a:t>
            </a:r>
            <a:endParaRPr lang="en-US" altLang="en-US" sz="2800" dirty="0"/>
          </a:p>
          <a:p>
            <a:pPr lvl="1"/>
            <a:r>
              <a:rPr lang="en-US" altLang="en-US" sz="2400" dirty="0"/>
              <a:t>Pending I/O – can’t swap out as I/O would occur to wrong process</a:t>
            </a:r>
            <a:endParaRPr lang="en-US" altLang="en-US" sz="2400" dirty="0"/>
          </a:p>
          <a:p>
            <a:pPr lvl="1"/>
            <a:r>
              <a:rPr lang="en-US" altLang="en-US" sz="2400" dirty="0"/>
              <a:t>Or always transfer I/O to kernel space, then to I/O device</a:t>
            </a:r>
            <a:endParaRPr lang="en-US" altLang="en-US" sz="2400" dirty="0"/>
          </a:p>
          <a:p>
            <a:pPr lvl="2"/>
            <a:r>
              <a:rPr lang="en-US" altLang="en-US" sz="2000" dirty="0"/>
              <a:t>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double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buffering</a:t>
            </a:r>
            <a:r>
              <a:rPr lang="en-US" altLang="en-US" sz="2000" dirty="0"/>
              <a:t>, adds overhead</a:t>
            </a:r>
            <a:endParaRPr lang="en-US" altLang="en-US" sz="2000" dirty="0"/>
          </a:p>
          <a:p>
            <a:r>
              <a:rPr lang="en-US" altLang="en-US" sz="2800" dirty="0"/>
              <a:t>Standard swapping not used in modern operating systems</a:t>
            </a:r>
            <a:endParaRPr lang="en-US" altLang="en-US" sz="2800" dirty="0"/>
          </a:p>
          <a:p>
            <a:pPr lvl="1"/>
            <a:r>
              <a:rPr lang="en-US" altLang="en-US" sz="2400" dirty="0"/>
              <a:t>But modified version common</a:t>
            </a:r>
            <a:endParaRPr lang="en-US" altLang="en-US" sz="2400" dirty="0"/>
          </a:p>
          <a:p>
            <a:pPr lvl="2"/>
            <a:r>
              <a:rPr lang="en-US" altLang="en-US" sz="2000" dirty="0"/>
              <a:t>Swap only when free memory extremely low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488950" y="232005"/>
            <a:ext cx="8229600" cy="576262"/>
          </a:xfrm>
        </p:spPr>
        <p:txBody>
          <a:bodyPr/>
          <a:lstStyle/>
          <a:p>
            <a:r>
              <a:rPr lang="en-US" altLang="en-US" dirty="0"/>
              <a:t>Swapping on Mobile Systems</a:t>
            </a:r>
            <a:endParaRPr lang="en-US" altLang="en-US" dirty="0"/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845101" y="1060450"/>
            <a:ext cx="7723187" cy="4935538"/>
          </a:xfrm>
        </p:spPr>
        <p:txBody>
          <a:bodyPr/>
          <a:lstStyle/>
          <a:p>
            <a:r>
              <a:rPr lang="en-US" altLang="en-US" sz="2400" dirty="0"/>
              <a:t>Not typically supported</a:t>
            </a:r>
            <a:endParaRPr lang="en-US" altLang="en-US" sz="2400" dirty="0"/>
          </a:p>
          <a:p>
            <a:pPr lvl="1"/>
            <a:r>
              <a:rPr lang="en-US" altLang="en-US" sz="2000" dirty="0"/>
              <a:t>Flash memory based</a:t>
            </a:r>
            <a:endParaRPr lang="en-US" altLang="en-US" sz="2000" dirty="0"/>
          </a:p>
          <a:p>
            <a:pPr lvl="2"/>
            <a:r>
              <a:rPr lang="en-US" altLang="en-US" sz="1800" dirty="0"/>
              <a:t>Small amount of space</a:t>
            </a:r>
            <a:endParaRPr lang="en-US" altLang="en-US" sz="1800" dirty="0"/>
          </a:p>
          <a:p>
            <a:pPr lvl="2"/>
            <a:r>
              <a:rPr lang="en-US" altLang="en-US" sz="1800" dirty="0"/>
              <a:t>Limited number of write cycles</a:t>
            </a:r>
            <a:endParaRPr lang="en-US" altLang="en-US" sz="1800" dirty="0"/>
          </a:p>
          <a:p>
            <a:pPr lvl="2"/>
            <a:r>
              <a:rPr lang="en-US" altLang="en-US" sz="1800" dirty="0"/>
              <a:t>Poor throughput between flash memory and CPU on mobile platform</a:t>
            </a:r>
            <a:endParaRPr lang="en-US" altLang="en-US" sz="1800" dirty="0"/>
          </a:p>
          <a:p>
            <a:r>
              <a:rPr lang="en-US" altLang="en-US" sz="2400" dirty="0"/>
              <a:t>Instead use other methods to free memory if low</a:t>
            </a:r>
            <a:endParaRPr lang="en-US" altLang="en-US" sz="2400" dirty="0"/>
          </a:p>
          <a:p>
            <a:pPr lvl="1"/>
            <a:r>
              <a:rPr lang="en-US" altLang="en-US" sz="2000" dirty="0"/>
              <a:t>iOS </a:t>
            </a:r>
            <a:r>
              <a:rPr lang="en-US" altLang="en-US" sz="2000" b="1" i="1" dirty="0"/>
              <a:t>asks</a:t>
            </a:r>
            <a:r>
              <a:rPr lang="en-US" altLang="en-US" sz="2000" dirty="0"/>
              <a:t> apps to voluntarily relinquish allocated memory</a:t>
            </a:r>
            <a:endParaRPr lang="en-US" altLang="en-US" sz="2000" dirty="0"/>
          </a:p>
          <a:p>
            <a:pPr lvl="2"/>
            <a:r>
              <a:rPr lang="en-US" altLang="en-US" sz="1800" dirty="0"/>
              <a:t>Read-only data thrown out and reloaded from flash if needed</a:t>
            </a:r>
            <a:endParaRPr lang="en-US" altLang="en-US" sz="1800" dirty="0"/>
          </a:p>
          <a:p>
            <a:pPr lvl="2"/>
            <a:r>
              <a:rPr lang="en-US" altLang="en-US" sz="1800" dirty="0"/>
              <a:t>Failure to free can result in termination</a:t>
            </a:r>
            <a:endParaRPr lang="en-US" altLang="en-US" sz="1800" dirty="0"/>
          </a:p>
          <a:p>
            <a:pPr lvl="1"/>
            <a:r>
              <a:rPr lang="en-US" altLang="en-US" sz="2000" dirty="0"/>
              <a:t>Android terminates apps if low free memory, but first writes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application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state</a:t>
            </a:r>
            <a:r>
              <a:rPr lang="en-US" altLang="en-US" sz="2000" dirty="0"/>
              <a:t> to flash for fast restart</a:t>
            </a:r>
            <a:endParaRPr lang="en-US" altLang="en-US" sz="2000" dirty="0"/>
          </a:p>
          <a:p>
            <a:pPr lvl="1"/>
            <a:r>
              <a:rPr lang="en-US" altLang="en-US" sz="2000" dirty="0"/>
              <a:t>Both OSes support paging as discussed below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Swapping with Paging</a:t>
            </a:r>
            <a:endParaRPr lang="en-US" altLang="en-US" sz="2400" dirty="0"/>
          </a:p>
        </p:txBody>
      </p:sp>
      <p:pic>
        <p:nvPicPr>
          <p:cNvPr id="60419" name="Picture 2" descr="W:\os-book\OS10\slide-dir\os-figures\9_2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913" y="1295400"/>
            <a:ext cx="4875212" cy="454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Segmentation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 process is divided into Segments. </a:t>
            </a:r>
            <a:endParaRPr lang="en-US" altLang="en-US"/>
          </a:p>
          <a:p>
            <a:r>
              <a:rPr lang="en-US" altLang="en-US"/>
              <a:t>The chunks that a program is divided into which are not necessarily all of the exact sizes are called segments. </a:t>
            </a:r>
            <a:endParaRPr lang="en-US" altLang="en-US"/>
          </a:p>
          <a:p>
            <a:r>
              <a:rPr lang="en-US" altLang="en-US"/>
              <a:t>Segmentation gives the user’s view of the process which paging does not provide. Here the user’s view is mapped to physical memory.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Segmentation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altLang="en-US" sz="2400"/>
              <a:t> Virtual Memory Segmentation: Each process is divided into a number of segments, but the segmentation is not done all at once. This segmentation may or may not take place at the run time of the program.</a:t>
            </a:r>
            <a:endParaRPr lang="en-US" altLang="en-US" sz="2400"/>
          </a:p>
          <a:p>
            <a:pPr algn="just"/>
            <a:r>
              <a:rPr lang="en-US" altLang="en-US" sz="2400"/>
              <a:t>Simple Segmentation: Each process is divided into a number of segments, all of which are loaded into memory at run time, though not necessarily contiguously.</a:t>
            </a:r>
            <a:endParaRPr lang="en-US" altLang="en-US" sz="2400"/>
          </a:p>
          <a:p>
            <a:pPr algn="just"/>
            <a:r>
              <a:rPr lang="en-US" altLang="en-US" sz="2400"/>
              <a:t>There is no simple relationship between logical addresses and physical addresses in segmentation. A table stores the information about all such segments and is called Segment Table. </a:t>
            </a:r>
            <a:endParaRPr lang="en-US" altLang="en-US" sz="24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Segment Table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What is Segment Table?</a:t>
            </a:r>
            <a:endParaRPr lang="en-US" altLang="en-US"/>
          </a:p>
          <a:p>
            <a:pPr lvl="1"/>
            <a:r>
              <a:rPr lang="en-US" altLang="en-US"/>
              <a:t>It maps a two-dimensional Logical address into a one-dimensional Physical address. </a:t>
            </a:r>
            <a:endParaRPr lang="en-US" altLang="en-US"/>
          </a:p>
          <a:p>
            <a:pPr marL="457200" lvl="1" indent="0">
              <a:buNone/>
            </a:pPr>
            <a:r>
              <a:rPr lang="en-US" altLang="en-US"/>
              <a:t>It’s each table entry has:</a:t>
            </a:r>
            <a:endParaRPr lang="en-US" altLang="en-US"/>
          </a:p>
          <a:p>
            <a:pPr lvl="1"/>
            <a:r>
              <a:rPr lang="en-US" altLang="en-US"/>
              <a:t>Base Address: It contains the starting physical address where the segments reside in memory.</a:t>
            </a:r>
            <a:endParaRPr lang="en-US" altLang="en-US"/>
          </a:p>
          <a:p>
            <a:pPr lvl="1"/>
            <a:r>
              <a:rPr lang="en-US" altLang="en-US"/>
              <a:t>Segment Limit: Also known as segment offset. It specifies the length of the segment.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Segment Table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8415" y="1268730"/>
            <a:ext cx="6712585" cy="547497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Segment Table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560" y="1268730"/>
            <a:ext cx="8916035" cy="47167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-36195" y="5774690"/>
            <a:ext cx="8500745" cy="1083310"/>
          </a:xfrm>
          <a:prstGeom prst="rect">
            <a:avLst/>
          </a:prstGeom>
        </p:spPr>
        <p:txBody>
          <a:bodyPr>
            <a:noAutofit/>
          </a:bodyPr>
          <a:p>
            <a:pPr marL="0" indent="0" algn="just" fontAlgn="base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273239"/>
                </a:solidFill>
                <a:latin typeface="Nunito"/>
                <a:ea typeface="Nunito"/>
              </a:rPr>
              <a:t>The address generated by the CPU is divided into:</a:t>
            </a:r>
            <a:endParaRPr sz="2000" b="0" i="0">
              <a:solidFill>
                <a:srgbClr val="273239"/>
              </a:solidFill>
              <a:latin typeface="Nunito"/>
              <a:ea typeface="Nunito"/>
            </a:endParaRPr>
          </a:p>
          <a:p>
            <a:pPr marL="0" indent="0" algn="l" fontAlgn="base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000" b="1" i="0">
                <a:solidFill>
                  <a:srgbClr val="273239"/>
                </a:solidFill>
                <a:latin typeface="Nunito"/>
                <a:ea typeface="Nunito"/>
              </a:rPr>
              <a:t>Segment number (s):</a:t>
            </a:r>
            <a:r>
              <a:rPr sz="2000" b="0" i="0">
                <a:solidFill>
                  <a:srgbClr val="273239"/>
                </a:solidFill>
                <a:latin typeface="Nunito"/>
                <a:ea typeface="Nunito"/>
              </a:rPr>
              <a:t> Number of bits required to represent the segment.</a:t>
            </a:r>
            <a:endParaRPr sz="2000" b="0" i="0">
              <a:solidFill>
                <a:srgbClr val="273239"/>
              </a:solidFill>
              <a:latin typeface="Nunito"/>
              <a:ea typeface="Nunito"/>
            </a:endParaRPr>
          </a:p>
          <a:p>
            <a:pPr marL="0" indent="0" algn="l" fontAlgn="base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sz="2000" b="1" i="0">
                <a:solidFill>
                  <a:srgbClr val="273239"/>
                </a:solidFill>
                <a:latin typeface="Nunito"/>
                <a:ea typeface="Nunito"/>
              </a:rPr>
              <a:t>Segment offset (d):</a:t>
            </a:r>
            <a:r>
              <a:rPr sz="2000" b="0" i="0">
                <a:solidFill>
                  <a:srgbClr val="273239"/>
                </a:solidFill>
                <a:latin typeface="Nunito"/>
                <a:ea typeface="Nunito"/>
              </a:rPr>
              <a:t> Number of bits required to represent the position of data within a segment.</a:t>
            </a:r>
            <a:endParaRPr sz="2000" b="0" i="0">
              <a:solidFill>
                <a:srgbClr val="273239"/>
              </a:solidFill>
              <a:latin typeface="Nunito"/>
              <a:ea typeface="Nunito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Advantages of Segmentation in Operating System</a:t>
            </a:r>
            <a:endParaRPr lang="en-US" altLang="en-US"/>
          </a:p>
          <a:p>
            <a:pPr lvl="1"/>
            <a:r>
              <a:rPr lang="en-US" altLang="en-US"/>
              <a:t>Reduced Internal Fragmentation </a:t>
            </a:r>
            <a:endParaRPr lang="en-US" altLang="en-US"/>
          </a:p>
          <a:p>
            <a:pPr lvl="1"/>
            <a:r>
              <a:rPr lang="en-US" altLang="en-US"/>
              <a:t>Flexibility</a:t>
            </a:r>
            <a:endParaRPr lang="en-US" altLang="en-US"/>
          </a:p>
          <a:p>
            <a:pPr lvl="1"/>
            <a:r>
              <a:rPr lang="en-US" altLang="en-US"/>
              <a:t>Sharing</a:t>
            </a:r>
            <a:endParaRPr lang="en-US" altLang="en-US"/>
          </a:p>
          <a:p>
            <a:pPr lvl="1"/>
            <a:r>
              <a:rPr lang="en-US" altLang="en-US"/>
              <a:t>Protection</a:t>
            </a: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r>
              <a:rPr lang="en-US" altLang="en-US"/>
              <a:t>PSG Institute of Technology and Applied Research</a:t>
            </a:r>
            <a:endParaRPr lang="en-US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858416" y="226854"/>
            <a:ext cx="7876009" cy="576263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Example: The Intel 32 and 64-bit Architectures</a:t>
            </a:r>
            <a:endParaRPr lang="en-US" altLang="en-US" sz="26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0423" y="1233488"/>
            <a:ext cx="7669765" cy="4530725"/>
          </a:xfrm>
        </p:spPr>
        <p:txBody>
          <a:bodyPr/>
          <a:lstStyle/>
          <a:p>
            <a:r>
              <a:rPr lang="en-US" altLang="en-US" dirty="0"/>
              <a:t>Dominant industry chips</a:t>
            </a:r>
            <a:endParaRPr lang="en-US" altLang="en-US" dirty="0"/>
          </a:p>
          <a:p>
            <a:r>
              <a:rPr lang="en-US" altLang="en-US" dirty="0"/>
              <a:t>Pentium CPUs are 32-bit and called IA-32 architecture</a:t>
            </a:r>
            <a:endParaRPr lang="en-US" altLang="en-US" dirty="0"/>
          </a:p>
          <a:p>
            <a:r>
              <a:rPr lang="en-US" altLang="en-US" dirty="0"/>
              <a:t>Current Intel CPUs are 64-bit and called IA-64 architecture</a:t>
            </a:r>
            <a:endParaRPr lang="en-US" altLang="en-US" dirty="0"/>
          </a:p>
          <a:p>
            <a:r>
              <a:rPr lang="en-US" altLang="en-US" dirty="0"/>
              <a:t>Many variations in the chips, cover the main ideas here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21721" y="232005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</a:t>
            </a:r>
            <a:endParaRPr lang="en-US" altLang="en-US" sz="2800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080" y="1339361"/>
            <a:ext cx="7735918" cy="4530725"/>
          </a:xfrm>
        </p:spPr>
        <p:txBody>
          <a:bodyPr/>
          <a:lstStyle/>
          <a:p>
            <a:r>
              <a:rPr lang="en-US" altLang="en-US" sz="2800" dirty="0"/>
              <a:t>Supports both segmentation and segmentation with paging</a:t>
            </a:r>
            <a:endParaRPr lang="en-US" altLang="en-US" sz="2800" dirty="0"/>
          </a:p>
          <a:p>
            <a:pPr lvl="1"/>
            <a:r>
              <a:rPr lang="en-US" altLang="en-US" sz="2400" dirty="0"/>
              <a:t>Each segment can be 4 GB</a:t>
            </a:r>
            <a:endParaRPr lang="en-US" altLang="en-US" sz="2400" dirty="0"/>
          </a:p>
          <a:p>
            <a:pPr lvl="1"/>
            <a:r>
              <a:rPr lang="en-US" altLang="en-US" sz="2400" dirty="0"/>
              <a:t>Up to 16 K segments per process</a:t>
            </a:r>
            <a:endParaRPr lang="en-US" altLang="en-US" sz="2400" dirty="0"/>
          </a:p>
          <a:p>
            <a:pPr lvl="1"/>
            <a:r>
              <a:rPr lang="en-US" altLang="en-US" sz="2400" dirty="0"/>
              <a:t>Divided into two partitions</a:t>
            </a:r>
            <a:endParaRPr lang="en-US" altLang="en-US" sz="2400" dirty="0"/>
          </a:p>
          <a:p>
            <a:pPr lvl="2"/>
            <a:r>
              <a:rPr lang="en-US" altLang="en-US" sz="2000" dirty="0"/>
              <a:t>First partition of up to 8 K segments are private to process (kept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LDT</a:t>
            </a:r>
            <a:r>
              <a:rPr lang="en-US" altLang="en-US" sz="2000" dirty="0"/>
              <a:t>))</a:t>
            </a:r>
            <a:endParaRPr lang="en-US" altLang="en-US" sz="2000" dirty="0"/>
          </a:p>
          <a:p>
            <a:pPr lvl="2"/>
            <a:r>
              <a:rPr lang="en-US" altLang="en-US" sz="2000" dirty="0"/>
              <a:t>Second partition of up to 8K segments shared among all processes (kept in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descriptor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GDT</a:t>
            </a:r>
            <a:r>
              <a:rPr lang="en-US" altLang="en-US" sz="2000" dirty="0"/>
              <a:t>))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886408" y="231649"/>
            <a:ext cx="8146467" cy="576263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The Intel IA-32 Architecture (Cont.)</a:t>
            </a:r>
            <a:endParaRPr lang="en-US" altLang="en-US" sz="2800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5" y="1323452"/>
            <a:ext cx="7679093" cy="4530725"/>
          </a:xfrm>
        </p:spPr>
        <p:txBody>
          <a:bodyPr/>
          <a:lstStyle/>
          <a:p>
            <a:pPr>
              <a:defRPr/>
            </a:pPr>
            <a:r>
              <a:rPr lang="en-US" altLang="en-US" sz="2800" dirty="0"/>
              <a:t>CPU generates logical address</a:t>
            </a:r>
            <a:endParaRPr lang="en-US" altLang="en-US" sz="2800" dirty="0"/>
          </a:p>
          <a:p>
            <a:pPr lvl="1">
              <a:defRPr/>
            </a:pPr>
            <a:r>
              <a:rPr lang="en-US" altLang="en-US" sz="2400" dirty="0"/>
              <a:t>Selector given to segmentation unit</a:t>
            </a:r>
            <a:endParaRPr lang="en-US" altLang="en-US" sz="2400" dirty="0"/>
          </a:p>
          <a:p>
            <a:pPr lvl="2">
              <a:defRPr/>
            </a:pPr>
            <a:r>
              <a:rPr lang="en-US" altLang="en-US" sz="2000" dirty="0"/>
              <a:t>Which produces linear addresses </a:t>
            </a:r>
            <a:endParaRPr lang="en-US" altLang="en-US" sz="2000" dirty="0"/>
          </a:p>
          <a:p>
            <a:pPr marL="857250" lvl="2" indent="0">
              <a:buFont typeface="Webdings" panose="05030102010509060703" pitchFamily="18" charset="2"/>
              <a:buNone/>
              <a:defRPr/>
            </a:pPr>
            <a:endParaRPr lang="en-US" altLang="en-US" sz="2000" dirty="0"/>
          </a:p>
          <a:p>
            <a:pPr lvl="2">
              <a:defRPr/>
            </a:pPr>
            <a:endParaRPr lang="en-US" altLang="en-US" sz="2000" dirty="0"/>
          </a:p>
          <a:p>
            <a:pPr lvl="1">
              <a:defRPr/>
            </a:pPr>
            <a:r>
              <a:rPr lang="en-US" altLang="en-US" sz="2400" dirty="0"/>
              <a:t>Linear address given to paging unit</a:t>
            </a:r>
            <a:endParaRPr lang="en-US" altLang="en-US" sz="2400" dirty="0"/>
          </a:p>
          <a:p>
            <a:pPr lvl="2">
              <a:defRPr/>
            </a:pPr>
            <a:r>
              <a:rPr lang="en-US" altLang="en-US" sz="2000" dirty="0"/>
              <a:t>Which generates physical address in main memory</a:t>
            </a:r>
            <a:endParaRPr lang="en-US" altLang="en-US" sz="2000" dirty="0"/>
          </a:p>
          <a:p>
            <a:pPr lvl="2">
              <a:defRPr/>
            </a:pPr>
            <a:r>
              <a:rPr lang="en-US" altLang="en-US" sz="2000" dirty="0"/>
              <a:t>Paging units form equivalent of MMU</a:t>
            </a:r>
            <a:endParaRPr lang="en-US" altLang="en-US" sz="2000" dirty="0"/>
          </a:p>
          <a:p>
            <a:pPr lvl="2">
              <a:defRPr/>
            </a:pPr>
            <a:r>
              <a:rPr lang="en-US" altLang="en-US" sz="2000" dirty="0"/>
              <a:t>Pages sizes can be 4 KB or 4 MB</a:t>
            </a:r>
            <a:endParaRPr lang="en-US" altLang="en-US" sz="2000" dirty="0"/>
          </a:p>
          <a:p>
            <a:pPr>
              <a:defRPr/>
            </a:pPr>
            <a:endParaRPr lang="en-US" altLang="en-US" sz="2000" dirty="0"/>
          </a:p>
        </p:txBody>
      </p:sp>
      <p:pic>
        <p:nvPicPr>
          <p:cNvPr id="63492" name="Picture 1" descr="Screen Shot 2013-01-04 at 12.24.50 P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463" y="2458776"/>
            <a:ext cx="2436812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905296" y="188588"/>
            <a:ext cx="7670800" cy="6191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Logical to Physical Address Translation in IA-32</a:t>
            </a:r>
            <a:endParaRPr lang="en-US" altLang="en-US" sz="2400" dirty="0"/>
          </a:p>
        </p:txBody>
      </p:sp>
      <p:pic>
        <p:nvPicPr>
          <p:cNvPr id="64515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049463" y="3084513"/>
            <a:ext cx="4595812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4213" y="1524000"/>
            <a:ext cx="6157912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95388" y="235762"/>
            <a:ext cx="74914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Segmentation</a:t>
            </a:r>
            <a:endParaRPr lang="en-US" altLang="en-US" dirty="0"/>
          </a:p>
        </p:txBody>
      </p:sp>
      <p:pic>
        <p:nvPicPr>
          <p:cNvPr id="65539" name="Picture 4" descr="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425" y="1314450"/>
            <a:ext cx="6034088" cy="3703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Paging Architecture</a:t>
            </a:r>
            <a:endParaRPr lang="en-US" altLang="en-US" dirty="0"/>
          </a:p>
        </p:txBody>
      </p:sp>
      <p:pic>
        <p:nvPicPr>
          <p:cNvPr id="66563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500" y="1220788"/>
            <a:ext cx="4503738" cy="439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853909" y="232975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IA-32 Page Address Extensions</a:t>
            </a:r>
            <a:endParaRPr lang="en-US" altLang="en-US" dirty="0"/>
          </a:p>
        </p:txBody>
      </p:sp>
      <p:pic>
        <p:nvPicPr>
          <p:cNvPr id="67587" name="Picture 1" descr="8_24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603" y="3772613"/>
            <a:ext cx="6157912" cy="263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Rectangle 3"/>
          <p:cNvSpPr txBox="1">
            <a:spLocks noChangeArrowheads="1"/>
          </p:cNvSpPr>
          <p:nvPr/>
        </p:nvSpPr>
        <p:spPr bwMode="auto">
          <a:xfrm>
            <a:off x="776290" y="1108075"/>
            <a:ext cx="7869236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285750" indent="-285750"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32-bit address limits led Intel to create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extension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dirty="0">
                <a:latin typeface="Helvetica" panose="020B0604020202020204" pitchFamily="34" charset="0"/>
              </a:rPr>
              <a:t>(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PAE</a:t>
            </a:r>
            <a:r>
              <a:rPr kumimoji="1" lang="en-US" altLang="en-US" dirty="0">
                <a:latin typeface="Helvetica" panose="020B0604020202020204" pitchFamily="34" charset="0"/>
              </a:rPr>
              <a:t>), allowing 32-bit apps access to more than 4GB of memory space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Paging went to a 3-level scheme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Top two bits refer to a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directory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endParaRPr kumimoji="1" lang="en-US" altLang="en-US" b="1" dirty="0">
              <a:solidFill>
                <a:srgbClr val="006699"/>
              </a:solidFill>
              <a:latin typeface="+mj-lt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Page-directory and page-table entries moved to 64-bits in size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Net effect is increasing address space to 36 bits – 64GB of physical memory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endParaRPr kumimoji="1" lang="en-US" altLang="en-US" b="1" dirty="0">
              <a:solidFill>
                <a:srgbClr val="3366FF"/>
              </a:solidFill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481661" y="245093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Intel x86-64</a:t>
            </a:r>
            <a:endParaRPr lang="en-US" altLang="en-US" dirty="0"/>
          </a:p>
        </p:txBody>
      </p:sp>
      <p:sp>
        <p:nvSpPr>
          <p:cNvPr id="68611" name="Rectangle 3"/>
          <p:cNvSpPr txBox="1">
            <a:spLocks noChangeArrowheads="1"/>
          </p:cNvSpPr>
          <p:nvPr/>
        </p:nvSpPr>
        <p:spPr bwMode="auto">
          <a:xfrm>
            <a:off x="849086" y="1122363"/>
            <a:ext cx="7632927" cy="275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Current generation Intel x86 architecture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64 bits is ginormous (&gt; 16 exabytes)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In practice only implement 48 bit addressing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Page sizes of 4 KB, 2 MB, 1 GB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Four levels of paging hierarchy</a:t>
            </a:r>
            <a:endParaRPr kumimoji="1" lang="en-US" altLang="en-US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Can also use PAE so virtual addresses are 48 bits and physical addresses are 52 bits</a:t>
            </a:r>
            <a:endParaRPr kumimoji="1" lang="en-US" altLang="en-US" dirty="0">
              <a:latin typeface="Helvetica" panose="020B0604020202020204" pitchFamily="34" charset="0"/>
            </a:endParaRPr>
          </a:p>
        </p:txBody>
      </p:sp>
      <p:pic>
        <p:nvPicPr>
          <p:cNvPr id="68612" name="Picture 2" descr="8_25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4108450"/>
            <a:ext cx="72834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33438" y="238549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Example: ARM Architecture</a:t>
            </a:r>
            <a:endParaRPr lang="en-US" altLang="en-US" dirty="0"/>
          </a:p>
        </p:txBody>
      </p:sp>
      <p:sp>
        <p:nvSpPr>
          <p:cNvPr id="69635" name="Rectangle 3"/>
          <p:cNvSpPr txBox="1">
            <a:spLocks noChangeArrowheads="1"/>
          </p:cNvSpPr>
          <p:nvPr/>
        </p:nvSpPr>
        <p:spPr bwMode="auto">
          <a:xfrm>
            <a:off x="765110" y="1169988"/>
            <a:ext cx="3522728" cy="514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Dominant mobile platform chip (Apple iOS and Google Android devices for example)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Modern, energy efficient, 32-bit CPU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4 KB and 16 KB pages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1 MB and 16 MB pages (termed </a:t>
            </a:r>
            <a:r>
              <a:rPr kumimoji="1" lang="en-US" altLang="en-US" b="1" dirty="0">
                <a:solidFill>
                  <a:srgbClr val="006699"/>
                </a:solidFill>
                <a:latin typeface="+mj-lt"/>
              </a:rPr>
              <a:t>sections</a:t>
            </a:r>
            <a:r>
              <a:rPr kumimoji="1" lang="en-US" altLang="en-US" sz="1600" dirty="0">
                <a:latin typeface="Helvetica" panose="020B0604020202020204" pitchFamily="34" charset="0"/>
              </a:rPr>
              <a:t>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One-level paging for sections, two-level for smaller pages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Two levels of TLBs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Outer level has two micro TLBs (one data, one instruction)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Inner is single main TLB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 marL="937895" lvl="1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First inner is checked, on miss outers are checked, and on miss page table walk performed by CPU</a:t>
            </a:r>
            <a:endParaRPr kumimoji="1" lang="en-US" altLang="en-US" sz="16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sz="1600" dirty="0">
              <a:latin typeface="Helvetica" panose="020B0604020202020204" pitchFamily="34" charset="0"/>
            </a:endParaRPr>
          </a:p>
        </p:txBody>
      </p:sp>
      <p:pic>
        <p:nvPicPr>
          <p:cNvPr id="69636" name="Picture 1" descr="8_2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400" y="1576388"/>
            <a:ext cx="4100513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  <a:endParaRPr lang="en-US" altLang="en-US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sz="2800" dirty="0"/>
              <a:t>– separation of user logical memory from physical memory</a:t>
            </a:r>
            <a:endParaRPr lang="en-US" altLang="en-US" sz="2800" dirty="0"/>
          </a:p>
          <a:p>
            <a:pPr lvl="1"/>
            <a:r>
              <a:rPr lang="en-US" altLang="en-US" sz="2400" dirty="0"/>
              <a:t>Only part of the program needs to be in memory for execution</a:t>
            </a:r>
            <a:endParaRPr lang="en-US" altLang="en-US" sz="2400" dirty="0"/>
          </a:p>
          <a:p>
            <a:pPr lvl="1"/>
            <a:r>
              <a:rPr lang="en-US" altLang="en-US" sz="2400" dirty="0"/>
              <a:t>Logical address space can therefore be much larger than physical address space</a:t>
            </a:r>
            <a:endParaRPr lang="en-US" altLang="en-US" sz="2400" dirty="0"/>
          </a:p>
          <a:p>
            <a:pPr lvl="1"/>
            <a:r>
              <a:rPr lang="en-US" altLang="en-US" sz="2400" dirty="0"/>
              <a:t>Allows address spaces to be shared by several processes</a:t>
            </a:r>
            <a:endParaRPr lang="en-US" altLang="en-US" sz="2400" dirty="0"/>
          </a:p>
          <a:p>
            <a:pPr lvl="1"/>
            <a:r>
              <a:rPr lang="en-US" altLang="en-US" sz="2400" dirty="0"/>
              <a:t>Allows for more efficient process creation</a:t>
            </a:r>
            <a:endParaRPr lang="en-US" altLang="en-US" sz="2400" dirty="0"/>
          </a:p>
          <a:p>
            <a:pPr lvl="1"/>
            <a:r>
              <a:rPr lang="en-US" altLang="en-US" sz="2400" dirty="0"/>
              <a:t>More programs running concurrently</a:t>
            </a:r>
            <a:endParaRPr lang="en-US" altLang="en-US" sz="2400" dirty="0"/>
          </a:p>
          <a:p>
            <a:pPr lvl="1"/>
            <a:r>
              <a:rPr lang="en-US" altLang="en-US" sz="2400" dirty="0"/>
              <a:t>Less I/O needed to load or swap processes</a:t>
            </a:r>
            <a:endParaRPr lang="en-US" altLang="en-US" sz="2400" dirty="0"/>
          </a:p>
          <a:p>
            <a:endParaRPr lang="en-US" altLang="en-US" sz="24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sz="2800" dirty="0"/>
              <a:t> – logical view of how process is stored in memory</a:t>
            </a:r>
            <a:endParaRPr lang="en-US" altLang="en-US" sz="2800" dirty="0"/>
          </a:p>
          <a:p>
            <a:pPr lvl="1"/>
            <a:r>
              <a:rPr lang="en-US" altLang="en-US" sz="2400" dirty="0"/>
              <a:t>Usually start at address 0, contiguous addresses until end of space</a:t>
            </a:r>
            <a:endParaRPr lang="en-US" altLang="en-US" sz="2400" dirty="0"/>
          </a:p>
          <a:p>
            <a:pPr lvl="1"/>
            <a:r>
              <a:rPr lang="en-US" altLang="en-US" sz="2400" dirty="0"/>
              <a:t>Meanwhile, physical memory organized in page frames</a:t>
            </a:r>
            <a:endParaRPr lang="en-US" altLang="en-US" sz="2400" dirty="0"/>
          </a:p>
          <a:p>
            <a:pPr lvl="1"/>
            <a:r>
              <a:rPr lang="en-US" altLang="en-US" sz="2400" dirty="0"/>
              <a:t>MMU must map logical to physical</a:t>
            </a:r>
            <a:endParaRPr lang="en-US" altLang="en-US" sz="2400" dirty="0"/>
          </a:p>
          <a:p>
            <a:r>
              <a:rPr lang="en-US" altLang="en-US" sz="2800" dirty="0"/>
              <a:t>Virtual memory can be implemented via:</a:t>
            </a:r>
            <a:endParaRPr lang="en-US" altLang="en-US" sz="2800" dirty="0"/>
          </a:p>
          <a:p>
            <a:pPr lvl="1"/>
            <a:r>
              <a:rPr lang="en-US" altLang="en-US" sz="2400" dirty="0"/>
              <a:t>Demand paging </a:t>
            </a:r>
            <a:endParaRPr lang="en-US" altLang="en-US" sz="2400" dirty="0"/>
          </a:p>
          <a:p>
            <a:pPr lvl="1"/>
            <a:r>
              <a:rPr lang="en-US" altLang="en-US" sz="2400" dirty="0"/>
              <a:t>Demand segmentation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828" y="188857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  <a:endParaRPr lang="en-US" altLang="en-US" sz="2400" dirty="0"/>
          </a:p>
        </p:txBody>
      </p:sp>
      <p:pic>
        <p:nvPicPr>
          <p:cNvPr id="10243" name="Picture 4" descr="B:\os-book\os10-dir\Slides-WORK-area\Figures-dir\ch10\JPG-dir\10_01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  <a:endParaRPr lang="en-US" altLang="en-US" dirty="0"/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/>
          <p:cNvSpPr txBox="1">
            <a:spLocks noChangeArrowheads="1"/>
          </p:cNvSpPr>
          <p:nvPr/>
        </p:nvSpPr>
        <p:spPr bwMode="auto">
          <a:xfrm>
            <a:off x="95885" y="1275080"/>
            <a:ext cx="5717540" cy="5306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830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1305" indent="-32575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800" dirty="0">
                <a:latin typeface="Helvetica" panose="020B0604020202020204" pitchFamily="34" charset="0"/>
              </a:rPr>
              <a:t>Maximizes address space use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800" dirty="0">
                <a:latin typeface="Helvetica" panose="020B0604020202020204" pitchFamily="34" charset="0"/>
              </a:rPr>
              <a:t>Unused address space between the two is hole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800" dirty="0">
                <a:latin typeface="Helvetica" panose="020B0604020202020204" pitchFamily="34" charset="0"/>
              </a:rPr>
              <a:t>No physical memory needed until heap or stack grows to a given new page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Helvetica" panose="020B0604020202020204" pitchFamily="34" charset="0"/>
              </a:rPr>
              <a:t>Enables </a:t>
            </a:r>
            <a:r>
              <a:rPr kumimoji="1" lang="en-US" altLang="en-US" sz="18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kumimoji="1" lang="en-US" altLang="en-US" sz="18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1800" dirty="0">
                <a:latin typeface="Helvetica" panose="020B0604020202020204" pitchFamily="34" charset="0"/>
              </a:rPr>
              <a:t>address spaces with holes left for growth, dynamically linked libraries, etc.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Helvetica" panose="020B0604020202020204" pitchFamily="34" charset="0"/>
              </a:rPr>
              <a:t>System libraries shared via mapping into virtual address space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Helvetica" panose="020B0604020202020204" pitchFamily="34" charset="0"/>
              </a:rPr>
              <a:t>Shared memory by mapping pages read-write into virtual address space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8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  <a:endParaRPr kumimoji="1" lang="en-US" altLang="en-US" sz="1800" dirty="0">
              <a:latin typeface="Helvetica" panose="020B0604020202020204" pitchFamily="34" charset="0"/>
              <a:cs typeface="Courier New" panose="02070309020205020404" pitchFamily="49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800" dirty="0">
                <a:latin typeface="Helvetica" panose="020B0604020202020204" pitchFamily="34" charset="0"/>
              </a:rPr>
              <a:t> </a:t>
            </a:r>
            <a:endParaRPr kumimoji="1" lang="en-US" altLang="en-US" sz="1800" dirty="0">
              <a:latin typeface="Helvetica" panose="020B0604020202020204" pitchFamily="34" charset="0"/>
            </a:endParaRP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sz="1800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  <a:endParaRPr lang="en-US" altLang="en-US" dirty="0"/>
          </a:p>
        </p:txBody>
      </p:sp>
      <p:pic>
        <p:nvPicPr>
          <p:cNvPr id="12291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404938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  <a:endParaRPr lang="en-US" altLang="en-US" dirty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910" y="1261110"/>
            <a:ext cx="9102725" cy="50971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Could bring entire process into memory at load time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Or bring a page into memory only when it is needed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Less I/O needed, no unnecessary I/O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Less memory needed 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Faster response</a:t>
            </a:r>
            <a:endParaRPr lang="en-US" altLang="en-US" sz="2000" dirty="0"/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More users</a:t>
            </a:r>
            <a:endParaRPr lang="en-US" altLang="en-US" sz="20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Similar to paging system with swapping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400" dirty="0"/>
              <a:t>Page is needed </a:t>
            </a:r>
            <a:r>
              <a:rPr lang="en-US" altLang="en-US" sz="2400" dirty="0">
                <a:sym typeface="Symbol" panose="05050102010706020507" pitchFamily="18" charset="2"/>
              </a:rPr>
              <a:t> reference to it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/>
              <a:t>invalid reference </a:t>
            </a:r>
            <a:r>
              <a:rPr lang="en-US" altLang="en-US" sz="2000" dirty="0">
                <a:sym typeface="Symbol" panose="05050102010706020507" pitchFamily="18" charset="2"/>
              </a:rPr>
              <a:t> abort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not-in-memory  bring to memory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4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sz="2400" dirty="0">
                <a:sym typeface="Symbol" panose="05050102010706020507" pitchFamily="18" charset="2"/>
              </a:rPr>
              <a:t>– never swaps a page into memory unless page will be needed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  <a:endParaRPr lang="en-US" altLang="en-US" sz="2000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000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  <p:pic>
        <p:nvPicPr>
          <p:cNvPr id="14340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80" y="2132965"/>
            <a:ext cx="2840355" cy="260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  <a:endParaRPr lang="en-US" altLang="en-US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" y="1303655"/>
            <a:ext cx="4839970" cy="535114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Could bring entire process into memory at load time</a:t>
            </a:r>
            <a:endParaRPr lang="en-US" altLang="en-US" sz="28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Or bring a page into memory only when it is needed</a:t>
            </a: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Less I/O needed, no unnecessary I/O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Less memory needed 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Faster response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400" dirty="0"/>
              <a:t>More users</a:t>
            </a:r>
            <a:endParaRPr lang="en-US" altLang="en-US" sz="2400" dirty="0"/>
          </a:p>
          <a:p>
            <a:pPr>
              <a:lnSpc>
                <a:spcPct val="90000"/>
              </a:lnSpc>
            </a:pPr>
            <a:r>
              <a:rPr lang="en-US" altLang="en-US" sz="2800" dirty="0"/>
              <a:t>Similar to paging system with swapping (diagram on right)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  <a:endParaRPr lang="en-US" altLang="en-US" dirty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403225" y="1191260"/>
            <a:ext cx="8124825" cy="4530725"/>
          </a:xfrm>
        </p:spPr>
        <p:txBody>
          <a:bodyPr/>
          <a:lstStyle/>
          <a:p>
            <a:r>
              <a:rPr lang="en-US" altLang="en-US" sz="2400" dirty="0"/>
              <a:t>With swapping, pager guesses which pages will be used before swapping out again</a:t>
            </a:r>
            <a:endParaRPr lang="en-US" altLang="en-US" sz="2400" dirty="0"/>
          </a:p>
          <a:p>
            <a:r>
              <a:rPr lang="en-US" altLang="en-US" sz="2400" dirty="0"/>
              <a:t>Instead, pager brings in only those pages into memory</a:t>
            </a:r>
            <a:endParaRPr lang="en-US" altLang="en-US" sz="2400" dirty="0"/>
          </a:p>
          <a:p>
            <a:r>
              <a:rPr lang="en-US" altLang="en-US" sz="2400" dirty="0"/>
              <a:t>How to determine that set of pages?</a:t>
            </a:r>
            <a:endParaRPr lang="en-US" altLang="en-US" sz="2400" dirty="0"/>
          </a:p>
          <a:p>
            <a:pPr lvl="1"/>
            <a:r>
              <a:rPr lang="en-US" altLang="en-US" sz="2000" dirty="0"/>
              <a:t>Need new MMU functionality to implement demand paging</a:t>
            </a:r>
            <a:endParaRPr lang="en-US" altLang="en-US" sz="2000" dirty="0"/>
          </a:p>
          <a:p>
            <a:r>
              <a:rPr lang="en-US" altLang="en-US" sz="2400" dirty="0"/>
              <a:t>If pages needed are already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resident</a:t>
            </a:r>
            <a:endParaRPr lang="en-US" altLang="en-US" sz="24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000" dirty="0"/>
              <a:t>No difference from non demand-paging</a:t>
            </a:r>
            <a:endParaRPr lang="en-US" altLang="en-US" sz="2000" dirty="0"/>
          </a:p>
          <a:p>
            <a:r>
              <a:rPr lang="en-US" altLang="en-US" sz="2400" dirty="0"/>
              <a:t>If page needed and not memory resident</a:t>
            </a:r>
            <a:endParaRPr lang="en-US" altLang="en-US" sz="2400" dirty="0"/>
          </a:p>
          <a:p>
            <a:pPr lvl="1"/>
            <a:r>
              <a:rPr lang="en-US" altLang="en-US" sz="2000" dirty="0"/>
              <a:t>Need to detect and load the page into memory from storage</a:t>
            </a:r>
            <a:endParaRPr lang="en-US" altLang="en-US" sz="2000" dirty="0"/>
          </a:p>
          <a:p>
            <a:pPr lvl="2"/>
            <a:r>
              <a:rPr lang="en-US" altLang="en-US" sz="1800" dirty="0"/>
              <a:t>Without changing program behavior</a:t>
            </a:r>
            <a:endParaRPr lang="en-US" altLang="en-US" sz="1800" dirty="0"/>
          </a:p>
          <a:p>
            <a:pPr lvl="2"/>
            <a:r>
              <a:rPr lang="en-US" altLang="en-US" sz="1800" dirty="0"/>
              <a:t>Without programmer needing to change code</a:t>
            </a:r>
            <a:endParaRPr lang="en-US" altLang="en-US" sz="1800" dirty="0"/>
          </a:p>
          <a:p>
            <a:endParaRPr lang="en-US" altLang="en-US" sz="1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  <a:endParaRPr lang="en-US" alt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sz="2000" dirty="0"/>
              <a:t>With each page table entry a valid–invalid bit is associated</a:t>
            </a:r>
            <a:br>
              <a:rPr lang="en-US" altLang="en-US" sz="2000" dirty="0"/>
            </a:br>
            <a:r>
              <a:rPr lang="en-US" altLang="en-US" sz="2000" dirty="0"/>
              <a:t>(</a:t>
            </a:r>
            <a:r>
              <a:rPr lang="en-US" altLang="en-US" sz="2000" b="1" dirty="0">
                <a:solidFill>
                  <a:srgbClr val="FF0000"/>
                </a:solidFill>
              </a:rPr>
              <a:t>v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 in-memory –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sz="2000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sz="2000" dirty="0">
                <a:sym typeface="Symbol" panose="05050102010706020507" pitchFamily="18" charset="2"/>
              </a:rPr>
              <a:t>,</a:t>
            </a:r>
            <a:r>
              <a:rPr lang="en-US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  not-in-memory)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sz="2000" dirty="0">
                <a:sym typeface="Symbol" panose="05050102010706020507" pitchFamily="18" charset="2"/>
              </a:rPr>
              <a:t>on all entries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endParaRPr lang="en-US" altLang="en-US" sz="1000" dirty="0">
              <a:sym typeface="Symbol" panose="05050102010706020507" pitchFamily="18" charset="2"/>
            </a:endParaRPr>
          </a:p>
          <a:p>
            <a:br>
              <a:rPr lang="en-US" altLang="en-US" sz="1000" dirty="0">
                <a:sym typeface="Symbol" panose="05050102010706020507" pitchFamily="18" charset="2"/>
              </a:rPr>
            </a:br>
            <a:br>
              <a:rPr lang="en-US" altLang="en-US" sz="1000" dirty="0">
                <a:sym typeface="Symbol" panose="05050102010706020507" pitchFamily="18" charset="2"/>
              </a:rPr>
            </a:br>
            <a:endParaRPr lang="en-US" altLang="en-US" sz="500" dirty="0">
              <a:sym typeface="Symbol" panose="05050102010706020507" pitchFamily="18" charset="2"/>
            </a:endParaRPr>
          </a:p>
          <a:p>
            <a:r>
              <a:rPr lang="en-US" altLang="en-US" sz="2000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sz="2000" b="1" dirty="0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 sz="2000" dirty="0">
                <a:sym typeface="Symbol" panose="05050102010706020507" pitchFamily="18" charset="2"/>
              </a:rPr>
              <a:t>  page fault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  <p:pic>
        <p:nvPicPr>
          <p:cNvPr id="16388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897" y="2623263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  <a:endParaRPr lang="en-US" altLang="en-US" sz="2400" dirty="0"/>
          </a:p>
        </p:txBody>
      </p:sp>
      <p:pic>
        <p:nvPicPr>
          <p:cNvPr id="17411" name="Picture 2" descr="B:\os-book\os10-dir\Slides-WORK-area\Figures-dir\ch10\JPG-dir\10_0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8"/>
            <a:ext cx="4805362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390261"/>
            <a:ext cx="7707086" cy="4010414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sz="2400" dirty="0"/>
              <a:t>If there is a reference to a page, first reference to that page will trap to operating system </a:t>
            </a:r>
            <a:endParaRPr lang="en-US" altLang="en-US" sz="2400" dirty="0"/>
          </a:p>
          <a:p>
            <a:pPr lvl="1">
              <a:lnSpc>
                <a:spcPct val="90000"/>
              </a:lnSpc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Page fault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Operating system looks at another table to decide: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marL="798830" lvl="1" indent="-341630">
              <a:lnSpc>
                <a:spcPct val="90000"/>
              </a:lnSpc>
              <a:defRPr/>
            </a:pPr>
            <a:r>
              <a:rPr lang="en-US" altLang="en-US" sz="2000" dirty="0"/>
              <a:t>Invalid reference </a:t>
            </a:r>
            <a:r>
              <a:rPr lang="en-US" altLang="en-US" sz="2000" dirty="0">
                <a:sym typeface="Symbol" panose="05050102010706020507" pitchFamily="18" charset="2"/>
              </a:rPr>
              <a:t> abort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marL="798830" lvl="1" indent="-341630">
              <a:lnSpc>
                <a:spcPct val="90000"/>
              </a:lnSpc>
              <a:defRPr/>
            </a:pPr>
            <a:r>
              <a:rPr lang="en-US" altLang="en-US" sz="2000" dirty="0">
                <a:sym typeface="Symbol" panose="05050102010706020507" pitchFamily="18" charset="2"/>
              </a:rPr>
              <a:t>Just not in memory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Find free frame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Swap page into frame via scheduled disk operation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Set validation bit = </a:t>
            </a:r>
            <a:r>
              <a:rPr lang="en-US" altLang="en-US" sz="2400" b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sz="2400" dirty="0">
                <a:sym typeface="Symbol" panose="05050102010706020507" pitchFamily="18" charset="2"/>
              </a:rPr>
              <a:t>Restart the instruction that caused the page fault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  <a:endParaRPr lang="en-US" altLang="en-US" dirty="0"/>
          </a:p>
        </p:txBody>
      </p:sp>
      <p:pic>
        <p:nvPicPr>
          <p:cNvPr id="1945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  <a:endParaRPr lang="en-US" alt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858416" y="1239708"/>
            <a:ext cx="7651102" cy="4887912"/>
          </a:xfrm>
        </p:spPr>
        <p:txBody>
          <a:bodyPr/>
          <a:lstStyle/>
          <a:p>
            <a:r>
              <a:rPr lang="en-US" altLang="en-US" sz="2000" dirty="0"/>
              <a:t>Extreme case – start process with </a:t>
            </a:r>
            <a:r>
              <a:rPr lang="en-US" altLang="en-US" sz="2000" i="1" dirty="0"/>
              <a:t>no</a:t>
            </a:r>
            <a:r>
              <a:rPr lang="en-US" altLang="en-US" sz="2000" dirty="0"/>
              <a:t> pages in memory</a:t>
            </a:r>
            <a:endParaRPr lang="en-US" altLang="en-US" sz="2000" dirty="0"/>
          </a:p>
          <a:p>
            <a:pPr lvl="1"/>
            <a:r>
              <a:rPr lang="en-US" altLang="en-US" sz="1800" dirty="0"/>
              <a:t>OS sets instruction pointer to first instruction of process, non-memory-resident -&gt; page fault</a:t>
            </a:r>
            <a:endParaRPr lang="en-US" altLang="en-US" sz="1800" dirty="0"/>
          </a:p>
          <a:p>
            <a:pPr lvl="1"/>
            <a:r>
              <a:rPr lang="en-US" altLang="en-US" sz="1800" dirty="0"/>
              <a:t>And for every other process pages on first access</a:t>
            </a:r>
            <a:endParaRPr lang="en-US" altLang="en-US" sz="1800" dirty="0"/>
          </a:p>
          <a:p>
            <a:pPr lvl="1"/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Pure demand paging</a:t>
            </a:r>
            <a:endParaRPr lang="en-US" altLang="en-US" sz="18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dirty="0"/>
              <a:t>Actually, a given instruction could access multiple pages -&gt; multiple page faults</a:t>
            </a:r>
            <a:endParaRPr lang="en-US" altLang="en-US" sz="2000" dirty="0"/>
          </a:p>
          <a:p>
            <a:pPr lvl="1"/>
            <a:r>
              <a:rPr lang="en-US" altLang="en-US" sz="1800" dirty="0"/>
              <a:t>Consider fetch and decode of instruction which adds 2 numbers from memory and stores result back to memory</a:t>
            </a:r>
            <a:endParaRPr lang="en-US" altLang="en-US" sz="1800" dirty="0"/>
          </a:p>
          <a:p>
            <a:pPr lvl="1"/>
            <a:r>
              <a:rPr lang="en-US" altLang="en-US" sz="1800" dirty="0"/>
              <a:t>Pain decreased because of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locality of reference</a:t>
            </a:r>
            <a:endParaRPr lang="en-US" altLang="en-US" sz="18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dirty="0"/>
              <a:t>Hardware support needed for demand paging</a:t>
            </a:r>
            <a:endParaRPr lang="en-US" altLang="en-US" sz="2000" dirty="0"/>
          </a:p>
          <a:p>
            <a:pPr lvl="1"/>
            <a:r>
              <a:rPr lang="en-US" altLang="en-US" sz="1800" dirty="0"/>
              <a:t>Page table with valid / invalid bit</a:t>
            </a:r>
            <a:endParaRPr lang="en-US" altLang="en-US" sz="1800" dirty="0"/>
          </a:p>
          <a:p>
            <a:pPr lvl="1"/>
            <a:r>
              <a:rPr lang="en-US" altLang="en-US" sz="1800" dirty="0"/>
              <a:t>Secondary memory (swap device with </a:t>
            </a:r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sz="1800" dirty="0"/>
              <a:t>)</a:t>
            </a:r>
            <a:endParaRPr lang="en-US" altLang="en-US" sz="1800" dirty="0"/>
          </a:p>
          <a:p>
            <a:pPr lvl="1"/>
            <a:r>
              <a:rPr lang="en-US" altLang="en-US" sz="1800" dirty="0"/>
              <a:t>Instruction restart</a:t>
            </a:r>
            <a:endParaRPr lang="en-US" altLang="en-US" sz="18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8" y="1399891"/>
            <a:ext cx="7432708" cy="4114800"/>
          </a:xfrm>
        </p:spPr>
        <p:txBody>
          <a:bodyPr/>
          <a:lstStyle/>
          <a:p>
            <a:r>
              <a:rPr lang="en-US" altLang="en-US" sz="2400" dirty="0"/>
              <a:t>Consider an instruction that could access several different locations</a:t>
            </a:r>
            <a:endParaRPr lang="en-US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Block move</a:t>
            </a:r>
            <a:br>
              <a:rPr lang="en-US" altLang="en-US" sz="2000" dirty="0">
                <a:sym typeface="Symbol" panose="05050102010706020507" pitchFamily="18" charset="2"/>
              </a:rPr>
            </a:br>
            <a:br>
              <a:rPr lang="en-US" altLang="en-US" sz="1200" dirty="0">
                <a:sym typeface="Symbol" panose="05050102010706020507" pitchFamily="18" charset="2"/>
              </a:rPr>
            </a:br>
            <a:br>
              <a:rPr lang="en-US" altLang="en-US" sz="1200" dirty="0">
                <a:sym typeface="Symbol" panose="05050102010706020507" pitchFamily="18" charset="2"/>
              </a:rPr>
            </a:br>
            <a:br>
              <a:rPr lang="en-US" altLang="en-US" sz="1200" dirty="0">
                <a:sym typeface="Symbol" panose="05050102010706020507" pitchFamily="18" charset="2"/>
              </a:rPr>
            </a:br>
            <a:br>
              <a:rPr lang="en-US" altLang="en-US" sz="1200" dirty="0">
                <a:sym typeface="Symbol" panose="05050102010706020507" pitchFamily="18" charset="2"/>
              </a:rPr>
            </a:br>
            <a:endParaRPr lang="en-US" altLang="en-US" sz="12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2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2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2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Auto increment/decrement location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Restart the whole operation?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2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What if source and destination overlap?</a:t>
            </a:r>
            <a:endParaRPr lang="en-US" altLang="en-US" sz="1800" dirty="0">
              <a:sym typeface="Symbol" panose="05050102010706020507" pitchFamily="18" charset="2"/>
            </a:endParaRPr>
          </a:p>
        </p:txBody>
      </p:sp>
      <p:pic>
        <p:nvPicPr>
          <p:cNvPr id="21508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2268538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  <a:endParaRPr lang="en-US" alt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sz="2000" dirty="0"/>
              <a:t>When a page fault occurs, the operating system must bring the desired page from secondary storage into main memory. </a:t>
            </a:r>
            <a:endParaRPr lang="en-US" altLang="en-US" sz="2000" dirty="0"/>
          </a:p>
          <a:p>
            <a:r>
              <a:rPr lang="en-US" altLang="en-US" sz="2000" dirty="0"/>
              <a:t>Most operating systems maintain a 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sz="2000" b="1" dirty="0">
                <a:solidFill>
                  <a:srgbClr val="0070C0"/>
                </a:solidFill>
              </a:rPr>
              <a:t> list</a:t>
            </a:r>
            <a:r>
              <a:rPr lang="en-US" altLang="en-US" sz="2000" dirty="0"/>
              <a:t> -- a pool of free frames for satisfying such requests.</a:t>
            </a: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r>
              <a:rPr lang="en-US" altLang="en-US" sz="2000" dirty="0"/>
              <a:t>Operating system typically allocate free frames using a technique known as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2000" dirty="0"/>
              <a:t> --  the content of the frames zeroed-out before being allocated.</a:t>
            </a:r>
            <a:endParaRPr lang="en-US" altLang="en-US" sz="2000" dirty="0"/>
          </a:p>
          <a:p>
            <a:r>
              <a:rPr lang="en-US" altLang="en-US" sz="2000" dirty="0"/>
              <a:t>When a system starts up, all available memory is placed on the free-frame list. </a:t>
            </a:r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22532" name="Picture 2" descr="B:\os-book\os10-dir\Slides-WORK-area\Figures-dir\ch10\JPG-dir\10_06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253" y="321279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sz="3000" dirty="0"/>
            </a:br>
            <a:r>
              <a:rPr lang="en-US" altLang="en-US" sz="3000" dirty="0"/>
              <a:t>Stages in Demand Paging – Worse Case</a:t>
            </a:r>
            <a:endParaRPr lang="en-US" altLang="en-US" sz="3000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400" dirty="0"/>
              <a:t>Trap to the operating system</a:t>
            </a:r>
            <a:endParaRPr lang="en-US" altLang="en-US" sz="2400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400" dirty="0"/>
              <a:t>Save the user registers and process state</a:t>
            </a:r>
            <a:endParaRPr lang="en-US" altLang="en-US" sz="2400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400" dirty="0"/>
              <a:t>Determine that the interrupt was a page fault</a:t>
            </a:r>
            <a:endParaRPr lang="en-US" altLang="en-US" sz="2400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400" dirty="0"/>
              <a:t>Check that the page reference was legal and determine the location of the page on the disk</a:t>
            </a:r>
            <a:endParaRPr lang="en-US" altLang="en-US" sz="2400" dirty="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2400" dirty="0"/>
              <a:t>Issue a read from the disk to a free frame:</a:t>
            </a:r>
            <a:endParaRPr lang="en-US" altLang="en-US" sz="2400" dirty="0"/>
          </a:p>
          <a:p>
            <a:pPr marL="800100" lvl="1" indent="-342900">
              <a:buFont typeface="+mj-lt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Wait in a queue for this device until the read request is serviced</a:t>
            </a:r>
            <a:endParaRPr lang="en-US" altLang="en-US" sz="2000" dirty="0"/>
          </a:p>
          <a:p>
            <a:pPr marL="798830" lvl="1" indent="-341630">
              <a:buFont typeface="Arial" panose="020B0604020202020204" pitchFamily="34" charset="0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Wait for the device seek and/or latency time</a:t>
            </a:r>
            <a:endParaRPr lang="en-US" altLang="en-US" sz="2000" dirty="0"/>
          </a:p>
          <a:p>
            <a:pPr marL="798830" lvl="1" indent="-341630">
              <a:buFont typeface="Arial" panose="020B0604020202020204" pitchFamily="34" charset="0"/>
              <a:buAutoNum type="alphaLcParenR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Begin the transfer of the page to a free frame</a:t>
            </a:r>
            <a:endParaRPr lang="en-US" altLang="en-US" sz="2000" dirty="0"/>
          </a:p>
          <a:p>
            <a:pPr>
              <a:tabLst>
                <a:tab pos="2163445" algn="l"/>
                <a:tab pos="2855595" algn="l"/>
              </a:tabLst>
            </a:pP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  <a:endParaRPr lang="en-US" altLang="en-US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While waiting, allocate the CPU to some other user</a:t>
            </a:r>
            <a:endParaRPr lang="en-US" altLang="en-US" sz="2000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Receive an interrupt from the disk I/O subsystem (I/O   completed)</a:t>
            </a:r>
            <a:endParaRPr lang="en-US" altLang="en-US" sz="2000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Save the registers and process state for the other user</a:t>
            </a:r>
            <a:endParaRPr lang="en-US" altLang="en-US" sz="2000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Determine that the interrupt was from the disk</a:t>
            </a:r>
            <a:endParaRPr lang="en-US" altLang="en-US" sz="2000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Correct the page table and other tables to show page is now in memory</a:t>
            </a:r>
            <a:endParaRPr lang="en-US" altLang="en-US" sz="2000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Wait for the CPU to be allocated to this process again</a:t>
            </a:r>
            <a:endParaRPr lang="en-US" altLang="en-US" sz="2000" dirty="0"/>
          </a:p>
          <a:p>
            <a:pPr>
              <a:buFont typeface="Monotype Sorts" pitchFamily="-84" charset="2"/>
              <a:buAutoNum type="arabicPeriod" startAt="6"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Restore the user registers, process state, and new page table, and then  </a:t>
            </a:r>
            <a:endParaRPr lang="en-US" altLang="en-US" sz="2000" dirty="0"/>
          </a:p>
          <a:p>
            <a:pPr marL="0" indent="0">
              <a:spcBef>
                <a:spcPts val="0"/>
              </a:spcBef>
              <a:buNone/>
              <a:tabLst>
                <a:tab pos="2163445" algn="l"/>
                <a:tab pos="2855595" algn="l"/>
              </a:tabLst>
            </a:pPr>
            <a:r>
              <a:rPr lang="en-US" altLang="en-US" sz="2000" dirty="0"/>
              <a:t>        resume the interrupted instruction</a:t>
            </a:r>
            <a:endParaRPr lang="en-US" altLang="en-US" sz="2000" dirty="0"/>
          </a:p>
          <a:p>
            <a:pPr>
              <a:tabLst>
                <a:tab pos="2163445" algn="l"/>
                <a:tab pos="2855595" algn="l"/>
              </a:tabLst>
            </a:pP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  <a:endParaRPr lang="en-US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086" y="1119188"/>
            <a:ext cx="7716416" cy="4646612"/>
          </a:xfrm>
        </p:spPr>
        <p:txBody>
          <a:bodyPr/>
          <a:lstStyle/>
          <a:p>
            <a:pPr>
              <a:tabLst>
                <a:tab pos="2163445" algn="l"/>
                <a:tab pos="2855595" algn="l"/>
              </a:tabLst>
            </a:pPr>
            <a:r>
              <a:rPr lang="en-US" altLang="en-US" sz="2400" dirty="0"/>
              <a:t>Three major activities</a:t>
            </a:r>
            <a:endParaRPr lang="en-US" altLang="en-US" sz="2400" dirty="0"/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/>
              <a:t>Service the interrupt – careful coding means just several hundred instructions needed</a:t>
            </a:r>
            <a:endParaRPr lang="en-US" altLang="en-US" sz="2000" dirty="0"/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/>
              <a:t>Read the page – lots of time</a:t>
            </a:r>
            <a:endParaRPr lang="en-US" altLang="en-US" sz="2000" dirty="0"/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/>
              <a:t>Restart the process – again just a small amount of time</a:t>
            </a:r>
            <a:endParaRPr lang="en-US" altLang="en-US" sz="2000" dirty="0"/>
          </a:p>
          <a:p>
            <a:pPr>
              <a:tabLst>
                <a:tab pos="2163445" algn="l"/>
                <a:tab pos="2855595" algn="l"/>
              </a:tabLst>
            </a:pPr>
            <a:r>
              <a:rPr lang="en-US" altLang="en-US" sz="2400" dirty="0"/>
              <a:t>Page Fault Rate 0 </a:t>
            </a:r>
            <a:r>
              <a:rPr lang="en-US" altLang="en-US" sz="2400" dirty="0">
                <a:sym typeface="Symbol" panose="05050102010706020507" pitchFamily="18" charset="2"/>
              </a:rPr>
              <a:t>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sym typeface="Symbol" panose="05050102010706020507" pitchFamily="18" charset="2"/>
              </a:rPr>
              <a:t>  1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 = 0 no page faults 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>
              <a:tabLst>
                <a:tab pos="2163445" algn="l"/>
                <a:tab pos="285559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if </a:t>
            </a:r>
            <a:r>
              <a:rPr lang="en-US" altLang="en-US" sz="2000" i="1" dirty="0"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ym typeface="Symbol" panose="05050102010706020507" pitchFamily="18" charset="2"/>
              </a:rPr>
              <a:t> = 1, every reference is a fault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>
              <a:tabLst>
                <a:tab pos="2163445" algn="l"/>
                <a:tab pos="285559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Effective Access Time (EAT)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sz="2400" dirty="0">
                <a:sym typeface="Symbol" panose="05050102010706020507" pitchFamily="18" charset="2"/>
              </a:rPr>
              <a:t>	      </a:t>
            </a:r>
            <a:r>
              <a:rPr lang="en-US" altLang="en-US" sz="2400" b="1" dirty="0">
                <a:sym typeface="Symbol" panose="05050102010706020507" pitchFamily="18" charset="2"/>
              </a:rPr>
              <a:t>EAT = (1 – </a:t>
            </a:r>
            <a:r>
              <a:rPr lang="en-US" altLang="en-US" sz="2400" b="1" i="1" dirty="0">
                <a:sym typeface="Symbol" panose="05050102010706020507" pitchFamily="18" charset="2"/>
              </a:rPr>
              <a:t>p</a:t>
            </a:r>
            <a:r>
              <a:rPr lang="en-US" altLang="en-US" sz="2400" b="1" dirty="0">
                <a:sym typeface="Symbol" panose="05050102010706020507" pitchFamily="18" charset="2"/>
              </a:rPr>
              <a:t>) x memory access</a:t>
            </a:r>
            <a:endParaRPr lang="en-US" altLang="en-US" sz="2400" b="1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  <a:tabLst>
                <a:tab pos="2163445" algn="l"/>
                <a:tab pos="2855595" algn="l"/>
              </a:tabLst>
            </a:pPr>
            <a:r>
              <a:rPr lang="en-US" altLang="en-US" sz="2400" b="1" dirty="0">
                <a:sym typeface="Symbol" panose="05050102010706020507" pitchFamily="18" charset="2"/>
              </a:rPr>
              <a:t>                       + </a:t>
            </a:r>
            <a:r>
              <a:rPr lang="en-US" altLang="en-US" sz="2400" b="1" i="1" dirty="0">
                <a:sym typeface="Symbol" panose="05050102010706020507" pitchFamily="18" charset="2"/>
              </a:rPr>
              <a:t>p</a:t>
            </a:r>
            <a:r>
              <a:rPr lang="en-US" altLang="en-US" sz="2400" b="1" dirty="0">
                <a:sym typeface="Symbol" panose="05050102010706020507" pitchFamily="18" charset="2"/>
              </a:rPr>
              <a:t> (page fault overhead + swap page 		out + swap page in )</a:t>
            </a:r>
            <a:r>
              <a:rPr lang="en-US" altLang="en-US" sz="2400" dirty="0">
                <a:sym typeface="Symbol" panose="05050102010706020507" pitchFamily="18" charset="2"/>
              </a:rPr>
              <a:t>	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  <a:endParaRPr lang="en-US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6" y="1068388"/>
            <a:ext cx="7669762" cy="4849812"/>
          </a:xfrm>
        </p:spPr>
        <p:txBody>
          <a:bodyPr/>
          <a:lstStyle/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/>
              <a:t>Memory access time = 200 nanoseconds</a:t>
            </a:r>
            <a:endParaRPr lang="en-US" altLang="en-US" sz="2000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/>
              <a:t>Average page-fault service time = 8 milliseconds</a:t>
            </a:r>
            <a:endParaRPr lang="en-US" altLang="en-US" sz="2000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/>
              <a:t>EAT = (1 – p) x 200 + p (8 milliseconds) 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/>
              <a:t>	        = (1 – p  x 200 + p x 8,000,000 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/>
              <a:t>              = 200 + p x 7,999,800</a:t>
            </a:r>
            <a:endParaRPr lang="en-US" altLang="en-US" sz="2000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/>
              <a:t>If one access out of 1,000 causes a page fault, then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/>
              <a:t>         EAT = 8.2 microseconds. 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1772920" algn="l"/>
                <a:tab pos="2277745" algn="l"/>
              </a:tabLst>
            </a:pPr>
            <a:r>
              <a:rPr lang="en-US" altLang="en-US" sz="2000" dirty="0"/>
              <a:t>      This is a slowdown by a factor of 40!!</a:t>
            </a:r>
            <a:endParaRPr lang="en-US" altLang="en-US" sz="2000" dirty="0"/>
          </a:p>
          <a:p>
            <a:pPr>
              <a:tabLst>
                <a:tab pos="1772920" algn="l"/>
                <a:tab pos="2277745" algn="l"/>
              </a:tabLst>
            </a:pPr>
            <a:r>
              <a:rPr lang="en-US" altLang="en-US" sz="2000" dirty="0"/>
              <a:t>If want performance degradation &lt; 10 percent</a:t>
            </a:r>
            <a:endParaRPr lang="en-US" altLang="en-US" sz="2000" dirty="0"/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sz="1800" dirty="0"/>
              <a:t>220 &gt; 200 + 7,999,800 x p</a:t>
            </a:r>
            <a:br>
              <a:rPr lang="en-US" altLang="en-US" sz="1800" dirty="0"/>
            </a:br>
            <a:r>
              <a:rPr lang="en-US" altLang="en-US" sz="1800" dirty="0"/>
              <a:t>20 &gt; 7,999,800 x p</a:t>
            </a:r>
            <a:endParaRPr lang="en-US" altLang="en-US" sz="1800" dirty="0"/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sz="1800" dirty="0"/>
              <a:t>p &lt; .0000025</a:t>
            </a:r>
            <a:endParaRPr lang="en-US" altLang="en-US" sz="1800" dirty="0"/>
          </a:p>
          <a:p>
            <a:pPr lvl="1">
              <a:tabLst>
                <a:tab pos="1772920" algn="l"/>
                <a:tab pos="2277745" algn="l"/>
              </a:tabLst>
            </a:pPr>
            <a:r>
              <a:rPr lang="en-US" altLang="en-US" sz="1800" dirty="0"/>
              <a:t>&lt; one page fault in every 400,000 memory accesses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  <a:endParaRPr lang="en-US" altLang="en-US" dirty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13030" y="1340485"/>
            <a:ext cx="8293735" cy="5232400"/>
          </a:xfrm>
        </p:spPr>
        <p:txBody>
          <a:bodyPr/>
          <a:lstStyle/>
          <a:p>
            <a:r>
              <a:rPr lang="en-US" altLang="en-US" sz="1600" dirty="0"/>
              <a:t>Swap space I/O faster than file system I/O even if on the same device</a:t>
            </a:r>
            <a:endParaRPr lang="en-US" altLang="en-US" sz="1600" dirty="0"/>
          </a:p>
          <a:p>
            <a:pPr lvl="1"/>
            <a:r>
              <a:rPr lang="en-US" altLang="en-US" sz="1600" dirty="0"/>
              <a:t>Swap allocated in larger chunks, less management needed than file system</a:t>
            </a:r>
            <a:endParaRPr lang="en-US" altLang="en-US" sz="1600" dirty="0"/>
          </a:p>
          <a:p>
            <a:r>
              <a:rPr lang="en-US" altLang="en-US" sz="1600" dirty="0"/>
              <a:t>Copy entire process image to swap space at process load time</a:t>
            </a:r>
            <a:endParaRPr lang="en-US" altLang="en-US" sz="1600" dirty="0"/>
          </a:p>
          <a:p>
            <a:pPr lvl="1"/>
            <a:r>
              <a:rPr lang="en-US" altLang="en-US" sz="1600" dirty="0"/>
              <a:t>Then page in and out of swap space</a:t>
            </a:r>
            <a:endParaRPr lang="en-US" altLang="en-US" sz="1600" dirty="0"/>
          </a:p>
          <a:p>
            <a:pPr lvl="1"/>
            <a:r>
              <a:rPr lang="en-US" altLang="en-US" sz="1600" dirty="0"/>
              <a:t>Used in older BSD Unix</a:t>
            </a:r>
            <a:endParaRPr lang="en-US" altLang="en-US" sz="1600" dirty="0"/>
          </a:p>
          <a:p>
            <a:r>
              <a:rPr lang="en-US" altLang="en-US" sz="1600" dirty="0"/>
              <a:t>Demand page in from program binary on disk, but discard rather than paging out when freeing frame</a:t>
            </a:r>
            <a:endParaRPr lang="en-US" altLang="en-US" sz="1600" dirty="0"/>
          </a:p>
          <a:p>
            <a:pPr lvl="1"/>
            <a:r>
              <a:rPr lang="en-US" altLang="en-US" sz="1600" dirty="0"/>
              <a:t>Used in Solaris and current BSD</a:t>
            </a:r>
            <a:endParaRPr lang="en-US" altLang="en-US" sz="1600" dirty="0"/>
          </a:p>
          <a:p>
            <a:pPr lvl="1"/>
            <a:r>
              <a:rPr lang="en-US" altLang="en-US" sz="1600" dirty="0"/>
              <a:t>Still need to write to swap space</a:t>
            </a:r>
            <a:endParaRPr lang="en-US" altLang="en-US" sz="1600" dirty="0"/>
          </a:p>
          <a:p>
            <a:pPr lvl="2"/>
            <a:r>
              <a:rPr lang="en-US" altLang="en-US" sz="1600" dirty="0"/>
              <a:t>Pages not associated with a file (like stack and heap) –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memory</a:t>
            </a:r>
            <a:endParaRPr lang="en-US" altLang="en-US" sz="1600" b="1" dirty="0">
              <a:solidFill>
                <a:srgbClr val="3366FF"/>
              </a:solidFill>
            </a:endParaRPr>
          </a:p>
          <a:p>
            <a:pPr lvl="2"/>
            <a:r>
              <a:rPr lang="en-US" altLang="en-US" sz="1600" dirty="0"/>
              <a:t>Pages modified in memory but not yet written back to the file system</a:t>
            </a:r>
            <a:endParaRPr lang="en-US" altLang="en-US" sz="1600" dirty="0"/>
          </a:p>
          <a:p>
            <a:r>
              <a:rPr lang="en-US" altLang="en-US" sz="1600" dirty="0"/>
              <a:t>Mobile systems</a:t>
            </a:r>
            <a:endParaRPr lang="en-US" altLang="en-US" sz="1600" dirty="0"/>
          </a:p>
          <a:p>
            <a:pPr lvl="1"/>
            <a:r>
              <a:rPr lang="en-US" altLang="en-US" sz="1600" dirty="0"/>
              <a:t>Typically don’t support swapping</a:t>
            </a:r>
            <a:endParaRPr lang="en-US" altLang="en-US" sz="1600" dirty="0"/>
          </a:p>
          <a:p>
            <a:pPr lvl="1"/>
            <a:r>
              <a:rPr lang="en-US" altLang="en-US" sz="1600" dirty="0"/>
              <a:t>Instead, demand page from file system and reclaim read-only pages (such as code)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35901" y="23738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Copy-on-Write</a:t>
            </a:r>
            <a:endParaRPr lang="en-US" altLang="en-US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6" y="1106488"/>
            <a:ext cx="7725745" cy="4530725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Copy-on-Write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(COW) allows both parent and child processes to initially </a:t>
            </a:r>
            <a:r>
              <a:rPr lang="en-US" altLang="en-US" sz="1600" b="1" i="1" dirty="0"/>
              <a:t>share</a:t>
            </a:r>
            <a:r>
              <a:rPr lang="en-US" altLang="en-US" sz="1600" dirty="0"/>
              <a:t> the same pages in memory</a:t>
            </a:r>
            <a:endParaRPr lang="en-US" altLang="en-US" sz="1600" dirty="0"/>
          </a:p>
          <a:p>
            <a:pPr lvl="1"/>
            <a:r>
              <a:rPr lang="en-US" altLang="en-US" sz="1600" dirty="0"/>
              <a:t>If either process modifies a shared page, only then is the page copied</a:t>
            </a:r>
            <a:endParaRPr lang="en-US" altLang="en-US" sz="1600" dirty="0"/>
          </a:p>
          <a:p>
            <a:r>
              <a:rPr lang="en-US" altLang="en-US" sz="1600" dirty="0"/>
              <a:t>COW allows more efficient process creation as only modified pages are copied</a:t>
            </a:r>
            <a:endParaRPr lang="en-US" altLang="en-US" sz="1600" dirty="0"/>
          </a:p>
          <a:p>
            <a:r>
              <a:rPr lang="en-US" altLang="en-US" sz="1600" dirty="0"/>
              <a:t>In general, free pages are allocated from a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pool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of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pages</a:t>
            </a:r>
            <a:endParaRPr lang="en-US" altLang="en-US" sz="1600" dirty="0"/>
          </a:p>
          <a:p>
            <a:pPr lvl="1"/>
            <a:r>
              <a:rPr lang="en-US" altLang="en-US" sz="1600" dirty="0"/>
              <a:t>Pool should always have free frames for fast demand page execution</a:t>
            </a:r>
            <a:endParaRPr lang="en-US" altLang="en-US" sz="1600" dirty="0"/>
          </a:p>
          <a:p>
            <a:pPr lvl="2"/>
            <a:r>
              <a:rPr lang="en-US" altLang="en-US" sz="1600" dirty="0"/>
              <a:t>Don’t want to have to free a frame as well as other processing on page fault</a:t>
            </a:r>
            <a:endParaRPr lang="en-US" altLang="en-US" sz="1600" dirty="0"/>
          </a:p>
          <a:p>
            <a:pPr lvl="1"/>
            <a:r>
              <a:rPr lang="en-US" altLang="en-US" sz="1600" dirty="0"/>
              <a:t>Why zero-out a page before allocating it?</a:t>
            </a:r>
            <a:endParaRPr lang="en-US" altLang="en-US" sz="1600" dirty="0"/>
          </a:p>
          <a:p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1600" dirty="0"/>
              <a:t> variation on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 dirty="0"/>
              <a:t>system call has parent suspend and child using copy-on-write address space of parent</a:t>
            </a:r>
            <a:endParaRPr lang="en-US" altLang="en-US" sz="1600" dirty="0"/>
          </a:p>
          <a:p>
            <a:pPr lvl="1"/>
            <a:r>
              <a:rPr lang="en-US" altLang="en-US" sz="1600" dirty="0"/>
              <a:t>Designed to have child call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en-US" sz="1600" dirty="0"/>
              <a:t>Very efficient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965" y="236344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Before Process 1 Modifies Page C</a:t>
            </a:r>
            <a:endParaRPr lang="en-US" altLang="en-US" dirty="0"/>
          </a:p>
        </p:txBody>
      </p:sp>
      <p:pic>
        <p:nvPicPr>
          <p:cNvPr id="2969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777030" y="231420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After Process 1 Modifies Page C</a:t>
            </a:r>
            <a:endParaRPr lang="en-US" altLang="en-US" dirty="0"/>
          </a:p>
        </p:txBody>
      </p:sp>
      <p:pic>
        <p:nvPicPr>
          <p:cNvPr id="30723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474" y="189511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What Happens if There is no Free Frame?</a:t>
            </a:r>
            <a:endParaRPr lang="en-US" altLang="en-US" sz="30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7" y="1133475"/>
            <a:ext cx="7679093" cy="4511675"/>
          </a:xfrm>
        </p:spPr>
        <p:txBody>
          <a:bodyPr/>
          <a:lstStyle/>
          <a:p>
            <a:r>
              <a:rPr lang="en-US" altLang="en-US" sz="2400" dirty="0"/>
              <a:t>Used up by process pages</a:t>
            </a:r>
            <a:endParaRPr lang="en-US" altLang="en-US" sz="2400" dirty="0"/>
          </a:p>
          <a:p>
            <a:r>
              <a:rPr lang="en-US" altLang="en-US" sz="2400" dirty="0"/>
              <a:t>Also in demand from the kernel, I/O buffers, </a:t>
            </a:r>
            <a:r>
              <a:rPr lang="en-US" altLang="en-US" sz="2400" dirty="0" err="1"/>
              <a:t>etc</a:t>
            </a:r>
            <a:endParaRPr lang="en-US" altLang="en-US" sz="2400" dirty="0"/>
          </a:p>
          <a:p>
            <a:r>
              <a:rPr lang="en-US" altLang="en-US" sz="2400" dirty="0"/>
              <a:t>How much to allocate to each?</a:t>
            </a:r>
            <a:endParaRPr lang="en-US" altLang="en-US" sz="2400" dirty="0"/>
          </a:p>
          <a:p>
            <a:r>
              <a:rPr lang="en-US" altLang="en-US" sz="2400" dirty="0"/>
              <a:t>Page replacement – find some page in memory, but not really in use, page it out</a:t>
            </a:r>
            <a:endParaRPr lang="en-US" altLang="en-US" sz="2400" dirty="0"/>
          </a:p>
          <a:p>
            <a:pPr lvl="1"/>
            <a:r>
              <a:rPr lang="en-US" altLang="en-US" sz="2000" dirty="0"/>
              <a:t>Algorithm – terminate? swap out? replace the page?</a:t>
            </a:r>
            <a:endParaRPr lang="en-US" altLang="en-US" sz="2000" dirty="0"/>
          </a:p>
          <a:p>
            <a:pPr lvl="1"/>
            <a:r>
              <a:rPr lang="en-US" altLang="en-US" sz="2000" dirty="0"/>
              <a:t>Performance – want an algorithm which will result in minimum number of page faults</a:t>
            </a:r>
            <a:endParaRPr lang="en-US" altLang="en-US" sz="2000" dirty="0"/>
          </a:p>
          <a:p>
            <a:r>
              <a:rPr lang="en-US" altLang="en-US" sz="2400" dirty="0"/>
              <a:t>Same page may be brought into memory several times</a:t>
            </a:r>
            <a:endParaRPr lang="en-US" altLang="en-US" sz="2400" dirty="0"/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1394" y="235568"/>
            <a:ext cx="77247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  <a:endParaRPr lang="en-US" altLang="en-US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1394" y="1190625"/>
            <a:ext cx="7724775" cy="4530725"/>
          </a:xfrm>
        </p:spPr>
        <p:txBody>
          <a:bodyPr/>
          <a:lstStyle/>
          <a:p>
            <a:r>
              <a:rPr lang="en-US" altLang="en-US" sz="2400" dirty="0"/>
              <a:t>Prevent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over-allocation</a:t>
            </a:r>
            <a:r>
              <a:rPr lang="en-US" altLang="en-US" sz="2400" dirty="0"/>
              <a:t> of memory by modifying page-fault service routine to include page replacement</a:t>
            </a:r>
            <a:endParaRPr lang="en-US" altLang="en-US" sz="2400" dirty="0"/>
          </a:p>
          <a:p>
            <a:r>
              <a:rPr lang="en-US" altLang="en-US" sz="2400" dirty="0"/>
              <a:t>Use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modify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dirty</a:t>
            </a:r>
            <a:r>
              <a:rPr lang="en-US" altLang="en-US" sz="2400" dirty="0"/>
              <a:t>)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bit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to reduce overhead of page transfers – only modified pages are written to disk</a:t>
            </a:r>
            <a:endParaRPr lang="en-US" altLang="en-US" sz="2400" dirty="0"/>
          </a:p>
          <a:p>
            <a:r>
              <a:rPr lang="en-US" altLang="en-US" sz="2400" dirty="0"/>
              <a:t>Page replacement completes separation between logical memory and physical memory – large virtual memory can be provided on a smaller physical memory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3775" y="235568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  <a:endParaRPr lang="en-US" altLang="en-US" dirty="0"/>
          </a:p>
        </p:txBody>
      </p:sp>
      <p:pic>
        <p:nvPicPr>
          <p:cNvPr id="33795" name="Picture 4" descr="B:\os-book\os10-dir\Slides-WORK-area\Figures-dir\ch10\JPG-dir\10_0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7950" y="1357313"/>
            <a:ext cx="6786563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6860" y="238161"/>
            <a:ext cx="7607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Basic Page Replacement</a:t>
            </a:r>
            <a:endParaRPr lang="en-US" altLang="en-US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122363"/>
            <a:ext cx="7607299" cy="4457700"/>
          </a:xfrm>
        </p:spPr>
        <p:txBody>
          <a:bodyPr/>
          <a:lstStyle/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/>
              <a:t>Find the location of the desired page on disk</a:t>
            </a:r>
            <a:endParaRPr lang="en-US" altLang="en-US" sz="2000" dirty="0"/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/>
              <a:t>Find a free frame:</a:t>
            </a:r>
            <a:br>
              <a:rPr lang="en-US" altLang="en-US" sz="2000" dirty="0"/>
            </a:br>
            <a:r>
              <a:rPr lang="en-US" altLang="en-US" sz="2000" dirty="0"/>
              <a:t>   -  If there is a free frame, use it</a:t>
            </a:r>
            <a:br>
              <a:rPr lang="en-US" altLang="en-US" sz="2000" dirty="0"/>
            </a:br>
            <a:r>
              <a:rPr lang="en-US" altLang="en-US" sz="2000" dirty="0"/>
              <a:t>   -  If there is no free frame, use a page replacement algorithm to select a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victim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frame</a:t>
            </a:r>
            <a:br>
              <a:rPr lang="en-US" altLang="en-US" sz="2000" b="1" dirty="0">
                <a:solidFill>
                  <a:srgbClr val="3366FF"/>
                </a:solidFill>
              </a:rPr>
            </a:br>
            <a:r>
              <a:rPr lang="en-US" altLang="en-US" sz="2000" b="1" dirty="0">
                <a:solidFill>
                  <a:srgbClr val="3366FF"/>
                </a:solidFill>
              </a:rPr>
              <a:t>   </a:t>
            </a:r>
            <a:r>
              <a:rPr lang="en-US" altLang="en-US" sz="2000" dirty="0"/>
              <a:t>-</a:t>
            </a:r>
            <a:r>
              <a:rPr lang="en-US" altLang="en-US" sz="2000" b="1" dirty="0"/>
              <a:t>  </a:t>
            </a:r>
            <a:r>
              <a:rPr lang="en-US" altLang="en-US" sz="2000" dirty="0"/>
              <a:t>Write victim frame to disk if dirty</a:t>
            </a:r>
            <a:endParaRPr lang="en-US" altLang="en-US" sz="2000" dirty="0"/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/>
              <a:t>Bring  the desired page into the (newly) free frame; update the page and frame tables</a:t>
            </a:r>
            <a:endParaRPr lang="en-US" altLang="en-US" sz="2000" dirty="0"/>
          </a:p>
          <a:p>
            <a:pPr marL="379730" indent="-379730">
              <a:buFont typeface="Monotype Sorts" pitchFamily="-84" charset="2"/>
              <a:buAutoNum type="arabicPeriod"/>
            </a:pPr>
            <a:r>
              <a:rPr lang="en-US" altLang="en-US" sz="2000" dirty="0"/>
              <a:t>Continue the process by restarting the instruction that caused the trap</a:t>
            </a:r>
            <a:endParaRPr lang="en-US" altLang="en-US" sz="2000" dirty="0"/>
          </a:p>
          <a:p>
            <a:pPr marL="379730" indent="-379730">
              <a:buFont typeface="Monotype Sorts" pitchFamily="-84" charset="2"/>
              <a:buNone/>
            </a:pPr>
            <a:r>
              <a:rPr lang="en-US" altLang="en-US" sz="2000" dirty="0"/>
              <a:t> </a:t>
            </a:r>
            <a:endParaRPr lang="en-US" altLang="en-US" sz="2000" dirty="0"/>
          </a:p>
          <a:p>
            <a:pPr marL="379730" indent="-379730">
              <a:buFont typeface="Monotype Sorts" pitchFamily="-84" charset="2"/>
              <a:buNone/>
            </a:pPr>
            <a:r>
              <a:rPr lang="en-US" altLang="en-US" sz="2000" dirty="0"/>
              <a:t>Note now potentially 2 page transfers for page fault – increasing EAT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82389" y="222868"/>
            <a:ext cx="7664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Replacement</a:t>
            </a:r>
            <a:endParaRPr lang="en-US" altLang="en-US" dirty="0"/>
          </a:p>
        </p:txBody>
      </p:sp>
      <p:pic>
        <p:nvPicPr>
          <p:cNvPr id="35843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23963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14945" y="175298"/>
            <a:ext cx="7861041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Page and Frame Replacement Algorithms</a:t>
            </a:r>
            <a:endParaRPr lang="en-US" altLang="en-US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94" y="1133475"/>
            <a:ext cx="7679094" cy="4899025"/>
          </a:xfrm>
        </p:spPr>
        <p:txBody>
          <a:bodyPr/>
          <a:lstStyle/>
          <a:p>
            <a:pPr>
              <a:tabLst>
                <a:tab pos="3144520" algn="ctr"/>
              </a:tabLst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Frame-allocation algorithm </a:t>
            </a:r>
            <a:r>
              <a:rPr lang="en-US" altLang="en-US" sz="2000" dirty="0"/>
              <a:t>determines </a:t>
            </a:r>
            <a:endParaRPr lang="en-US" altLang="en-US" sz="2000" dirty="0"/>
          </a:p>
          <a:p>
            <a:pPr lvl="1">
              <a:tabLst>
                <a:tab pos="3144520" algn="ctr"/>
              </a:tabLst>
            </a:pPr>
            <a:r>
              <a:rPr lang="en-US" altLang="en-US" sz="1800" dirty="0"/>
              <a:t>How many frames to give each process</a:t>
            </a:r>
            <a:endParaRPr lang="en-US" altLang="en-US" sz="1800" dirty="0"/>
          </a:p>
          <a:p>
            <a:pPr lvl="1">
              <a:tabLst>
                <a:tab pos="3144520" algn="ctr"/>
              </a:tabLst>
            </a:pPr>
            <a:r>
              <a:rPr lang="en-US" altLang="en-US" sz="1800" dirty="0"/>
              <a:t>Which frames to replace</a:t>
            </a:r>
            <a:endParaRPr lang="en-US" altLang="en-US" sz="1800" dirty="0"/>
          </a:p>
          <a:p>
            <a:pPr>
              <a:tabLst>
                <a:tab pos="3144520" algn="ctr"/>
              </a:tabLst>
            </a:pP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Page-replacement algorithm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 lvl="1">
              <a:tabLst>
                <a:tab pos="3144520" algn="ctr"/>
              </a:tabLst>
            </a:pPr>
            <a:r>
              <a:rPr lang="en-US" altLang="en-US" sz="1800" dirty="0"/>
              <a:t>Want lowest page-fault rate on both first access and re-access</a:t>
            </a:r>
            <a:endParaRPr lang="en-US" altLang="en-US" sz="1800" dirty="0"/>
          </a:p>
          <a:p>
            <a:pPr>
              <a:tabLst>
                <a:tab pos="3144520" algn="ctr"/>
              </a:tabLst>
            </a:pPr>
            <a:r>
              <a:rPr lang="en-US" altLang="en-US" sz="2000" dirty="0"/>
              <a:t>Evaluate algorithm by running it on a particular string of memory references (reference string) and computing the number of page faults on that string</a:t>
            </a:r>
            <a:endParaRPr lang="en-US" altLang="en-US" sz="2000" dirty="0"/>
          </a:p>
          <a:p>
            <a:pPr lvl="1">
              <a:tabLst>
                <a:tab pos="3144520" algn="ctr"/>
              </a:tabLst>
            </a:pPr>
            <a:r>
              <a:rPr lang="en-US" altLang="en-US" sz="1800" dirty="0"/>
              <a:t>String is just page numbers, not full addresses</a:t>
            </a:r>
            <a:endParaRPr lang="en-US" altLang="en-US" sz="1800" dirty="0"/>
          </a:p>
          <a:p>
            <a:pPr lvl="1">
              <a:tabLst>
                <a:tab pos="3144520" algn="ctr"/>
              </a:tabLst>
            </a:pPr>
            <a:r>
              <a:rPr lang="en-US" altLang="en-US" sz="1800" dirty="0"/>
              <a:t>Repeated access to the same page does not cause a page fault</a:t>
            </a:r>
            <a:endParaRPr lang="en-US" altLang="en-US" sz="1800" dirty="0"/>
          </a:p>
          <a:p>
            <a:pPr lvl="1">
              <a:tabLst>
                <a:tab pos="3144520" algn="ctr"/>
              </a:tabLst>
            </a:pPr>
            <a:r>
              <a:rPr lang="en-US" altLang="en-US" sz="1800" dirty="0"/>
              <a:t>Results depend on number of frames available</a:t>
            </a:r>
            <a:endParaRPr lang="en-US" altLang="en-US" sz="1800" dirty="0"/>
          </a:p>
          <a:p>
            <a:pPr>
              <a:tabLst>
                <a:tab pos="3144520" algn="ctr"/>
              </a:tabLst>
            </a:pPr>
            <a:r>
              <a:rPr lang="en-US" altLang="en-US" sz="2000" dirty="0"/>
              <a:t>In all our examples, the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reference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string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of referenced page numbers is 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3144520" algn="ctr"/>
              </a:tabLst>
            </a:pPr>
            <a:r>
              <a:rPr lang="en-US" altLang="en-US" sz="2000" dirty="0"/>
              <a:t>	               </a:t>
            </a:r>
            <a:r>
              <a:rPr lang="en-US" altLang="en-US" sz="200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804155" y="60152"/>
            <a:ext cx="8662696" cy="58998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Graph of Page Faults Versus the Number of Frames</a:t>
            </a:r>
            <a:endParaRPr lang="en-US" altLang="en-US" sz="2400" dirty="0"/>
          </a:p>
        </p:txBody>
      </p:sp>
      <p:pic>
        <p:nvPicPr>
          <p:cNvPr id="37891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238250"/>
            <a:ext cx="6045200" cy="355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894735" y="241529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/>
              <a:t>First-In-First-Out (FIFO) Algorithm</a:t>
            </a:r>
            <a:endParaRPr lang="en-US" alt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500" y="1124585"/>
            <a:ext cx="9080500" cy="5762625"/>
          </a:xfrm>
        </p:spPr>
        <p:txBody>
          <a:bodyPr/>
          <a:lstStyle/>
          <a:p>
            <a:r>
              <a:rPr lang="en-US" altLang="en-US" sz="2400" dirty="0"/>
              <a:t>Reference string: </a:t>
            </a:r>
            <a:r>
              <a:rPr lang="en-US" altLang="en-US" sz="2400" b="1" dirty="0">
                <a:solidFill>
                  <a:srgbClr val="FF0000"/>
                </a:solidFill>
              </a:rPr>
              <a:t>7,0,1,2,0,3,0,4,2,3,0,3,0,3,2,1,2,0,1,7,0,1</a:t>
            </a:r>
            <a:endParaRPr lang="en-US" altLang="en-US" sz="2400" dirty="0"/>
          </a:p>
          <a:p>
            <a:r>
              <a:rPr lang="en-US" altLang="en-US" sz="2400" dirty="0"/>
              <a:t>3 frames (3 pages can be in memory at a time per process)</a:t>
            </a:r>
            <a:endParaRPr lang="en-US" altLang="en-US" sz="2400" dirty="0"/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  <a:p>
            <a:pPr>
              <a:buFont typeface="Monotype Sorts" pitchFamily="-84" charset="2"/>
              <a:buNone/>
            </a:pPr>
            <a:endParaRPr lang="en-US" altLang="en-US" sz="2400" dirty="0"/>
          </a:p>
          <a:p>
            <a:pPr>
              <a:buFont typeface="Monotype Sorts" pitchFamily="-84" charset="2"/>
              <a:buNone/>
            </a:pPr>
            <a:br>
              <a:rPr lang="en-US" altLang="en-US" sz="2400" dirty="0"/>
            </a:br>
            <a:endParaRPr lang="en-US" altLang="en-US" sz="2400" dirty="0"/>
          </a:p>
          <a:p>
            <a:pPr>
              <a:buFont typeface="Monotype Sorts" pitchFamily="-84" charset="2"/>
              <a:buNone/>
            </a:pPr>
            <a:endParaRPr lang="en-US" altLang="en-US" sz="600" dirty="0"/>
          </a:p>
          <a:p>
            <a:pPr>
              <a:buFont typeface="Monotype Sorts" pitchFamily="-84" charset="2"/>
              <a:buNone/>
            </a:pPr>
            <a:endParaRPr lang="en-US" altLang="en-US" sz="600" dirty="0"/>
          </a:p>
          <a:p>
            <a:r>
              <a:rPr lang="en-US" altLang="en-US" sz="2400" dirty="0"/>
              <a:t>Can vary by reference string: consider 1,2,3,4,1,2,5,1,2,3,4,5</a:t>
            </a:r>
            <a:endParaRPr lang="en-US" altLang="en-US" sz="2400" dirty="0"/>
          </a:p>
          <a:p>
            <a:pPr lvl="1"/>
            <a:r>
              <a:rPr lang="en-US" altLang="en-US" sz="2000" dirty="0"/>
              <a:t>Adding more frames can cause more page faults!</a:t>
            </a:r>
            <a:endParaRPr lang="en-US" altLang="en-US" sz="2000" dirty="0"/>
          </a:p>
          <a:p>
            <a:pPr lvl="2"/>
            <a:r>
              <a:rPr lang="en-US" altLang="en-US" sz="1800" b="1" dirty="0">
                <a:solidFill>
                  <a:srgbClr val="006699"/>
                </a:solidFill>
                <a:latin typeface="+mj-lt"/>
              </a:rPr>
              <a:t>Belady</a:t>
            </a:r>
            <a:r>
              <a:rPr lang="ja-JP" altLang="en-US" sz="1800" b="1" dirty="0">
                <a:solidFill>
                  <a:srgbClr val="006699"/>
                </a:solidFill>
                <a:latin typeface="+mj-lt"/>
              </a:rPr>
              <a:t>’</a:t>
            </a:r>
            <a:r>
              <a:rPr lang="en-US" altLang="ja-JP" sz="1800" b="1" dirty="0">
                <a:solidFill>
                  <a:srgbClr val="006699"/>
                </a:solidFill>
                <a:latin typeface="+mj-lt"/>
              </a:rPr>
              <a:t>s Anomaly</a:t>
            </a:r>
            <a:endParaRPr lang="en-US" altLang="en-US" sz="18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400" dirty="0"/>
              <a:t>How to track ages of pages? </a:t>
            </a:r>
            <a:endParaRPr lang="en-US" altLang="en-US" sz="2400" dirty="0"/>
          </a:p>
          <a:p>
            <a:pPr lvl="1"/>
            <a:r>
              <a:rPr lang="en-US" altLang="en-US" sz="2000" dirty="0"/>
              <a:t>Just use a FIFO queue</a:t>
            </a:r>
            <a:endParaRPr lang="en-US" altLang="en-US" sz="2000" dirty="0"/>
          </a:p>
        </p:txBody>
      </p:sp>
      <p:sp>
        <p:nvSpPr>
          <p:cNvPr id="38916" name="Text Box 16"/>
          <p:cNvSpPr txBox="1">
            <a:spLocks noChangeArrowheads="1"/>
          </p:cNvSpPr>
          <p:nvPr/>
        </p:nvSpPr>
        <p:spPr bwMode="auto">
          <a:xfrm>
            <a:off x="1558925" y="3546475"/>
            <a:ext cx="1697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15 page faults</a:t>
            </a:r>
            <a:endParaRPr lang="en-US" altLang="en-US" dirty="0">
              <a:latin typeface="Helvetica" panose="020B0604020202020204" pitchFamily="34" charset="0"/>
            </a:endParaRPr>
          </a:p>
        </p:txBody>
      </p:sp>
      <p:pic>
        <p:nvPicPr>
          <p:cNvPr id="38917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05" y="2060575"/>
            <a:ext cx="8653145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37769" y="232975"/>
            <a:ext cx="77343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FIFO Illustrating Belady</a:t>
            </a:r>
            <a:r>
              <a:rPr lang="ja-JP" altLang="en-US" dirty="0"/>
              <a:t>’</a:t>
            </a:r>
            <a:r>
              <a:rPr lang="en-US" altLang="ja-JP" dirty="0"/>
              <a:t>s Anomaly</a:t>
            </a:r>
            <a:endParaRPr lang="en-US" altLang="en-US" dirty="0"/>
          </a:p>
        </p:txBody>
      </p:sp>
      <p:pic>
        <p:nvPicPr>
          <p:cNvPr id="39939" name="Picture 1" descr="9_13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538" y="1303338"/>
            <a:ext cx="5676900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31422"/>
            <a:ext cx="7937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Optimal Algorithm</a:t>
            </a:r>
            <a:endParaRPr lang="en-US" altLang="en-U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19505"/>
            <a:ext cx="9170670" cy="2052320"/>
          </a:xfrm>
        </p:spPr>
        <p:txBody>
          <a:bodyPr/>
          <a:lstStyle/>
          <a:p>
            <a:pPr>
              <a:tabLst>
                <a:tab pos="1889125" algn="l"/>
              </a:tabLst>
            </a:pPr>
            <a:r>
              <a:rPr lang="en-US" altLang="en-US" sz="2800" dirty="0"/>
              <a:t>Replace page that will not be used for longest period of time</a:t>
            </a:r>
            <a:endParaRPr lang="en-US" altLang="en-US" sz="2800" dirty="0"/>
          </a:p>
          <a:p>
            <a:pPr lvl="1">
              <a:tabLst>
                <a:tab pos="1889125" algn="l"/>
              </a:tabLst>
            </a:pPr>
            <a:r>
              <a:rPr lang="en-US" altLang="en-US" sz="2400" dirty="0"/>
              <a:t>9 is optimal for the example</a:t>
            </a:r>
            <a:endParaRPr lang="en-US" altLang="en-US" sz="2400" dirty="0"/>
          </a:p>
          <a:p>
            <a:pPr>
              <a:tabLst>
                <a:tab pos="1889125" algn="l"/>
              </a:tabLst>
            </a:pPr>
            <a:r>
              <a:rPr lang="en-US" altLang="en-US" sz="2800" dirty="0"/>
              <a:t>How do you know this?</a:t>
            </a:r>
            <a:endParaRPr lang="en-US" altLang="en-US" sz="2800" dirty="0"/>
          </a:p>
          <a:p>
            <a:pPr lvl="1">
              <a:tabLst>
                <a:tab pos="1889125" algn="l"/>
              </a:tabLst>
            </a:pPr>
            <a:r>
              <a:rPr lang="en-US" altLang="en-US" sz="2400" dirty="0"/>
              <a:t>Can</a:t>
            </a:r>
            <a:r>
              <a:rPr lang="ja-JP" altLang="en-US" sz="2400" dirty="0"/>
              <a:t>’</a:t>
            </a:r>
            <a:r>
              <a:rPr lang="en-US" altLang="ja-JP" sz="2400" dirty="0"/>
              <a:t>t read the future</a:t>
            </a:r>
            <a:endParaRPr lang="en-US" altLang="en-US" sz="2400" dirty="0"/>
          </a:p>
          <a:p>
            <a:pPr>
              <a:tabLst>
                <a:tab pos="1889125" algn="l"/>
              </a:tabLst>
            </a:pPr>
            <a:r>
              <a:rPr lang="en-US" altLang="en-US" sz="2800" dirty="0"/>
              <a:t>Used for measuring how well your algorithm performs</a:t>
            </a:r>
            <a:endParaRPr lang="en-US" altLang="en-US" sz="2800" dirty="0"/>
          </a:p>
        </p:txBody>
      </p:sp>
      <p:pic>
        <p:nvPicPr>
          <p:cNvPr id="4096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05" y="4220845"/>
            <a:ext cx="7913370" cy="2661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773" y="185249"/>
            <a:ext cx="7673975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Least Recently Used (LRU) Algorithm</a:t>
            </a:r>
            <a:endParaRPr lang="en-US" altLang="en-US" sz="2800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635" y="1261110"/>
            <a:ext cx="8629650" cy="4835525"/>
          </a:xfrm>
        </p:spPr>
        <p:txBody>
          <a:bodyPr/>
          <a:lstStyle/>
          <a:p>
            <a:pPr>
              <a:defRPr/>
            </a:pPr>
            <a:r>
              <a:rPr lang="en-US" altLang="en-US" sz="2000" dirty="0"/>
              <a:t>Use past knowledge rather than future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Replace page that has not been used in the most amount of time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Associate time of last use with each page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>
              <a:defRPr/>
            </a:pPr>
            <a:endParaRPr lang="en-US" altLang="en-US" sz="2000" dirty="0"/>
          </a:p>
          <a:p>
            <a:pPr>
              <a:defRPr/>
            </a:pPr>
            <a:endParaRPr lang="en-US" altLang="en-US" sz="2000" dirty="0"/>
          </a:p>
          <a:p>
            <a:pPr marL="0" indent="0">
              <a:buFont typeface="Monotype Sorts" pitchFamily="-84" charset="2"/>
              <a:buNone/>
              <a:defRPr/>
            </a:pPr>
            <a:endParaRPr lang="en-US" altLang="en-US" sz="2000" dirty="0"/>
          </a:p>
          <a:p>
            <a:pPr>
              <a:defRPr/>
            </a:pP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12 faults – better than FIFO but worse than OPT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Generally good algorithm and frequently used</a:t>
            </a:r>
            <a:endParaRPr lang="en-US" altLang="en-US" sz="2000" dirty="0"/>
          </a:p>
          <a:p>
            <a:pPr>
              <a:defRPr/>
            </a:pPr>
            <a:r>
              <a:rPr lang="en-US" altLang="en-US" sz="2000" dirty="0"/>
              <a:t>But how to implement?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defRPr/>
            </a:pPr>
            <a:endParaRPr lang="en-US" altLang="en-US" sz="2000" dirty="0"/>
          </a:p>
        </p:txBody>
      </p:sp>
      <p:pic>
        <p:nvPicPr>
          <p:cNvPr id="41988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" y="2637155"/>
            <a:ext cx="8474710" cy="2312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696" y="1196658"/>
            <a:ext cx="7728177" cy="5246687"/>
          </a:xfrm>
        </p:spPr>
        <p:txBody>
          <a:bodyPr/>
          <a:lstStyle/>
          <a:p>
            <a:r>
              <a:rPr lang="en-US" altLang="en-US" sz="2400" dirty="0"/>
              <a:t>Counter implementation</a:t>
            </a:r>
            <a:endParaRPr lang="en-US" altLang="en-US" sz="2400" dirty="0"/>
          </a:p>
          <a:p>
            <a:pPr lvl="1"/>
            <a:r>
              <a:rPr lang="en-US" altLang="en-US" sz="2000" dirty="0"/>
              <a:t>Every page entry has a counter; every time page is referenced through this entry, copy the clock into the counter</a:t>
            </a:r>
            <a:endParaRPr lang="en-US" altLang="en-US" sz="2000" dirty="0"/>
          </a:p>
          <a:p>
            <a:pPr lvl="1"/>
            <a:r>
              <a:rPr lang="en-US" altLang="en-US" sz="2000" dirty="0"/>
              <a:t>When a page needs to be changed, look at the counters to find smallest value</a:t>
            </a:r>
            <a:endParaRPr lang="en-US" altLang="en-US" sz="2000" dirty="0"/>
          </a:p>
          <a:p>
            <a:pPr lvl="2"/>
            <a:r>
              <a:rPr lang="en-US" altLang="en-US" sz="1800" dirty="0"/>
              <a:t>Search through table needed</a:t>
            </a:r>
            <a:endParaRPr lang="en-US" altLang="en-US" sz="1800" dirty="0"/>
          </a:p>
          <a:p>
            <a:r>
              <a:rPr lang="en-US" altLang="en-US" sz="2400" dirty="0"/>
              <a:t>Stack implementation</a:t>
            </a:r>
            <a:endParaRPr lang="en-US" altLang="en-US" sz="2400" dirty="0"/>
          </a:p>
          <a:p>
            <a:pPr lvl="1"/>
            <a:r>
              <a:rPr lang="en-US" altLang="en-US" sz="2000" dirty="0"/>
              <a:t>Keep a stack of page numbers in a double link form:</a:t>
            </a:r>
            <a:endParaRPr lang="en-US" altLang="en-US" sz="2000" dirty="0"/>
          </a:p>
          <a:p>
            <a:pPr lvl="1"/>
            <a:r>
              <a:rPr lang="en-US" altLang="en-US" sz="2000" dirty="0"/>
              <a:t>Page referenced:</a:t>
            </a:r>
            <a:endParaRPr lang="en-US" altLang="en-US" sz="2000" dirty="0"/>
          </a:p>
          <a:p>
            <a:pPr lvl="2"/>
            <a:r>
              <a:rPr lang="en-US" altLang="en-US" sz="1800" dirty="0"/>
              <a:t>move it to the top</a:t>
            </a:r>
            <a:endParaRPr lang="en-US" altLang="en-US" sz="1800" dirty="0"/>
          </a:p>
          <a:p>
            <a:pPr lvl="2"/>
            <a:r>
              <a:rPr lang="en-US" altLang="en-US" sz="1800" dirty="0"/>
              <a:t>requires 6 pointers to be changed</a:t>
            </a:r>
            <a:endParaRPr lang="en-US" altLang="en-US" sz="1800" dirty="0"/>
          </a:p>
          <a:p>
            <a:pPr lvl="1"/>
            <a:r>
              <a:rPr lang="en-US" altLang="en-US" sz="2000" dirty="0"/>
              <a:t>But each update more expensive</a:t>
            </a:r>
            <a:endParaRPr lang="en-US" altLang="en-US" sz="2000" dirty="0"/>
          </a:p>
          <a:p>
            <a:pPr lvl="1"/>
            <a:r>
              <a:rPr lang="en-US" altLang="en-US" sz="2000" dirty="0"/>
              <a:t>No search for replacement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Algorithm (Cont.)</a:t>
            </a:r>
            <a:endParaRPr lang="en-US" alt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796" y="1340803"/>
            <a:ext cx="7728177" cy="5246687"/>
          </a:xfrm>
        </p:spPr>
        <p:txBody>
          <a:bodyPr/>
          <a:lstStyle/>
          <a:p>
            <a:r>
              <a:rPr lang="en-US" altLang="en-US" sz="2400" dirty="0"/>
              <a:t>LRU and OPT are cases of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stack algorithms </a:t>
            </a:r>
            <a:r>
              <a:rPr lang="en-US" altLang="en-US" sz="2400" dirty="0"/>
              <a:t>that don</a:t>
            </a:r>
            <a:r>
              <a:rPr lang="ja-JP" altLang="en-US" sz="2400" dirty="0"/>
              <a:t>’</a:t>
            </a:r>
            <a:r>
              <a:rPr lang="en-US" altLang="ja-JP" sz="2400" dirty="0"/>
              <a:t>t have Belady</a:t>
            </a:r>
            <a:r>
              <a:rPr lang="ja-JP" altLang="en-US" sz="2400" dirty="0"/>
              <a:t>’</a:t>
            </a:r>
            <a:r>
              <a:rPr lang="en-US" altLang="ja-JP" sz="2400" dirty="0"/>
              <a:t>s Anomaly</a:t>
            </a:r>
            <a:endParaRPr lang="en-US" altLang="ja-JP" sz="2400" dirty="0"/>
          </a:p>
          <a:p>
            <a:r>
              <a:rPr lang="en-US" altLang="en-US" sz="2400" dirty="0"/>
              <a:t>Use Of A Stack to Record Most Recent Page References</a:t>
            </a:r>
            <a:endParaRPr lang="en-US" sz="2400" dirty="0"/>
          </a:p>
          <a:p>
            <a:endParaRPr lang="en-US" altLang="en-US" sz="2400" dirty="0"/>
          </a:p>
        </p:txBody>
      </p:sp>
      <p:pic>
        <p:nvPicPr>
          <p:cNvPr id="4" name="Picture 1" descr="9_1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903" y="3139190"/>
            <a:ext cx="4702175" cy="367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839754" y="23479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LRU Approximation Algorithms</a:t>
            </a:r>
            <a:endParaRPr lang="en-US" altLang="en-US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dirty="0"/>
              <a:t>LRU needs special hardware and still slow</a:t>
            </a:r>
            <a:endParaRPr lang="en-US" altLang="en-US" dirty="0"/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Reference bit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With each page associate a bit, initially = 0</a:t>
            </a:r>
            <a:endParaRPr lang="en-US" altLang="en-US" dirty="0"/>
          </a:p>
          <a:p>
            <a:pPr lvl="1"/>
            <a:r>
              <a:rPr lang="en-US" altLang="en-US" dirty="0"/>
              <a:t>When page is referenced bit set to 1</a:t>
            </a:r>
            <a:endParaRPr lang="en-US" altLang="en-US" dirty="0"/>
          </a:p>
          <a:p>
            <a:pPr lvl="1"/>
            <a:r>
              <a:rPr lang="en-US" altLang="en-US" dirty="0"/>
              <a:t>Replace any with reference bit = 0 (if one exists)</a:t>
            </a:r>
            <a:endParaRPr lang="en-US" altLang="en-US" dirty="0"/>
          </a:p>
          <a:p>
            <a:pPr lvl="2"/>
            <a:r>
              <a:rPr lang="en-US" altLang="en-US" dirty="0"/>
              <a:t>We do not know the order, however</a:t>
            </a:r>
            <a:endParaRPr lang="en-US" altLang="en-US" sz="8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36801" y="179021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LRU Approximation Algorithms (cont.)</a:t>
            </a:r>
            <a:endParaRPr lang="en-US" altLang="en-US" sz="2800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9755" y="1159949"/>
            <a:ext cx="7664484" cy="5146675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Second-chance algorithm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dirty="0"/>
              <a:t>Generally FIFO, plus hardware-provided reference bit</a:t>
            </a:r>
            <a:endParaRPr lang="en-US" altLang="en-US" dirty="0"/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Clock </a:t>
            </a:r>
            <a:r>
              <a:rPr lang="en-US" altLang="en-US" dirty="0"/>
              <a:t>replacement</a:t>
            </a:r>
            <a:endParaRPr lang="en-US" altLang="en-US" dirty="0"/>
          </a:p>
          <a:p>
            <a:pPr lvl="1"/>
            <a:r>
              <a:rPr lang="en-US" altLang="en-US" dirty="0"/>
              <a:t>If page to be replaced has </a:t>
            </a:r>
            <a:endParaRPr lang="en-US" altLang="en-US" dirty="0"/>
          </a:p>
          <a:p>
            <a:pPr lvl="2"/>
            <a:r>
              <a:rPr lang="en-US" altLang="en-US" dirty="0"/>
              <a:t>Reference bit = 0 -&gt; replace it</a:t>
            </a:r>
            <a:endParaRPr lang="en-US" altLang="en-US" dirty="0"/>
          </a:p>
          <a:p>
            <a:pPr lvl="2"/>
            <a:r>
              <a:rPr lang="en-US" altLang="en-US" dirty="0"/>
              <a:t>reference bit = 1 then:</a:t>
            </a:r>
            <a:endParaRPr lang="en-US" altLang="en-US" dirty="0"/>
          </a:p>
          <a:p>
            <a:pPr lvl="3"/>
            <a:r>
              <a:rPr lang="en-US" altLang="en-US" dirty="0"/>
              <a:t>set reference bit 0, leave page in memory</a:t>
            </a:r>
            <a:endParaRPr lang="en-US" altLang="en-US" dirty="0"/>
          </a:p>
          <a:p>
            <a:pPr lvl="3"/>
            <a:r>
              <a:rPr lang="en-US" altLang="en-US" dirty="0"/>
              <a:t>replace next page, subject to same rules</a:t>
            </a:r>
            <a:endParaRPr lang="en-US" altLang="en-US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97892" y="290747"/>
            <a:ext cx="8010525" cy="463550"/>
          </a:xfrm>
        </p:spPr>
        <p:txBody>
          <a:bodyPr/>
          <a:lstStyle/>
          <a:p>
            <a:pPr eaLnBrk="1" hangingPunct="1"/>
            <a:br>
              <a:rPr lang="en-US" altLang="en-US" sz="2800" dirty="0"/>
            </a:br>
            <a:r>
              <a:rPr lang="en-US" altLang="en-US" dirty="0"/>
              <a:t>Second-chance Algorithm</a:t>
            </a:r>
            <a:endParaRPr lang="en-US" altLang="en-US" dirty="0"/>
          </a:p>
        </p:txBody>
      </p:sp>
      <p:pic>
        <p:nvPicPr>
          <p:cNvPr id="46083" name="Picture 1" descr="9_17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95" y="1196975"/>
            <a:ext cx="5556885" cy="5608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157926" y="24075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Enhanced Second-Chance Algorithm</a:t>
            </a:r>
            <a:endParaRPr lang="en-US" alt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150" y="1250315"/>
            <a:ext cx="8420735" cy="4968240"/>
          </a:xfrm>
        </p:spPr>
        <p:txBody>
          <a:bodyPr/>
          <a:lstStyle/>
          <a:p>
            <a:r>
              <a:rPr lang="en-US" altLang="en-US" sz="2400" dirty="0"/>
              <a:t>Improve algorithm by using reference bit and modify bit (if available) in concert</a:t>
            </a:r>
            <a:endParaRPr lang="en-US" altLang="en-US" sz="2400" dirty="0"/>
          </a:p>
          <a:p>
            <a:r>
              <a:rPr lang="en-US" altLang="en-US" sz="2400" dirty="0"/>
              <a:t>Take ordered pair (reference, modify):</a:t>
            </a:r>
            <a:endParaRPr lang="en-US" altLang="en-US" sz="2400" dirty="0"/>
          </a:p>
          <a:p>
            <a:pPr lvl="1"/>
            <a:r>
              <a:rPr lang="en-US" altLang="en-US" sz="2000" dirty="0"/>
              <a:t>(0, 0) neither recently used not modified – best page to replace</a:t>
            </a:r>
            <a:endParaRPr lang="en-US" altLang="en-US" sz="2000" dirty="0"/>
          </a:p>
          <a:p>
            <a:pPr lvl="1"/>
            <a:r>
              <a:rPr lang="en-US" altLang="en-US" sz="2000" dirty="0"/>
              <a:t>(0, 1) not recently used but modified – not quite as good, must write out before replacement</a:t>
            </a:r>
            <a:endParaRPr lang="en-US" altLang="en-US" sz="2000" dirty="0"/>
          </a:p>
          <a:p>
            <a:pPr lvl="1"/>
            <a:r>
              <a:rPr lang="en-US" altLang="en-US" sz="2000" dirty="0"/>
              <a:t>(1, 0) recently used but clean – probably will be used again soon</a:t>
            </a:r>
            <a:endParaRPr lang="en-US" altLang="en-US" sz="2000" dirty="0"/>
          </a:p>
          <a:p>
            <a:pPr lvl="1"/>
            <a:r>
              <a:rPr lang="en-US" altLang="en-US" sz="2000" dirty="0"/>
              <a:t>(1, 1) recently used and modified – probably will be used again soon and need to write out before replacement</a:t>
            </a:r>
            <a:endParaRPr lang="en-US" altLang="en-US" sz="2000" dirty="0"/>
          </a:p>
          <a:p>
            <a:r>
              <a:rPr lang="en-US" altLang="en-US" sz="2400" dirty="0"/>
              <a:t>When page replacement called for, use the clock scheme  but use the four classes replace page in lowest non-empty class</a:t>
            </a:r>
            <a:endParaRPr lang="en-US" altLang="en-US" sz="2400" dirty="0"/>
          </a:p>
          <a:p>
            <a:pPr lvl="1"/>
            <a:r>
              <a:rPr lang="en-US" altLang="en-US" sz="2000" dirty="0"/>
              <a:t>Might need to search circular queue several times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816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Counting Algorithms</a:t>
            </a:r>
            <a:endParaRPr lang="en-US" altLang="en-U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765" y="1230630"/>
            <a:ext cx="8144510" cy="4556760"/>
          </a:xfrm>
        </p:spPr>
        <p:txBody>
          <a:bodyPr/>
          <a:lstStyle/>
          <a:p>
            <a:r>
              <a:rPr lang="en-US" altLang="en-US" sz="2800" dirty="0"/>
              <a:t>Keep a counter of the number of references that have been made to each page</a:t>
            </a:r>
            <a:endParaRPr lang="en-US" altLang="en-US" sz="2800" dirty="0"/>
          </a:p>
          <a:p>
            <a:pPr lvl="1"/>
            <a:r>
              <a:rPr lang="en-US" altLang="en-US" sz="2400" dirty="0"/>
              <a:t>Not common</a:t>
            </a:r>
            <a:endParaRPr lang="en-US" altLang="en-US" sz="2400" dirty="0"/>
          </a:p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Least Frequently Used </a:t>
            </a:r>
            <a:r>
              <a:rPr lang="en-US" altLang="en-US" sz="2800" dirty="0"/>
              <a:t>(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LFU</a:t>
            </a:r>
            <a:r>
              <a:rPr lang="en-US" altLang="en-US" sz="2800" dirty="0"/>
              <a:t>)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sz="2800" dirty="0"/>
              <a:t>:</a:t>
            </a:r>
            <a:endParaRPr lang="en-US" altLang="en-US" sz="2800" dirty="0"/>
          </a:p>
          <a:p>
            <a:pPr lvl="1"/>
            <a:r>
              <a:rPr lang="en-US" altLang="en-US" sz="2400" dirty="0"/>
              <a:t>  Replaces page with smallest count</a:t>
            </a:r>
            <a:endParaRPr lang="en-US" altLang="en-US" sz="2400" dirty="0"/>
          </a:p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Most Frequently Used </a:t>
            </a:r>
            <a:r>
              <a:rPr lang="en-US" altLang="en-US" sz="2800" dirty="0"/>
              <a:t>(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MFU</a:t>
            </a:r>
            <a:r>
              <a:rPr lang="en-US" altLang="en-US" sz="2800" dirty="0"/>
              <a:t>)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Algorithm</a:t>
            </a:r>
            <a:r>
              <a:rPr lang="en-US" altLang="en-US" sz="2800" dirty="0"/>
              <a:t>: </a:t>
            </a:r>
            <a:endParaRPr lang="en-US" altLang="en-US" sz="2800" dirty="0"/>
          </a:p>
          <a:p>
            <a:pPr lvl="1"/>
            <a:r>
              <a:rPr lang="en-US" altLang="en-US" sz="2400" dirty="0"/>
              <a:t>Based on the argument that the page with the smallest count was probably just brought in and has yet to be used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Page-Buffering Algorithms</a:t>
            </a:r>
            <a:endParaRPr lang="en-US" altLang="en-US" dirty="0"/>
          </a:p>
        </p:txBody>
      </p:sp>
      <p:sp>
        <p:nvSpPr>
          <p:cNvPr id="49155" name="Content Placeholder 2"/>
          <p:cNvSpPr>
            <a:spLocks noGrp="1"/>
          </p:cNvSpPr>
          <p:nvPr>
            <p:ph idx="1"/>
          </p:nvPr>
        </p:nvSpPr>
        <p:spPr>
          <a:xfrm>
            <a:off x="107011" y="1197205"/>
            <a:ext cx="7665519" cy="5078412"/>
          </a:xfrm>
        </p:spPr>
        <p:txBody>
          <a:bodyPr/>
          <a:lstStyle/>
          <a:p>
            <a:r>
              <a:rPr lang="en-US" altLang="en-US" sz="2400" dirty="0"/>
              <a:t>Keep a pool of free frames, always</a:t>
            </a:r>
            <a:endParaRPr lang="en-US" altLang="en-US" sz="2400" dirty="0"/>
          </a:p>
          <a:p>
            <a:pPr lvl="1"/>
            <a:r>
              <a:rPr lang="en-US" altLang="en-US" sz="2000" dirty="0"/>
              <a:t>Then frame available when needed, not found at fault time</a:t>
            </a:r>
            <a:endParaRPr lang="en-US" altLang="en-US" sz="2000" dirty="0"/>
          </a:p>
          <a:p>
            <a:pPr lvl="1"/>
            <a:r>
              <a:rPr lang="en-US" altLang="en-US" sz="2000" dirty="0"/>
              <a:t>Read page into free frame and select victim to evict and add to free pool</a:t>
            </a:r>
            <a:endParaRPr lang="en-US" altLang="en-US" sz="2000" dirty="0"/>
          </a:p>
          <a:p>
            <a:pPr lvl="1"/>
            <a:r>
              <a:rPr lang="en-US" altLang="en-US" sz="2000" dirty="0"/>
              <a:t>When convenient, evict victim</a:t>
            </a:r>
            <a:endParaRPr lang="en-US" altLang="en-US" sz="2000" dirty="0"/>
          </a:p>
          <a:p>
            <a:r>
              <a:rPr lang="en-US" altLang="en-US" sz="2400" dirty="0"/>
              <a:t>Possibly, keep list of modified pages</a:t>
            </a:r>
            <a:endParaRPr lang="en-US" altLang="en-US" sz="2400" dirty="0"/>
          </a:p>
          <a:p>
            <a:pPr lvl="1"/>
            <a:r>
              <a:rPr lang="en-US" altLang="en-US" sz="2000" dirty="0"/>
              <a:t>When backing store otherwise idle, write pages there and set to non-dirty</a:t>
            </a:r>
            <a:endParaRPr lang="en-US" altLang="en-US" sz="2000" dirty="0"/>
          </a:p>
          <a:p>
            <a:r>
              <a:rPr lang="en-US" altLang="en-US" sz="2400" dirty="0"/>
              <a:t>Possibly, keep free frame contents intact and note what is in them</a:t>
            </a:r>
            <a:endParaRPr lang="en-US" altLang="en-US" sz="2400" dirty="0"/>
          </a:p>
          <a:p>
            <a:pPr lvl="1"/>
            <a:r>
              <a:rPr lang="en-US" altLang="en-US" sz="2000" dirty="0"/>
              <a:t>If referenced again before reused, no need to load contents again from disk</a:t>
            </a:r>
            <a:endParaRPr lang="en-US" altLang="en-US" sz="2000" dirty="0"/>
          </a:p>
          <a:p>
            <a:pPr lvl="1"/>
            <a:r>
              <a:rPr lang="en-US" altLang="en-US" sz="2000" dirty="0"/>
              <a:t>Generally useful to reduce penalty if wrong victim frame selected  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831850" y="231422"/>
            <a:ext cx="7867650" cy="576262"/>
          </a:xfrm>
        </p:spPr>
        <p:txBody>
          <a:bodyPr/>
          <a:lstStyle/>
          <a:p>
            <a:r>
              <a:rPr lang="en-US" altLang="en-US" dirty="0"/>
              <a:t>Applications and Page Replacement</a:t>
            </a:r>
            <a:endParaRPr lang="en-US" altLang="en-US" dirty="0"/>
          </a:p>
        </p:txBody>
      </p:sp>
      <p:sp>
        <p:nvSpPr>
          <p:cNvPr id="50179" name="Content Placeholder 2"/>
          <p:cNvSpPr>
            <a:spLocks noGrp="1"/>
          </p:cNvSpPr>
          <p:nvPr>
            <p:ph idx="1"/>
          </p:nvPr>
        </p:nvSpPr>
        <p:spPr>
          <a:xfrm>
            <a:off x="859843" y="1131888"/>
            <a:ext cx="7612353" cy="4530725"/>
          </a:xfrm>
        </p:spPr>
        <p:txBody>
          <a:bodyPr/>
          <a:lstStyle/>
          <a:p>
            <a:r>
              <a:rPr lang="en-US" altLang="en-US" sz="2400" dirty="0"/>
              <a:t>All of these algorithms have OS guessing about future page access</a:t>
            </a:r>
            <a:endParaRPr lang="en-US" altLang="en-US" sz="2400" dirty="0"/>
          </a:p>
          <a:p>
            <a:r>
              <a:rPr lang="en-US" altLang="en-US" sz="2400" dirty="0"/>
              <a:t>Some applications have better knowledge – i.e. databases</a:t>
            </a:r>
            <a:endParaRPr lang="en-US" altLang="en-US" sz="2400" dirty="0"/>
          </a:p>
          <a:p>
            <a:r>
              <a:rPr lang="en-US" altLang="en-US" sz="2400" dirty="0"/>
              <a:t>Memory intensive applications can cause double buffering</a:t>
            </a:r>
            <a:endParaRPr lang="en-US" altLang="en-US" sz="2400" dirty="0"/>
          </a:p>
          <a:p>
            <a:pPr lvl="1"/>
            <a:r>
              <a:rPr lang="en-US" altLang="en-US" sz="2000" dirty="0"/>
              <a:t>OS keeps copy of page in memory as I/O buffer</a:t>
            </a:r>
            <a:endParaRPr lang="en-US" altLang="en-US" sz="2000" dirty="0"/>
          </a:p>
          <a:p>
            <a:pPr lvl="1"/>
            <a:r>
              <a:rPr lang="en-US" altLang="en-US" sz="2000" dirty="0"/>
              <a:t>Application keeps page in memory for its own work</a:t>
            </a:r>
            <a:endParaRPr lang="en-US" altLang="en-US" sz="2000" dirty="0"/>
          </a:p>
          <a:p>
            <a:r>
              <a:rPr lang="en-US" altLang="en-US" sz="2400" dirty="0"/>
              <a:t>Operating system can given direct access to the disk, getting out of the way of the applications</a:t>
            </a:r>
            <a:endParaRPr lang="en-US" altLang="en-US" sz="2400" dirty="0"/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Raw</a:t>
            </a:r>
            <a:r>
              <a:rPr lang="en-US" altLang="en-US" sz="2000" b="1" dirty="0"/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disk</a:t>
            </a:r>
            <a:r>
              <a:rPr lang="en-US" altLang="en-US" sz="2000" b="1" dirty="0"/>
              <a:t> </a:t>
            </a:r>
            <a:r>
              <a:rPr lang="en-US" altLang="en-US" sz="2000" dirty="0"/>
              <a:t>mode</a:t>
            </a:r>
            <a:endParaRPr lang="en-US" altLang="en-US" sz="2000" dirty="0"/>
          </a:p>
          <a:p>
            <a:r>
              <a:rPr lang="en-US" altLang="en-US" sz="2400" dirty="0"/>
              <a:t>Bypasses buffering, locking, etc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238158"/>
            <a:ext cx="7878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Allocation of Frames</a:t>
            </a:r>
            <a:endParaRPr lang="en-US" altLang="en-US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" y="1120775"/>
            <a:ext cx="8599170" cy="4483100"/>
          </a:xfrm>
        </p:spPr>
        <p:txBody>
          <a:bodyPr/>
          <a:lstStyle/>
          <a:p>
            <a:r>
              <a:rPr lang="en-US" altLang="en-US" sz="2400" dirty="0"/>
              <a:t>Each process needs </a:t>
            </a:r>
            <a:r>
              <a:rPr lang="en-US" altLang="en-US" sz="2400" b="1" i="1" dirty="0"/>
              <a:t>minimum</a:t>
            </a:r>
            <a:r>
              <a:rPr lang="en-US" altLang="en-US" sz="2400" dirty="0"/>
              <a:t> number of frames</a:t>
            </a:r>
            <a:endParaRPr lang="en-US" altLang="en-US" sz="2400" dirty="0"/>
          </a:p>
          <a:p>
            <a:r>
              <a:rPr lang="en-US" altLang="en-US" sz="2400" dirty="0"/>
              <a:t>Example:  IBM 370 – 6 pages to handle SS MOVE instruction:</a:t>
            </a:r>
            <a:endParaRPr lang="en-US" altLang="en-US" sz="2400" dirty="0"/>
          </a:p>
          <a:p>
            <a:pPr lvl="1"/>
            <a:r>
              <a:rPr lang="en-US" altLang="en-US" sz="2000" dirty="0"/>
              <a:t>instruction is 6 bytes, might span 2 pages</a:t>
            </a:r>
            <a:endParaRPr lang="en-US" altLang="en-US" sz="2000" dirty="0"/>
          </a:p>
          <a:p>
            <a:pPr lvl="1"/>
            <a:r>
              <a:rPr lang="en-US" altLang="en-US" sz="2000" dirty="0"/>
              <a:t>2 pages to handle </a:t>
            </a:r>
            <a:r>
              <a:rPr lang="en-US" altLang="en-US" sz="2000" i="1" dirty="0"/>
              <a:t>from</a:t>
            </a:r>
            <a:endParaRPr lang="en-US" altLang="en-US" sz="2000" i="1" dirty="0"/>
          </a:p>
          <a:p>
            <a:pPr lvl="1"/>
            <a:r>
              <a:rPr lang="en-US" altLang="en-US" sz="2000" dirty="0"/>
              <a:t>2 pages to handle </a:t>
            </a:r>
            <a:r>
              <a:rPr lang="en-US" altLang="en-US" sz="2000" i="1" dirty="0"/>
              <a:t>to</a:t>
            </a:r>
            <a:endParaRPr lang="en-US" altLang="en-US" sz="2000" i="1" dirty="0"/>
          </a:p>
          <a:p>
            <a:r>
              <a:rPr lang="en-US" altLang="en-US" sz="2400" b="1" i="1" dirty="0"/>
              <a:t>Maximum</a:t>
            </a:r>
            <a:r>
              <a:rPr lang="en-US" altLang="en-US" sz="2400" i="1" dirty="0"/>
              <a:t> </a:t>
            </a:r>
            <a:r>
              <a:rPr lang="en-US" altLang="en-US" sz="2400" dirty="0"/>
              <a:t>of course is total frames in the system</a:t>
            </a:r>
            <a:endParaRPr lang="en-US" altLang="en-US" sz="2400" dirty="0"/>
          </a:p>
          <a:p>
            <a:r>
              <a:rPr lang="en-US" altLang="en-US" sz="2400" dirty="0"/>
              <a:t>Two major allocation schemes</a:t>
            </a:r>
            <a:endParaRPr lang="en-US" altLang="en-US" sz="2400" dirty="0"/>
          </a:p>
          <a:p>
            <a:pPr lvl="1"/>
            <a:r>
              <a:rPr lang="en-US" altLang="en-US" sz="2000" b="1" dirty="0"/>
              <a:t>fixed allocation</a:t>
            </a:r>
            <a:endParaRPr lang="en-US" altLang="en-US" sz="2000" b="1" dirty="0"/>
          </a:p>
          <a:p>
            <a:pPr lvl="1"/>
            <a:r>
              <a:rPr lang="en-US" altLang="en-US" sz="2000" b="1" dirty="0"/>
              <a:t>priority allocation</a:t>
            </a:r>
            <a:endParaRPr lang="en-US" altLang="en-US" sz="2000" b="1" dirty="0"/>
          </a:p>
          <a:p>
            <a:r>
              <a:rPr lang="en-US" altLang="en-US" sz="2400" dirty="0"/>
              <a:t>Many variations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738188" y="235568"/>
            <a:ext cx="7948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Fixed Allocation</a:t>
            </a:r>
            <a:endParaRPr lang="en-US" altLang="en-US" dirty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15" y="1120140"/>
            <a:ext cx="8465185" cy="4645025"/>
          </a:xfrm>
        </p:spPr>
        <p:txBody>
          <a:bodyPr/>
          <a:lstStyle/>
          <a:p>
            <a:r>
              <a:rPr lang="en-US" altLang="en-US" sz="2000" dirty="0"/>
              <a:t>Equal allocation – For example, if there are 100 frames (after allocating frames for the OS) and 5 processes, give each process 20 frames</a:t>
            </a:r>
            <a:endParaRPr lang="en-US" altLang="en-US" sz="2000" dirty="0"/>
          </a:p>
          <a:p>
            <a:pPr lvl="1"/>
            <a:r>
              <a:rPr lang="en-US" altLang="en-US" sz="1800" dirty="0"/>
              <a:t>Keep some as free frame buffer pool</a:t>
            </a:r>
            <a:endParaRPr lang="en-US" altLang="en-US" sz="1800" dirty="0"/>
          </a:p>
          <a:p>
            <a:endParaRPr lang="en-US" altLang="en-US" sz="500" dirty="0"/>
          </a:p>
          <a:p>
            <a:r>
              <a:rPr lang="en-US" altLang="en-US" sz="2000" dirty="0"/>
              <a:t>Proportional allocation – Allocate according to the size of process</a:t>
            </a:r>
            <a:endParaRPr lang="en-US" altLang="en-US" sz="2000" dirty="0"/>
          </a:p>
          <a:p>
            <a:pPr lvl="1"/>
            <a:r>
              <a:rPr lang="en-US" altLang="en-US" sz="1800" dirty="0"/>
              <a:t>Dynamic as degree of multiprogramming, process sizes change</a:t>
            </a:r>
            <a:endParaRPr lang="en-US" altLang="en-US" sz="1800" dirty="0"/>
          </a:p>
          <a:p>
            <a:pPr lvl="1">
              <a:buFont typeface="Monotype Sorts" pitchFamily="-84" charset="2"/>
              <a:buNone/>
            </a:pPr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endParaRPr lang="en-US" altLang="en-US" sz="1800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976438" y="3630613"/>
          <a:ext cx="2857500" cy="161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6" name="Equation" r:id="rId1" imgW="2857500" imgH="1612900" progId="Equation.3">
                  <p:embed/>
                </p:oleObj>
              </mc:Choice>
              <mc:Fallback>
                <p:oleObj name="Equation" r:id="rId1" imgW="2857500" imgH="1612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438" y="3630613"/>
                        <a:ext cx="2857500" cy="161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Line 5"/>
          <p:cNvSpPr>
            <a:spLocks noChangeShapeType="1"/>
          </p:cNvSpPr>
          <p:nvPr/>
        </p:nvSpPr>
        <p:spPr bwMode="auto">
          <a:xfrm>
            <a:off x="1782763" y="37925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1" name="Line 6"/>
          <p:cNvSpPr>
            <a:spLocks noChangeShapeType="1"/>
          </p:cNvSpPr>
          <p:nvPr/>
        </p:nvSpPr>
        <p:spPr bwMode="auto">
          <a:xfrm>
            <a:off x="1782763" y="412908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2" name="Line 7"/>
          <p:cNvSpPr>
            <a:spLocks noChangeShapeType="1"/>
          </p:cNvSpPr>
          <p:nvPr/>
        </p:nvSpPr>
        <p:spPr bwMode="auto">
          <a:xfrm>
            <a:off x="1782763" y="49895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sp>
        <p:nvSpPr>
          <p:cNvPr id="1033" name="Line 8"/>
          <p:cNvSpPr>
            <a:spLocks noChangeShapeType="1"/>
          </p:cNvSpPr>
          <p:nvPr/>
        </p:nvSpPr>
        <p:spPr bwMode="auto">
          <a:xfrm>
            <a:off x="1776413" y="4456113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35" tIns="45718" rIns="91435" bIns="45718" anchor="ctr"/>
          <a:lstStyle/>
          <a:p>
            <a:endParaRPr lang="en-US"/>
          </a:p>
        </p:txBody>
      </p:sp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5945188" y="3425825"/>
          <a:ext cx="1506537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7" name="Equation" r:id="rId3" imgW="1143000" imgH="1454150" progId="Equation.3">
                  <p:embed/>
                </p:oleObj>
              </mc:Choice>
              <mc:Fallback>
                <p:oleObj name="Equation" r:id="rId3" imgW="1143000" imgH="145415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5188" y="3425825"/>
                        <a:ext cx="1506537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88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Global vs. Local Allocation</a:t>
            </a:r>
            <a:endParaRPr lang="en-US" altLang="en-US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6" y="1116013"/>
            <a:ext cx="7656512" cy="447040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Global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– process selects a replacement frame from the set of all frames; one process can take a frame from another</a:t>
            </a:r>
            <a:endParaRPr lang="en-US" altLang="en-US" sz="2800" dirty="0"/>
          </a:p>
          <a:p>
            <a:pPr lvl="1"/>
            <a:r>
              <a:rPr lang="en-US" altLang="en-US" sz="2400" dirty="0"/>
              <a:t>But then process execution time can vary greatly</a:t>
            </a:r>
            <a:endParaRPr lang="en-US" altLang="en-US" sz="2400" dirty="0"/>
          </a:p>
          <a:p>
            <a:pPr lvl="1"/>
            <a:r>
              <a:rPr lang="en-US" altLang="en-US" sz="2400" dirty="0"/>
              <a:t>But greater throughput so more common</a:t>
            </a:r>
            <a:endParaRPr lang="en-US" altLang="en-US" sz="2400" dirty="0"/>
          </a:p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Local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replacement</a:t>
            </a:r>
            <a:r>
              <a:rPr lang="en-US" altLang="en-US" sz="2800" dirty="0">
                <a:solidFill>
                  <a:srgbClr val="3366FF"/>
                </a:solidFill>
              </a:rPr>
              <a:t> </a:t>
            </a:r>
            <a:r>
              <a:rPr lang="en-US" altLang="en-US" sz="2800" dirty="0"/>
              <a:t>– each process selects from only its own set of allocated frames</a:t>
            </a:r>
            <a:endParaRPr lang="en-US" altLang="en-US" sz="2800" dirty="0"/>
          </a:p>
          <a:p>
            <a:pPr lvl="1"/>
            <a:r>
              <a:rPr lang="en-US" altLang="en-US" sz="2400" dirty="0"/>
              <a:t>More consistent per-process performance</a:t>
            </a:r>
            <a:endParaRPr lang="en-US" altLang="en-US" sz="2400" dirty="0"/>
          </a:p>
          <a:p>
            <a:pPr lvl="1"/>
            <a:r>
              <a:rPr lang="en-US" altLang="en-US" sz="2400" dirty="0"/>
              <a:t>But possibly underutilized memory</a:t>
            </a:r>
            <a:endParaRPr lang="en-US" altLang="en-US" sz="2400" dirty="0"/>
          </a:p>
          <a:p>
            <a:pPr lvl="1"/>
            <a:endParaRPr lang="en-US" altLang="en-US" sz="2400" dirty="0"/>
          </a:p>
          <a:p>
            <a:pPr lvl="1"/>
            <a:endParaRPr lang="en-US" altLang="en-US" sz="24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8" y="1116013"/>
            <a:ext cx="7669762" cy="4470400"/>
          </a:xfrm>
        </p:spPr>
        <p:txBody>
          <a:bodyPr/>
          <a:lstStyle/>
          <a:p>
            <a:r>
              <a:rPr lang="en-US" altLang="en-US" sz="2400" dirty="0"/>
              <a:t>A strategy to implement global page-replacement policy </a:t>
            </a:r>
            <a:endParaRPr lang="en-US" altLang="en-US" sz="2400" dirty="0"/>
          </a:p>
          <a:p>
            <a:r>
              <a:rPr lang="en-US" altLang="en-US" sz="2400" dirty="0"/>
              <a:t>All memory requests  are satisfied from the free-frame list,  rather than waiting for the list to drop to zero before we begin selecting pages for replacement, </a:t>
            </a:r>
            <a:endParaRPr lang="en-US" altLang="en-US" sz="2400" dirty="0"/>
          </a:p>
          <a:p>
            <a:r>
              <a:rPr lang="en-US" altLang="en-US" sz="2400" dirty="0"/>
              <a:t>Page replacement  is triggered when the list falls below a certain threshold. </a:t>
            </a:r>
            <a:endParaRPr lang="en-US" altLang="en-US" sz="2400" dirty="0"/>
          </a:p>
          <a:p>
            <a:r>
              <a:rPr lang="en-US" altLang="en-US" sz="2400" dirty="0"/>
              <a:t>This strategy attempts to ensure there is always sufficient free memory to satisfy new requests</a:t>
            </a:r>
            <a:r>
              <a:rPr lang="en-US" altLang="en-US" sz="2400" b="1" dirty="0">
                <a:solidFill>
                  <a:srgbClr val="3366FF"/>
                </a:solidFill>
              </a:rPr>
              <a:t>.</a:t>
            </a:r>
            <a:endParaRPr lang="en-US" altLang="en-US" sz="2400" dirty="0"/>
          </a:p>
          <a:p>
            <a:pPr lvl="1"/>
            <a:endParaRPr lang="en-US" altLang="en-US" sz="2400" dirty="0"/>
          </a:p>
        </p:txBody>
      </p:sp>
      <p:sp>
        <p:nvSpPr>
          <p:cNvPr id="53251" name="Title 4"/>
          <p:cNvSpPr>
            <a:spLocks noGrp="1"/>
          </p:cNvSpPr>
          <p:nvPr>
            <p:ph type="title"/>
          </p:nvPr>
        </p:nvSpPr>
        <p:spPr>
          <a:xfrm>
            <a:off x="945890" y="233204"/>
            <a:ext cx="7315200" cy="576263"/>
          </a:xfrm>
        </p:spPr>
        <p:txBody>
          <a:bodyPr/>
          <a:lstStyle/>
          <a:p>
            <a:r>
              <a:rPr lang="en-US" altLang="en-US" dirty="0"/>
              <a:t>Reclaiming Pages</a:t>
            </a:r>
            <a:endParaRPr lang="en-US" altLang="en-US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43674" y="235568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Reclaiming Pages Example </a:t>
            </a:r>
            <a:endParaRPr lang="en-US" altLang="en-US" dirty="0"/>
          </a:p>
        </p:txBody>
      </p:sp>
      <p:pic>
        <p:nvPicPr>
          <p:cNvPr id="54275" name="Picture 2" descr="B:\os-book\os10-dir\Slides-WORK-area\Figures-dir\ch10\JPG-dir\10_18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4625" y="1444625"/>
            <a:ext cx="5060950" cy="5293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942392" y="238937"/>
            <a:ext cx="7632441" cy="576262"/>
          </a:xfrm>
        </p:spPr>
        <p:txBody>
          <a:bodyPr/>
          <a:lstStyle/>
          <a:p>
            <a:r>
              <a:rPr lang="en-US" altLang="en-US" dirty="0"/>
              <a:t>Non-Uniform Memory Access</a:t>
            </a:r>
            <a:endParaRPr lang="en-US" altLang="en-US" dirty="0"/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107208" y="1268413"/>
            <a:ext cx="7472946" cy="1905000"/>
          </a:xfrm>
        </p:spPr>
        <p:txBody>
          <a:bodyPr/>
          <a:lstStyle/>
          <a:p>
            <a:r>
              <a:rPr lang="en-US" altLang="en-US" sz="2400" dirty="0"/>
              <a:t>So far, we assumed that all memory accessed equally</a:t>
            </a:r>
            <a:endParaRPr lang="en-US" altLang="en-US" sz="2400" dirty="0"/>
          </a:p>
          <a:p>
            <a:r>
              <a:rPr lang="en-US" altLang="en-US" sz="2400" dirty="0"/>
              <a:t>Many systems are </a:t>
            </a:r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NUMA</a:t>
            </a:r>
            <a:r>
              <a:rPr lang="en-US" altLang="en-US" sz="2400" dirty="0"/>
              <a:t> – speed of access to memory varies</a:t>
            </a:r>
            <a:endParaRPr lang="en-US" altLang="en-US" sz="2400" dirty="0"/>
          </a:p>
          <a:p>
            <a:pPr lvl="1"/>
            <a:r>
              <a:rPr lang="en-US" altLang="en-US" sz="2000" dirty="0"/>
              <a:t>Consider system boards containing CPUs and memory, interconnected over a system bus</a:t>
            </a:r>
            <a:endParaRPr lang="en-US" altLang="en-US" sz="2000" dirty="0"/>
          </a:p>
          <a:p>
            <a:r>
              <a:rPr lang="en-US" altLang="en-US" sz="2400" dirty="0"/>
              <a:t>NUMA multiprocessing architecture</a:t>
            </a:r>
            <a:endParaRPr lang="en-US" altLang="en-US" sz="2400" dirty="0"/>
          </a:p>
        </p:txBody>
      </p:sp>
      <p:pic>
        <p:nvPicPr>
          <p:cNvPr id="55300" name="Picture 2" descr="B:\os-book\os10-dir\Slides-WORK-area\Figures-dir\ch10\JPG-dir\10_19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7990" y="4004628"/>
            <a:ext cx="28956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>
          <a:xfrm>
            <a:off x="1177404" y="238937"/>
            <a:ext cx="7458075" cy="576262"/>
          </a:xfrm>
        </p:spPr>
        <p:txBody>
          <a:bodyPr/>
          <a:lstStyle/>
          <a:p>
            <a:r>
              <a:rPr lang="en-US" altLang="en-US" dirty="0"/>
              <a:t>Non-Uniform Memory Access (Cont.)</a:t>
            </a:r>
            <a:endParaRPr lang="en-US" altLang="en-US" dirty="0"/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858419" y="1221047"/>
            <a:ext cx="7529801" cy="4530725"/>
          </a:xfrm>
        </p:spPr>
        <p:txBody>
          <a:bodyPr/>
          <a:lstStyle/>
          <a:p>
            <a:r>
              <a:rPr lang="en-US" altLang="en-US" sz="2800" dirty="0"/>
              <a:t>Optimal performance comes from allocating memory </a:t>
            </a:r>
            <a:r>
              <a:rPr lang="ja-JP" altLang="en-US" sz="2800" dirty="0"/>
              <a:t>“</a:t>
            </a:r>
            <a:r>
              <a:rPr lang="en-US" altLang="ja-JP" sz="2800" dirty="0"/>
              <a:t>close to</a:t>
            </a:r>
            <a:r>
              <a:rPr lang="ja-JP" altLang="en-US" sz="2800" dirty="0"/>
              <a:t>”</a:t>
            </a:r>
            <a:r>
              <a:rPr lang="en-US" altLang="ja-JP" sz="2800" dirty="0"/>
              <a:t> the CPU on which the thread is scheduled</a:t>
            </a:r>
            <a:endParaRPr lang="en-US" altLang="ja-JP" sz="2800" dirty="0"/>
          </a:p>
          <a:p>
            <a:pPr lvl="1"/>
            <a:r>
              <a:rPr lang="en-US" altLang="en-US" sz="2400" dirty="0"/>
              <a:t>And modifying the scheduler to schedule the thread on the same system board when possible</a:t>
            </a:r>
            <a:endParaRPr lang="en-US" altLang="en-US" sz="2400" dirty="0"/>
          </a:p>
          <a:p>
            <a:pPr lvl="1"/>
            <a:r>
              <a:rPr lang="en-US" altLang="en-US" sz="2400" dirty="0"/>
              <a:t>Solved by Solaris by creating </a:t>
            </a:r>
            <a:r>
              <a:rPr lang="en-US" altLang="en-US" sz="2400" b="1" dirty="0" err="1">
                <a:solidFill>
                  <a:srgbClr val="006699"/>
                </a:solidFill>
                <a:latin typeface="+mj-lt"/>
              </a:rPr>
              <a:t>lgroups</a:t>
            </a:r>
            <a:r>
              <a:rPr lang="en-US" altLang="en-US" sz="2400" b="1" dirty="0">
                <a:solidFill>
                  <a:srgbClr val="3366FF"/>
                </a:solidFill>
              </a:rPr>
              <a:t> </a:t>
            </a:r>
            <a:endParaRPr lang="en-US" altLang="en-US" sz="2400" b="1" dirty="0">
              <a:solidFill>
                <a:srgbClr val="3366FF"/>
              </a:solidFill>
            </a:endParaRPr>
          </a:p>
          <a:p>
            <a:pPr lvl="2"/>
            <a:r>
              <a:rPr lang="en-US" altLang="en-US" sz="2000" dirty="0"/>
              <a:t>Structure to track CPU / Memory low latency groups</a:t>
            </a:r>
            <a:endParaRPr lang="en-US" altLang="en-US" sz="2000" dirty="0"/>
          </a:p>
          <a:p>
            <a:pPr lvl="2"/>
            <a:r>
              <a:rPr lang="en-US" altLang="en-US" sz="2000" dirty="0"/>
              <a:t>Used my schedule and pager</a:t>
            </a:r>
            <a:endParaRPr lang="en-US" altLang="en-US" sz="2000" dirty="0"/>
          </a:p>
          <a:p>
            <a:pPr lvl="2"/>
            <a:r>
              <a:rPr lang="en-US" altLang="en-US" sz="2000" dirty="0"/>
              <a:t>When possible schedule all threads of a process and allocate all memory for that process within the </a:t>
            </a:r>
            <a:r>
              <a:rPr lang="en-US" altLang="en-US" sz="2000" dirty="0" err="1"/>
              <a:t>lgroup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</a:t>
            </a:r>
            <a:endParaRPr lang="en-US" alt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7" y="1234526"/>
            <a:ext cx="7669763" cy="4483100"/>
          </a:xfrm>
        </p:spPr>
        <p:txBody>
          <a:bodyPr/>
          <a:lstStyle/>
          <a:p>
            <a:r>
              <a:rPr lang="en-US" altLang="en-US" sz="2800" dirty="0"/>
              <a:t>If a process does not have </a:t>
            </a:r>
            <a:r>
              <a:rPr lang="ja-JP" altLang="en-US" sz="2800" dirty="0"/>
              <a:t>“</a:t>
            </a:r>
            <a:r>
              <a:rPr lang="en-US" altLang="ja-JP" sz="2800" dirty="0"/>
              <a:t>enough</a:t>
            </a:r>
            <a:r>
              <a:rPr lang="ja-JP" altLang="en-US" sz="2800" dirty="0"/>
              <a:t>”</a:t>
            </a:r>
            <a:r>
              <a:rPr lang="en-US" altLang="ja-JP" sz="2800" dirty="0"/>
              <a:t> pages, the page-fault rate is very high</a:t>
            </a:r>
            <a:endParaRPr lang="en-US" altLang="ja-JP" sz="2800" dirty="0"/>
          </a:p>
          <a:p>
            <a:pPr lvl="1"/>
            <a:r>
              <a:rPr lang="en-US" altLang="en-US" sz="2400" dirty="0"/>
              <a:t>Page fault to get page</a:t>
            </a:r>
            <a:endParaRPr lang="en-US" altLang="en-US" sz="2400" dirty="0"/>
          </a:p>
          <a:p>
            <a:pPr lvl="1"/>
            <a:r>
              <a:rPr lang="en-US" altLang="en-US" sz="2400" dirty="0"/>
              <a:t>Replace existing frame</a:t>
            </a:r>
            <a:endParaRPr lang="en-US" altLang="en-US" sz="2400" dirty="0"/>
          </a:p>
          <a:p>
            <a:pPr lvl="1"/>
            <a:r>
              <a:rPr lang="en-US" altLang="en-US" sz="2400" dirty="0"/>
              <a:t>But quickly need replaced frame back</a:t>
            </a:r>
            <a:endParaRPr lang="en-US" altLang="en-US" sz="2400" dirty="0"/>
          </a:p>
          <a:p>
            <a:pPr lvl="1"/>
            <a:r>
              <a:rPr lang="en-US" altLang="en-US" sz="2400" dirty="0"/>
              <a:t>This leads to:</a:t>
            </a:r>
            <a:endParaRPr lang="en-US" altLang="en-US" sz="2400" dirty="0"/>
          </a:p>
          <a:p>
            <a:pPr lvl="2"/>
            <a:r>
              <a:rPr lang="en-US" altLang="en-US" sz="2000" dirty="0"/>
              <a:t>Low CPU utilization</a:t>
            </a:r>
            <a:endParaRPr lang="en-US" altLang="en-US" sz="2000" dirty="0"/>
          </a:p>
          <a:p>
            <a:pPr lvl="2"/>
            <a:r>
              <a:rPr lang="en-US" altLang="en-US" sz="2000" dirty="0"/>
              <a:t>Operating system thinking that it needs to increase the degree of multiprogramming</a:t>
            </a:r>
            <a:endParaRPr lang="en-US" altLang="en-US" sz="2000" dirty="0"/>
          </a:p>
          <a:p>
            <a:pPr lvl="2"/>
            <a:r>
              <a:rPr lang="en-US" altLang="en-US" sz="2000" dirty="0"/>
              <a:t>Another process added to the system</a:t>
            </a:r>
            <a:br>
              <a:rPr lang="en-US" altLang="en-US" sz="2000" dirty="0"/>
            </a:br>
            <a:endParaRPr lang="en-US" altLang="en-US" sz="20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Thrashing (Cont.)</a:t>
            </a:r>
            <a:endParaRPr lang="en-US" alt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0" y="1206536"/>
            <a:ext cx="7265631" cy="939800"/>
          </a:xfrm>
        </p:spPr>
        <p:txBody>
          <a:bodyPr/>
          <a:lstStyle/>
          <a:p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Thrashing</a:t>
            </a:r>
            <a:r>
              <a:rPr lang="en-US" altLang="en-US" sz="2800" dirty="0">
                <a:solidFill>
                  <a:srgbClr val="3366FF"/>
                </a:solidFill>
              </a:rPr>
              <a:t>. </a:t>
            </a:r>
            <a:r>
              <a:rPr lang="en-US" altLang="en-US" sz="2800" dirty="0">
                <a:sym typeface="Symbol" panose="05050102010706020507" pitchFamily="18" charset="2"/>
              </a:rPr>
              <a:t> A process is busy swapping pages in and out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  <p:pic>
        <p:nvPicPr>
          <p:cNvPr id="58372" name="Picture 4" descr="B:\os-book\os10-dir\Slides-WORK-area\Figures-dir\ch10\JPG-dir\10_20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895" y="2420620"/>
            <a:ext cx="6636385" cy="390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62063" y="235568"/>
            <a:ext cx="71596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and Thrashing </a:t>
            </a:r>
            <a:endParaRPr lang="en-US" altLang="en-US" sz="2400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414" y="1308200"/>
            <a:ext cx="7615238" cy="3473450"/>
          </a:xfrm>
        </p:spPr>
        <p:txBody>
          <a:bodyPr/>
          <a:lstStyle/>
          <a:p>
            <a:r>
              <a:rPr lang="en-US" altLang="en-US" sz="2800" dirty="0"/>
              <a:t>Why does demand paging work?</a:t>
            </a:r>
            <a:endParaRPr lang="en-US" altLang="en-US" sz="2800" dirty="0"/>
          </a:p>
          <a:p>
            <a:pPr marL="0" indent="0">
              <a:buNone/>
            </a:pPr>
            <a:r>
              <a:rPr lang="en-US" altLang="en-US" sz="500" dirty="0"/>
              <a:t> </a:t>
            </a:r>
            <a:br>
              <a:rPr lang="en-US" altLang="en-US" sz="2800" dirty="0"/>
            </a:br>
            <a:r>
              <a:rPr lang="en-US" altLang="en-US" sz="2800" dirty="0"/>
              <a:t>      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Locality</a:t>
            </a:r>
            <a:r>
              <a:rPr lang="en-US" altLang="en-US" sz="2800" b="1" dirty="0">
                <a:solidFill>
                  <a:srgbClr val="3366FF"/>
                </a:solidFill>
              </a:rPr>
              <a:t> </a:t>
            </a:r>
            <a:r>
              <a:rPr lang="en-US" altLang="en-US" sz="2800" b="1" dirty="0">
                <a:solidFill>
                  <a:srgbClr val="006699"/>
                </a:solidFill>
                <a:latin typeface="+mj-lt"/>
              </a:rPr>
              <a:t>model</a:t>
            </a:r>
            <a:endParaRPr lang="en-US" altLang="en-US" sz="28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400" dirty="0"/>
              <a:t>Process migrates from one locality to another</a:t>
            </a:r>
            <a:endParaRPr lang="en-US" altLang="en-US" sz="2400" dirty="0"/>
          </a:p>
          <a:p>
            <a:pPr lvl="1"/>
            <a:r>
              <a:rPr lang="en-US" altLang="en-US" sz="2400" dirty="0"/>
              <a:t>Localities may overlap</a:t>
            </a:r>
            <a:endParaRPr lang="en-US" altLang="en-US" sz="2400" dirty="0"/>
          </a:p>
          <a:p>
            <a:r>
              <a:rPr lang="en-US" altLang="en-US" sz="2800" dirty="0"/>
              <a:t>Why does thrashing occur?</a:t>
            </a:r>
            <a:endParaRPr lang="en-US" altLang="en-US" sz="2800" dirty="0"/>
          </a:p>
          <a:p>
            <a:pPr>
              <a:buFont typeface="Monotype Sorts" pitchFamily="-84" charset="2"/>
              <a:buNone/>
            </a:pPr>
            <a:r>
              <a:rPr lang="en-US" altLang="en-US" sz="500" dirty="0"/>
              <a:t> </a:t>
            </a:r>
            <a:br>
              <a:rPr lang="en-US" altLang="en-US" sz="2800" dirty="0"/>
            </a:br>
            <a:r>
              <a:rPr lang="en-US" altLang="en-US" sz="2800" dirty="0"/>
              <a:t>       </a:t>
            </a:r>
            <a:r>
              <a:rPr lang="en-US" altLang="en-US" sz="2800" dirty="0">
                <a:sym typeface="Symbol" panose="05050102010706020507" pitchFamily="18" charset="2"/>
              </a:rPr>
              <a:t> size of locality &gt; total memory size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500" dirty="0">
              <a:sym typeface="Symbol" panose="05050102010706020507" pitchFamily="18" charset="2"/>
            </a:endParaRPr>
          </a:p>
          <a:p>
            <a:r>
              <a:rPr lang="en-US" altLang="en-US" sz="2800" dirty="0">
                <a:sym typeface="Symbol" panose="05050102010706020507" pitchFamily="18" charset="2"/>
              </a:rPr>
              <a:t>Limit effects by using local or priority page replacement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9753" y="237381"/>
            <a:ext cx="8013700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Locality In A Memory-Reference Pattern</a:t>
            </a:r>
            <a:endParaRPr lang="en-US" altLang="en-US" sz="3000" dirty="0"/>
          </a:p>
        </p:txBody>
      </p:sp>
      <p:pic>
        <p:nvPicPr>
          <p:cNvPr id="60419" name="Picture 1" descr="9_19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85" y="1052830"/>
            <a:ext cx="6171565" cy="5742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</a:t>
            </a:r>
            <a:endParaRPr lang="en-US" altLang="en-US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5" y="1093788"/>
            <a:ext cx="7548757" cy="4881562"/>
          </a:xfrm>
        </p:spPr>
        <p:txBody>
          <a:bodyPr/>
          <a:lstStyle/>
          <a:p>
            <a:r>
              <a:rPr lang="en-US" altLang="en-US" sz="2400" dirty="0">
                <a:sym typeface="Symbol" panose="05050102010706020507" pitchFamily="18" charset="2"/>
              </a:rPr>
              <a:t>  working-set window  a fixed number of page references </a:t>
            </a:r>
            <a:br>
              <a:rPr lang="en-US" altLang="en-US" sz="2400" dirty="0">
                <a:sym typeface="Symbol" panose="05050102010706020507" pitchFamily="18" charset="2"/>
              </a:rPr>
            </a:br>
            <a:r>
              <a:rPr lang="en-US" altLang="en-US" sz="2400" dirty="0">
                <a:sym typeface="Symbol" panose="05050102010706020507" pitchFamily="18" charset="2"/>
              </a:rPr>
              <a:t>Example:  10,000 instructions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i="1" dirty="0" err="1">
                <a:sym typeface="Symbol" panose="05050102010706020507" pitchFamily="18" charset="2"/>
              </a:rPr>
              <a:t>WSS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(working set of Process </a:t>
            </a:r>
            <a:r>
              <a:rPr lang="en-US" altLang="en-US" sz="2400" i="1" dirty="0">
                <a:sym typeface="Symbol" panose="05050102010706020507" pitchFamily="18" charset="2"/>
              </a:rPr>
              <a:t>P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) =  total number of pages referenced in the most recent  (varies in time)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if  too small will not encompass entire locality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if  too large will encompass several localities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if  =   will encompass entire program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400" i="1" dirty="0">
                <a:sym typeface="Symbol" panose="05050102010706020507" pitchFamily="18" charset="2"/>
              </a:rPr>
              <a:t>D</a:t>
            </a:r>
            <a:r>
              <a:rPr lang="en-US" altLang="en-US" sz="2400" dirty="0">
                <a:sym typeface="Symbol" panose="05050102010706020507" pitchFamily="18" charset="2"/>
              </a:rPr>
              <a:t> =  </a:t>
            </a:r>
            <a:r>
              <a:rPr lang="en-US" altLang="en-US" sz="2400" i="1" dirty="0" err="1">
                <a:sym typeface="Symbol" panose="05050102010706020507" pitchFamily="18" charset="2"/>
              </a:rPr>
              <a:t>WSS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sym typeface="Symbol" panose="05050102010706020507" pitchFamily="18" charset="2"/>
              </a:rPr>
              <a:t>  total demand frames 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Approximation of locality</a:t>
            </a:r>
            <a:endParaRPr lang="en-US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4791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Working-Set Model (Cont.)</a:t>
            </a:r>
            <a:endParaRPr lang="en-US" alt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5" y="1065213"/>
            <a:ext cx="6838756" cy="1806575"/>
          </a:xfrm>
        </p:spPr>
        <p:txBody>
          <a:bodyPr/>
          <a:lstStyle/>
          <a:p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</a:t>
            </a:r>
            <a:r>
              <a:rPr lang="en-US" altLang="en-US" i="1" dirty="0">
                <a:sym typeface="Symbol" panose="05050102010706020507" pitchFamily="18" charset="2"/>
              </a:rPr>
              <a:t>m</a:t>
            </a:r>
            <a:r>
              <a:rPr lang="en-US" altLang="en-US" dirty="0">
                <a:sym typeface="Symbol" panose="05050102010706020507" pitchFamily="18" charset="2"/>
              </a:rPr>
              <a:t>  Thrashing</a:t>
            </a:r>
            <a:endParaRPr lang="en-US" altLang="en-US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Policy if </a:t>
            </a:r>
            <a:r>
              <a:rPr lang="en-US" altLang="en-US" i="1" dirty="0">
                <a:sym typeface="Symbol" panose="05050102010706020507" pitchFamily="18" charset="2"/>
              </a:rPr>
              <a:t>D</a:t>
            </a:r>
            <a:r>
              <a:rPr lang="en-US" altLang="en-US" dirty="0">
                <a:sym typeface="Symbol" panose="05050102010706020507" pitchFamily="18" charset="2"/>
              </a:rPr>
              <a:t> &gt; m, then suspend or swap out one of the processes 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62468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2872105"/>
            <a:ext cx="9103995" cy="2426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969963" y="238161"/>
            <a:ext cx="7742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Keeping Track of the Working Set</a:t>
            </a:r>
            <a:endParaRPr lang="en-US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0" y="1119188"/>
            <a:ext cx="7567124" cy="4530725"/>
          </a:xfrm>
        </p:spPr>
        <p:txBody>
          <a:bodyPr/>
          <a:lstStyle/>
          <a:p>
            <a:r>
              <a:rPr lang="en-US" altLang="en-US" sz="2400" dirty="0"/>
              <a:t>Approximate with interval timer + a reference bit</a:t>
            </a:r>
            <a:endParaRPr lang="en-US" altLang="en-US" sz="2400" dirty="0"/>
          </a:p>
          <a:p>
            <a:r>
              <a:rPr lang="en-US" altLang="en-US" sz="2400" dirty="0"/>
              <a:t>Example: </a:t>
            </a:r>
            <a:r>
              <a:rPr lang="en-US" altLang="en-US" sz="2400" dirty="0">
                <a:sym typeface="Symbol" panose="05050102010706020507" pitchFamily="18" charset="2"/>
              </a:rPr>
              <a:t> = 10,000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Timer interrupts after every 5000 time units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Keep in memory 2 bits for each page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Whenever a timer interrupts copy and sets the values of all reference bits to 0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/>
            <a:r>
              <a:rPr lang="en-US" altLang="en-US" sz="2000" dirty="0">
                <a:sym typeface="Symbol" panose="05050102010706020507" pitchFamily="18" charset="2"/>
              </a:rPr>
              <a:t>If one of the bits in memory = 1  page in working set</a:t>
            </a:r>
            <a:endParaRPr lang="en-US" altLang="en-US" sz="20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Why is this not completely accurate?</a:t>
            </a:r>
            <a:endParaRPr lang="en-US" altLang="en-US" sz="2400" dirty="0">
              <a:sym typeface="Symbol" panose="05050102010706020507" pitchFamily="18" charset="2"/>
            </a:endParaRPr>
          </a:p>
          <a:p>
            <a:r>
              <a:rPr lang="en-US" altLang="en-US" sz="2400" dirty="0">
                <a:sym typeface="Symbol" panose="05050102010706020507" pitchFamily="18" charset="2"/>
              </a:rPr>
              <a:t>Improvement = 10 bits and interrupt every 1000 time units</a:t>
            </a:r>
            <a:endParaRPr lang="en-US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247492"/>
            <a:ext cx="7889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Page-Fault Frequency</a:t>
            </a:r>
            <a:endParaRPr lang="en-US" alt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0444" y="1049338"/>
            <a:ext cx="7563759" cy="1668462"/>
          </a:xfrm>
        </p:spPr>
        <p:txBody>
          <a:bodyPr/>
          <a:lstStyle/>
          <a:p>
            <a:r>
              <a:rPr lang="en-US" altLang="en-US" sz="2800" dirty="0"/>
              <a:t>More direct approach than WSS</a:t>
            </a:r>
            <a:endParaRPr lang="en-US" altLang="en-US" sz="2800" dirty="0"/>
          </a:p>
          <a:p>
            <a:r>
              <a:rPr lang="en-US" altLang="en-US" sz="2800" dirty="0"/>
              <a:t>Establish </a:t>
            </a:r>
            <a:r>
              <a:rPr lang="ja-JP" altLang="en-US" sz="2800" dirty="0"/>
              <a:t>“</a:t>
            </a:r>
            <a:r>
              <a:rPr lang="en-US" altLang="ja-JP" sz="2800" dirty="0"/>
              <a:t>acceptable</a:t>
            </a:r>
            <a:r>
              <a:rPr lang="ja-JP" altLang="en-US" sz="2800" dirty="0"/>
              <a:t>”</a:t>
            </a:r>
            <a:r>
              <a:rPr lang="en-US" altLang="ja-JP" sz="2800" dirty="0"/>
              <a:t> </a:t>
            </a:r>
            <a:r>
              <a:rPr lang="en-US" altLang="ja-JP" sz="2800" b="1" dirty="0">
                <a:solidFill>
                  <a:srgbClr val="006699"/>
                </a:solidFill>
                <a:latin typeface="+mj-lt"/>
              </a:rPr>
              <a:t>page-fault frequency</a:t>
            </a:r>
            <a:r>
              <a:rPr lang="en-US" altLang="ja-JP" sz="2800" b="1" dirty="0">
                <a:solidFill>
                  <a:srgbClr val="3366FF"/>
                </a:solidFill>
              </a:rPr>
              <a:t> </a:t>
            </a:r>
            <a:r>
              <a:rPr lang="en-US" altLang="ja-JP" sz="2800" dirty="0"/>
              <a:t>(</a:t>
            </a:r>
            <a:r>
              <a:rPr lang="en-US" altLang="ja-JP" sz="2800" b="1" dirty="0">
                <a:solidFill>
                  <a:srgbClr val="006699"/>
                </a:solidFill>
                <a:latin typeface="+mj-lt"/>
              </a:rPr>
              <a:t>PFF</a:t>
            </a:r>
            <a:r>
              <a:rPr lang="en-US" altLang="ja-JP" sz="2800" dirty="0"/>
              <a:t>)</a:t>
            </a:r>
            <a:r>
              <a:rPr lang="en-US" altLang="ja-JP" sz="2800" b="1" dirty="0">
                <a:solidFill>
                  <a:srgbClr val="3366FF"/>
                </a:solidFill>
              </a:rPr>
              <a:t> </a:t>
            </a:r>
            <a:r>
              <a:rPr lang="en-US" altLang="ja-JP" sz="2800" dirty="0"/>
              <a:t>rate and use local replacement policy</a:t>
            </a:r>
            <a:endParaRPr lang="en-US" altLang="ja-JP" sz="2800" dirty="0"/>
          </a:p>
          <a:p>
            <a:pPr lvl="1"/>
            <a:r>
              <a:rPr lang="en-US" altLang="en-US" sz="2400" dirty="0"/>
              <a:t>If actual rate too low, process loses frame</a:t>
            </a:r>
            <a:endParaRPr lang="en-US" altLang="en-US" sz="2400" dirty="0"/>
          </a:p>
          <a:p>
            <a:pPr lvl="1"/>
            <a:r>
              <a:rPr lang="en-US" altLang="en-US" sz="2400" dirty="0"/>
              <a:t>If actual rate too high, process gains frame</a:t>
            </a:r>
            <a:endParaRPr lang="en-US" altLang="en-US" sz="2400" dirty="0"/>
          </a:p>
        </p:txBody>
      </p:sp>
      <p:pic>
        <p:nvPicPr>
          <p:cNvPr id="64516" name="Picture 1" descr="9_21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785" y="3903663"/>
            <a:ext cx="5103813" cy="295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653081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Working Sets and Page Fault Rates</a:t>
            </a:r>
            <a:endParaRPr lang="en-US" altLang="en-US" dirty="0"/>
          </a:p>
        </p:txBody>
      </p:sp>
      <p:pic>
        <p:nvPicPr>
          <p:cNvPr id="6553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" y="2684780"/>
            <a:ext cx="8703310" cy="3966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79705" y="1268413"/>
            <a:ext cx="7194550" cy="2071687"/>
          </a:xfrm>
          <a:prstGeom prst="rect">
            <a:avLst/>
          </a:prstGeom>
          <a:noFill/>
          <a:ln>
            <a:noFill/>
          </a:ln>
        </p:spPr>
        <p:txBody>
          <a:bodyPr lIns="91435" tIns="45718" rIns="91435" bIns="45718"/>
          <a:lstStyle>
            <a:lvl1pPr marL="488950" indent="-4889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1060450" indent="-40830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55130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charset="0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204025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530475" indent="-32575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3183890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6pPr>
            <a:lvl7pPr marL="3837305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7pPr>
            <a:lvl8pPr marL="4490085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8pPr>
            <a:lvl9pPr marL="5143500" indent="-32639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9pPr>
          </a:lstStyle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Direct relationship between working set of a process and its page-fault rate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Working set changes over time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>
              <a:buSzPct val="110000"/>
              <a:buFont typeface="Wingdings" panose="05000000000000000000" pitchFamily="2" charset="2"/>
              <a:buChar char="§"/>
              <a:defRPr/>
            </a:pPr>
            <a:r>
              <a:rPr lang="en-US" dirty="0">
                <a:ea typeface="MS PGothic" panose="020B0600070205080204" pitchFamily="34" charset="-128"/>
                <a:cs typeface="MS PGothic" panose="020B0600070205080204" pitchFamily="34" charset="-128"/>
              </a:rPr>
              <a:t>Peaks and valleys over time</a:t>
            </a: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Allocating Kernel Memory</a:t>
            </a:r>
            <a:endParaRPr lang="en-US" altLang="en-US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012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Treated differently from user memory</a:t>
            </a:r>
            <a:endParaRPr lang="en-US" altLang="en-US" dirty="0"/>
          </a:p>
          <a:p>
            <a:r>
              <a:rPr lang="en-US" altLang="en-US" dirty="0"/>
              <a:t>Often allocated from a free-memory pool</a:t>
            </a:r>
            <a:endParaRPr lang="en-US" altLang="en-US" dirty="0"/>
          </a:p>
          <a:p>
            <a:pPr lvl="1"/>
            <a:r>
              <a:rPr lang="en-US" altLang="en-US" dirty="0"/>
              <a:t>Kernel requests memory for structures of varying sizes</a:t>
            </a:r>
            <a:endParaRPr lang="en-US" altLang="en-US" dirty="0"/>
          </a:p>
          <a:p>
            <a:pPr lvl="1"/>
            <a:r>
              <a:rPr lang="en-US" altLang="en-US" dirty="0"/>
              <a:t>Some kernel memory needs to be contiguous</a:t>
            </a:r>
            <a:endParaRPr lang="en-US" altLang="en-US" dirty="0"/>
          </a:p>
          <a:p>
            <a:pPr lvl="2"/>
            <a:r>
              <a:rPr lang="en-US" altLang="en-US" dirty="0"/>
              <a:t>i.e., for device I/O</a:t>
            </a:r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924" y="23142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</a:t>
            </a:r>
            <a:endParaRPr lang="en-US" altLang="en-US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1354" y="1108305"/>
            <a:ext cx="7728794" cy="5243512"/>
          </a:xfrm>
        </p:spPr>
        <p:txBody>
          <a:bodyPr/>
          <a:lstStyle/>
          <a:p>
            <a:r>
              <a:rPr lang="en-US" altLang="en-US" sz="2000" dirty="0"/>
              <a:t>Allocates memory from fixed-size segment consisting of physically-contiguous pages</a:t>
            </a:r>
            <a:endParaRPr lang="en-US" altLang="en-US" sz="2000" dirty="0"/>
          </a:p>
          <a:p>
            <a:r>
              <a:rPr lang="en-US" altLang="en-US" sz="2000" dirty="0"/>
              <a:t>Memory allocated using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power-of-2</a:t>
            </a:r>
            <a:r>
              <a:rPr lang="en-US" altLang="en-US" sz="2000" b="1" dirty="0">
                <a:solidFill>
                  <a:srgbClr val="3366FF"/>
                </a:solidFill>
              </a:rPr>
              <a:t>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allocator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1800" dirty="0"/>
              <a:t>Satisfies requests in units sized as power of 2</a:t>
            </a:r>
            <a:endParaRPr lang="en-US" altLang="en-US" sz="1800" dirty="0"/>
          </a:p>
          <a:p>
            <a:pPr lvl="1"/>
            <a:r>
              <a:rPr lang="en-US" altLang="en-US" sz="1800" dirty="0"/>
              <a:t>Request rounded up to next highest power of 2</a:t>
            </a:r>
            <a:endParaRPr lang="en-US" altLang="en-US" sz="1800" dirty="0"/>
          </a:p>
          <a:p>
            <a:pPr lvl="1"/>
            <a:r>
              <a:rPr lang="en-US" altLang="en-US" sz="1800" dirty="0"/>
              <a:t>When smaller allocation needed than is available, current chunk split into two buddies of next-lower power of 2</a:t>
            </a:r>
            <a:endParaRPr lang="en-US" altLang="en-US" sz="1800" dirty="0"/>
          </a:p>
          <a:p>
            <a:pPr lvl="2"/>
            <a:r>
              <a:rPr lang="en-US" altLang="en-US" sz="1600" dirty="0"/>
              <a:t>Continue until appropriate sized chunk available</a:t>
            </a:r>
            <a:endParaRPr lang="en-US" altLang="en-US" sz="1600" dirty="0"/>
          </a:p>
          <a:p>
            <a:r>
              <a:rPr lang="en-US" altLang="en-US" sz="2000" dirty="0"/>
              <a:t>For example, assume 256KB chunk available, kernel requests 21KB</a:t>
            </a:r>
            <a:endParaRPr lang="en-US" altLang="en-US" sz="2000" dirty="0"/>
          </a:p>
          <a:p>
            <a:pPr lvl="1"/>
            <a:r>
              <a:rPr lang="en-US" altLang="en-US" sz="1800" dirty="0"/>
              <a:t>Split into A</a:t>
            </a:r>
            <a:r>
              <a:rPr lang="en-US" altLang="en-US" sz="1800" baseline="-25000" dirty="0"/>
              <a:t>L</a:t>
            </a:r>
            <a:r>
              <a:rPr lang="en-US" altLang="en-US" sz="1800" dirty="0"/>
              <a:t> </a:t>
            </a:r>
            <a:r>
              <a:rPr lang="en-US" altLang="en-US" sz="1800" baseline="-25000" dirty="0"/>
              <a:t>and</a:t>
            </a:r>
            <a:r>
              <a:rPr lang="en-US" altLang="en-US" sz="1800" dirty="0"/>
              <a:t> A</a:t>
            </a:r>
            <a:r>
              <a:rPr lang="en-US" altLang="en-US" sz="1800" baseline="-25000" dirty="0"/>
              <a:t>R</a:t>
            </a:r>
            <a:r>
              <a:rPr lang="en-US" altLang="en-US" sz="1800" dirty="0"/>
              <a:t> of 128KB each</a:t>
            </a:r>
            <a:endParaRPr lang="en-US" altLang="en-US" sz="1800" dirty="0"/>
          </a:p>
          <a:p>
            <a:pPr lvl="2"/>
            <a:r>
              <a:rPr lang="en-US" altLang="en-US" sz="1600" dirty="0"/>
              <a:t>One further divided into B</a:t>
            </a:r>
            <a:r>
              <a:rPr lang="en-US" altLang="en-US" sz="1600" baseline="-25000" dirty="0"/>
              <a:t>L</a:t>
            </a:r>
            <a:r>
              <a:rPr lang="en-US" altLang="en-US" sz="1600" dirty="0"/>
              <a:t> and B</a:t>
            </a:r>
            <a:r>
              <a:rPr lang="en-US" altLang="en-US" sz="1600" baseline="-25000" dirty="0"/>
              <a:t>R</a:t>
            </a:r>
            <a:r>
              <a:rPr lang="en-US" altLang="en-US" sz="1600" dirty="0"/>
              <a:t> of 64KB</a:t>
            </a:r>
            <a:endParaRPr lang="en-US" altLang="en-US" sz="1600" dirty="0"/>
          </a:p>
          <a:p>
            <a:pPr lvl="3"/>
            <a:r>
              <a:rPr lang="en-US" altLang="en-US" sz="1400" dirty="0"/>
              <a:t>One further into C</a:t>
            </a:r>
            <a:r>
              <a:rPr lang="en-US" altLang="en-US" sz="1400" baseline="-25000" dirty="0"/>
              <a:t>L</a:t>
            </a:r>
            <a:r>
              <a:rPr lang="en-US" altLang="en-US" sz="1400" dirty="0"/>
              <a:t> and C</a:t>
            </a:r>
            <a:r>
              <a:rPr lang="en-US" altLang="en-US" sz="1400" baseline="-25000" dirty="0"/>
              <a:t>R</a:t>
            </a:r>
            <a:r>
              <a:rPr lang="en-US" altLang="en-US" sz="1400" dirty="0"/>
              <a:t> of 32KB each – one used to satisfy request</a:t>
            </a:r>
            <a:endParaRPr lang="en-US" altLang="en-US" sz="1400" dirty="0"/>
          </a:p>
          <a:p>
            <a:r>
              <a:rPr lang="en-US" altLang="en-US" sz="2000" dirty="0"/>
              <a:t>Advantage – quickly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coalesce</a:t>
            </a:r>
            <a:r>
              <a:rPr lang="en-US" altLang="en-US" sz="2000" dirty="0"/>
              <a:t> unused chunks into larger chunk</a:t>
            </a:r>
            <a:endParaRPr lang="en-US" altLang="en-US" sz="2000" dirty="0"/>
          </a:p>
          <a:p>
            <a:r>
              <a:rPr lang="en-US" altLang="en-US" sz="2000" dirty="0"/>
              <a:t>Disadvantage - fragmentation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28" y="248268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Buddy System Allocator</a:t>
            </a:r>
            <a:endParaRPr lang="en-US" altLang="en-US" dirty="0"/>
          </a:p>
        </p:txBody>
      </p:sp>
      <p:pic>
        <p:nvPicPr>
          <p:cNvPr id="68611" name="Picture 1" descr="9_26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1268730"/>
            <a:ext cx="5628005" cy="55143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>
          <a:xfrm>
            <a:off x="819828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/>
              <a:t>Slab Allocator</a:t>
            </a:r>
            <a:endParaRPr lang="en-US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45" y="1174115"/>
            <a:ext cx="9051925" cy="5046345"/>
          </a:xfrm>
        </p:spPr>
        <p:txBody>
          <a:bodyPr/>
          <a:lstStyle/>
          <a:p>
            <a:r>
              <a:rPr lang="en-US" altLang="en-US" sz="2400" dirty="0"/>
              <a:t>Alternate strategy</a:t>
            </a:r>
            <a:endParaRPr lang="en-US" altLang="en-US" sz="600" dirty="0"/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Slab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is one or more physically contiguous pages</a:t>
            </a:r>
            <a:endParaRPr lang="en-US" altLang="en-US" sz="600" dirty="0"/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sz="2400" dirty="0">
                <a:solidFill>
                  <a:srgbClr val="3366FF"/>
                </a:solidFill>
              </a:rPr>
              <a:t> </a:t>
            </a:r>
            <a:r>
              <a:rPr lang="en-US" altLang="en-US" sz="2400" dirty="0"/>
              <a:t>consists of one or more slabs</a:t>
            </a:r>
            <a:endParaRPr lang="en-US" altLang="en-US" sz="600" dirty="0"/>
          </a:p>
          <a:p>
            <a:r>
              <a:rPr lang="en-US" altLang="en-US" sz="2400" dirty="0"/>
              <a:t>Single cache for each unique kernel data structure</a:t>
            </a:r>
            <a:endParaRPr lang="en-US" altLang="en-US" sz="2400" dirty="0"/>
          </a:p>
          <a:p>
            <a:pPr lvl="1"/>
            <a:r>
              <a:rPr lang="en-US" altLang="en-US" sz="2000" dirty="0"/>
              <a:t>Each cache filled with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objects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– instantiations of the data structure</a:t>
            </a:r>
            <a:endParaRPr lang="en-US" altLang="en-US" sz="600" dirty="0"/>
          </a:p>
          <a:p>
            <a:r>
              <a:rPr lang="en-US" altLang="en-US" sz="2400" dirty="0"/>
              <a:t>When cache created, filled with objects marked as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</a:t>
            </a:r>
            <a:endParaRPr lang="en-US" altLang="en-US" sz="600" b="1" dirty="0"/>
          </a:p>
          <a:p>
            <a:r>
              <a:rPr lang="en-US" altLang="en-US" sz="2400" dirty="0"/>
              <a:t>When structures stored, objects marked as </a:t>
            </a: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used</a:t>
            </a:r>
            <a:endParaRPr lang="en-US" altLang="en-US" sz="600" b="1" dirty="0"/>
          </a:p>
          <a:p>
            <a:r>
              <a:rPr lang="en-US" altLang="en-US" sz="2400" dirty="0"/>
              <a:t>If slab is full of used objects, next object allocated from empty slab</a:t>
            </a:r>
            <a:endParaRPr lang="en-US" altLang="en-US" sz="2400" dirty="0"/>
          </a:p>
          <a:p>
            <a:pPr lvl="1"/>
            <a:r>
              <a:rPr lang="en-US" altLang="en-US" sz="2000" dirty="0"/>
              <a:t>If no empty slabs, new slab allocated</a:t>
            </a:r>
            <a:endParaRPr lang="en-US" altLang="en-US" sz="600" dirty="0"/>
          </a:p>
          <a:p>
            <a:r>
              <a:rPr lang="en-US" altLang="en-US" sz="2400" dirty="0"/>
              <a:t>Benefits include no fragmentation, fast memory request satisfaction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798996" y="238161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Allocation</a:t>
            </a:r>
            <a:endParaRPr lang="en-US" altLang="en-US" dirty="0"/>
          </a:p>
        </p:txBody>
      </p:sp>
      <p:pic>
        <p:nvPicPr>
          <p:cNvPr id="70659" name="Picture 1" descr="9_27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95" y="1412875"/>
            <a:ext cx="6729095" cy="5331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782506" y="235568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</a:t>
            </a:r>
            <a:endParaRPr lang="en-US" altLang="en-US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408" y="1167854"/>
            <a:ext cx="7501810" cy="5214937"/>
          </a:xfrm>
        </p:spPr>
        <p:txBody>
          <a:bodyPr/>
          <a:lstStyle/>
          <a:p>
            <a:r>
              <a:rPr lang="en-US" altLang="en-US" sz="2400" dirty="0"/>
              <a:t>For example process descriptor is of type 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sz="2400" dirty="0"/>
          </a:p>
          <a:p>
            <a:r>
              <a:rPr lang="en-US" altLang="en-US" sz="2400" dirty="0" err="1"/>
              <a:t>Approx</a:t>
            </a:r>
            <a:r>
              <a:rPr lang="en-US" altLang="en-US" sz="2400" dirty="0"/>
              <a:t> 1.7KB of memory</a:t>
            </a:r>
            <a:endParaRPr lang="en-US" altLang="en-US" sz="2400" dirty="0"/>
          </a:p>
          <a:p>
            <a:r>
              <a:rPr lang="en-US" altLang="en-US" sz="2400" dirty="0"/>
              <a:t>New task -&gt; allocate new struct from cache</a:t>
            </a:r>
            <a:endParaRPr lang="en-US" altLang="en-US" sz="2400" dirty="0"/>
          </a:p>
          <a:p>
            <a:pPr lvl="1"/>
            <a:r>
              <a:rPr lang="en-US" altLang="en-US" sz="2000" dirty="0"/>
              <a:t>Will use existing free 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sz="2000" dirty="0"/>
          </a:p>
          <a:p>
            <a:r>
              <a:rPr lang="en-US" altLang="en-US" sz="2400" dirty="0"/>
              <a:t>Slab can be in three possible states</a:t>
            </a:r>
            <a:endParaRPr lang="en-US" altLang="en-US" sz="2400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Full – all used</a:t>
            </a:r>
            <a:endParaRPr lang="en-US" altLang="en-US" sz="2000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Empty – all free</a:t>
            </a:r>
            <a:endParaRPr lang="en-US" altLang="en-US" sz="2000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Partial – mix of free and used</a:t>
            </a:r>
            <a:endParaRPr lang="en-US" altLang="en-US" sz="2000" dirty="0"/>
          </a:p>
          <a:p>
            <a:r>
              <a:rPr lang="en-US" altLang="en-US" sz="2400" dirty="0"/>
              <a:t>Upon request, slab allocator</a:t>
            </a:r>
            <a:endParaRPr lang="en-US" altLang="en-US" sz="2400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Uses free struct in partial slab</a:t>
            </a:r>
            <a:endParaRPr lang="en-US" altLang="en-US" sz="2000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If none, takes one from empty slab</a:t>
            </a:r>
            <a:endParaRPr lang="en-US" altLang="en-US" sz="2000" dirty="0"/>
          </a:p>
          <a:p>
            <a:pPr lvl="1">
              <a:buFont typeface="Arial" panose="020B0604020202020204" pitchFamily="34" charset="0"/>
              <a:buAutoNum type="arabicPeriod"/>
            </a:pPr>
            <a:r>
              <a:rPr lang="en-US" altLang="en-US" sz="2000" dirty="0"/>
              <a:t>If no empty slab, create new empty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885142" y="244899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Slab Allocator in Linux (Cont.)</a:t>
            </a:r>
            <a:endParaRPr lang="en-US" altLang="en-US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5142" y="1103313"/>
            <a:ext cx="7605712" cy="5214937"/>
          </a:xfrm>
        </p:spPr>
        <p:txBody>
          <a:bodyPr/>
          <a:lstStyle/>
          <a:p>
            <a:r>
              <a:rPr lang="en-US" altLang="en-US" dirty="0"/>
              <a:t>Slab started in Solaris, now wide-spread for both kernel mode and user memory in various OSes</a:t>
            </a:r>
            <a:endParaRPr lang="en-US" altLang="en-US" dirty="0"/>
          </a:p>
          <a:p>
            <a:r>
              <a:rPr lang="en-US" altLang="en-US" dirty="0"/>
              <a:t>Linux  2.2 had SLAB, now has both SLOB and SLUB allocators</a:t>
            </a:r>
            <a:endParaRPr lang="en-US" altLang="en-US" dirty="0"/>
          </a:p>
          <a:p>
            <a:pPr lvl="1"/>
            <a:r>
              <a:rPr lang="en-US" altLang="en-US" dirty="0"/>
              <a:t>SLOB for systems with limited memory</a:t>
            </a:r>
            <a:endParaRPr lang="en-US" altLang="en-US" dirty="0"/>
          </a:p>
          <a:p>
            <a:pPr lvl="2"/>
            <a:r>
              <a:rPr lang="en-US" altLang="en-US" dirty="0"/>
              <a:t>Simple List of Blocks – maintains 3 list objects for small, medium, large objects</a:t>
            </a:r>
            <a:endParaRPr lang="en-US" altLang="en-US" dirty="0"/>
          </a:p>
          <a:p>
            <a:pPr lvl="1"/>
            <a:r>
              <a:rPr lang="en-US" altLang="en-US" dirty="0"/>
              <a:t>SLUB is performance-optimized SLAB removes per-CPU queues, metadata stored in page structure</a:t>
            </a:r>
            <a:endParaRPr lang="en-US" altLang="en-US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867" y="24489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Other Considerations</a:t>
            </a:r>
            <a:endParaRPr lang="en-US" alt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4570" y="1170217"/>
            <a:ext cx="7027251" cy="4908550"/>
          </a:xfrm>
          <a:ln>
            <a:miter lim="800000"/>
          </a:ln>
        </p:spPr>
        <p:txBody>
          <a:bodyPr/>
          <a:lstStyle/>
          <a:p>
            <a:pPr>
              <a:defRPr/>
            </a:pPr>
            <a:r>
              <a:rPr lang="en-US" altLang="en-US" dirty="0"/>
              <a:t>Prepaging 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Page size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TLB reach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Inverted page table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Program structure</a:t>
            </a:r>
            <a:endParaRPr lang="en-US" altLang="en-US" dirty="0"/>
          </a:p>
          <a:p>
            <a:pPr>
              <a:defRPr/>
            </a:pPr>
            <a:r>
              <a:rPr lang="en-US" altLang="en-US" dirty="0"/>
              <a:t>I/O interlock and page locking</a:t>
            </a:r>
            <a:endParaRPr lang="en-US" altLang="en-US" dirty="0"/>
          </a:p>
          <a:p>
            <a:pPr>
              <a:buFont typeface="Monotype Sorts" pitchFamily="-84" charset="2"/>
              <a:buNone/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 lvl="8">
              <a:buFontTx/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563595" y="235568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Prepaging</a:t>
            </a:r>
            <a:endParaRPr lang="en-US" altLang="en-US" dirty="0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081" y="1170217"/>
            <a:ext cx="7697752" cy="4908550"/>
          </a:xfrm>
        </p:spPr>
        <p:txBody>
          <a:bodyPr/>
          <a:lstStyle/>
          <a:p>
            <a:r>
              <a:rPr lang="en-US" altLang="en-US" sz="2400" dirty="0"/>
              <a:t>To reduce the large number of page faults that occurs at process startup</a:t>
            </a:r>
            <a:endParaRPr lang="en-US" altLang="en-US" sz="2400" dirty="0"/>
          </a:p>
          <a:p>
            <a:r>
              <a:rPr lang="en-US" altLang="en-US" sz="2400" dirty="0" err="1"/>
              <a:t>Prepage</a:t>
            </a:r>
            <a:r>
              <a:rPr lang="en-US" altLang="en-US" sz="2400" dirty="0"/>
              <a:t> all or some of the pages a process will need, before they are referenced</a:t>
            </a:r>
            <a:endParaRPr lang="en-US" altLang="en-US" sz="2400" dirty="0"/>
          </a:p>
          <a:p>
            <a:r>
              <a:rPr lang="en-US" altLang="en-US" sz="2400" dirty="0"/>
              <a:t>But if </a:t>
            </a:r>
            <a:r>
              <a:rPr lang="en-US" altLang="en-US" sz="2400" dirty="0" err="1"/>
              <a:t>prepaged</a:t>
            </a:r>
            <a:r>
              <a:rPr lang="en-US" altLang="en-US" sz="2400" dirty="0"/>
              <a:t> pages are unused, I/O and memory was wasted</a:t>
            </a:r>
            <a:endParaRPr lang="en-US" altLang="en-US" sz="2400" dirty="0"/>
          </a:p>
          <a:p>
            <a:r>
              <a:rPr lang="en-US" altLang="en-US" sz="2400" dirty="0"/>
              <a:t>Assume </a:t>
            </a:r>
            <a:r>
              <a:rPr lang="en-US" altLang="en-US" sz="2400" i="1" dirty="0"/>
              <a:t>s</a:t>
            </a:r>
            <a:r>
              <a:rPr lang="en-US" altLang="en-US" sz="2400" dirty="0"/>
              <a:t> pages are </a:t>
            </a:r>
            <a:r>
              <a:rPr lang="en-US" altLang="en-US" sz="2400" dirty="0" err="1"/>
              <a:t>prepaged</a:t>
            </a:r>
            <a:r>
              <a:rPr lang="en-US" altLang="en-US" sz="2400" dirty="0"/>
              <a:t> and </a:t>
            </a:r>
            <a:r>
              <a:rPr lang="el-GR" altLang="en-US" sz="2400" i="1" dirty="0"/>
              <a:t>α</a:t>
            </a:r>
            <a:r>
              <a:rPr lang="en-US" altLang="en-US" sz="2400" i="1" dirty="0"/>
              <a:t> </a:t>
            </a:r>
            <a:r>
              <a:rPr lang="en-US" altLang="en-US" sz="2400" dirty="0"/>
              <a:t>of the pages is used</a:t>
            </a:r>
            <a:endParaRPr lang="en-US" altLang="en-US" sz="2400" dirty="0"/>
          </a:p>
          <a:p>
            <a:pPr lvl="1"/>
            <a:r>
              <a:rPr lang="en-US" altLang="en-US" sz="2000" dirty="0"/>
              <a:t>Is cost of </a:t>
            </a:r>
            <a:r>
              <a:rPr lang="en-US" altLang="en-US" sz="2000" b="1" i="1" dirty="0"/>
              <a:t>s * </a:t>
            </a:r>
            <a:r>
              <a:rPr lang="el-GR" altLang="en-US" sz="2000" b="1" i="1" dirty="0"/>
              <a:t>α</a:t>
            </a:r>
            <a:r>
              <a:rPr lang="en-US" altLang="en-US" sz="2000" b="1" i="1" dirty="0"/>
              <a:t>  </a:t>
            </a:r>
            <a:r>
              <a:rPr lang="en-US" altLang="en-US" sz="2000" dirty="0"/>
              <a:t>save pages faults &gt; or &lt; than the cost of </a:t>
            </a:r>
            <a:r>
              <a:rPr lang="en-US" altLang="en-US" sz="2000" dirty="0" err="1"/>
              <a:t>prepaging</a:t>
            </a:r>
            <a:r>
              <a:rPr lang="en-US" altLang="en-US" sz="2000" i="1" dirty="0"/>
              <a:t> </a:t>
            </a:r>
            <a:br>
              <a:rPr lang="en-US" altLang="en-US" sz="2000" i="1" dirty="0"/>
            </a:br>
            <a:r>
              <a:rPr lang="en-US" altLang="en-US" sz="2000" b="1" i="1" dirty="0"/>
              <a:t>s * (1- </a:t>
            </a:r>
            <a:r>
              <a:rPr lang="el-GR" altLang="en-US" sz="2000" b="1" i="1" dirty="0"/>
              <a:t>α</a:t>
            </a:r>
            <a:r>
              <a:rPr lang="en-US" altLang="en-US" sz="2000" b="1" i="1" dirty="0"/>
              <a:t>) </a:t>
            </a:r>
            <a:r>
              <a:rPr lang="en-US" altLang="en-US" sz="2000" dirty="0"/>
              <a:t>unnecessary pages</a:t>
            </a:r>
            <a:r>
              <a:rPr lang="en-US" altLang="en-US" sz="2000" i="1" dirty="0"/>
              <a:t>?  </a:t>
            </a:r>
            <a:endParaRPr lang="en-US" altLang="en-US" sz="2000" i="1" dirty="0"/>
          </a:p>
          <a:p>
            <a:pPr lvl="1"/>
            <a:r>
              <a:rPr lang="el-GR" altLang="en-US" sz="2000" b="1" i="1" dirty="0"/>
              <a:t>α</a:t>
            </a:r>
            <a:r>
              <a:rPr lang="en-US" altLang="en-US" sz="2000" i="1" dirty="0"/>
              <a:t> </a:t>
            </a:r>
            <a:r>
              <a:rPr lang="en-US" altLang="en-US" sz="2000" dirty="0"/>
              <a:t>near zero </a:t>
            </a:r>
            <a:r>
              <a:rPr lang="en-US" altLang="en-US" sz="2000" dirty="0">
                <a:sym typeface="Symbol" panose="05050102010706020507" pitchFamily="18" charset="2"/>
              </a:rPr>
              <a:t> </a:t>
            </a:r>
            <a:r>
              <a:rPr lang="en-US" altLang="en-US" sz="2000" dirty="0" err="1">
                <a:sym typeface="Symbol" panose="05050102010706020507" pitchFamily="18" charset="2"/>
              </a:rPr>
              <a:t>prepaging</a:t>
            </a:r>
            <a:r>
              <a:rPr lang="en-US" altLang="en-US" sz="2000" dirty="0">
                <a:sym typeface="Symbol" panose="05050102010706020507" pitchFamily="18" charset="2"/>
              </a:rPr>
              <a:t> loses</a:t>
            </a:r>
            <a:r>
              <a:rPr lang="en-US" altLang="en-US" sz="2000" dirty="0"/>
              <a:t> 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742530" y="228830"/>
            <a:ext cx="74310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Page Size</a:t>
            </a:r>
            <a:endParaRPr lang="en-US" altLang="en-US" dirty="0"/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4763" y="1153954"/>
            <a:ext cx="7654085" cy="4759325"/>
          </a:xfrm>
        </p:spPr>
        <p:txBody>
          <a:bodyPr/>
          <a:lstStyle/>
          <a:p>
            <a:r>
              <a:rPr lang="en-US" altLang="en-US" sz="2400" dirty="0"/>
              <a:t>Sometimes OS designers have a choice</a:t>
            </a:r>
            <a:endParaRPr lang="en-US" altLang="en-US" sz="2400" dirty="0"/>
          </a:p>
          <a:p>
            <a:pPr lvl="1"/>
            <a:r>
              <a:rPr lang="en-US" altLang="en-US" sz="2000" dirty="0"/>
              <a:t>Especially if running on custom-built CPU</a:t>
            </a:r>
            <a:endParaRPr lang="en-US" altLang="en-US" sz="2000" dirty="0"/>
          </a:p>
          <a:p>
            <a:r>
              <a:rPr lang="en-US" altLang="en-US" sz="2400" dirty="0"/>
              <a:t>Page size selection must take into consideration:</a:t>
            </a:r>
            <a:endParaRPr lang="en-US" altLang="en-US" sz="2400" dirty="0"/>
          </a:p>
          <a:p>
            <a:pPr lvl="1"/>
            <a:r>
              <a:rPr lang="en-US" altLang="en-US" sz="2000" dirty="0"/>
              <a:t>Fragmentation</a:t>
            </a:r>
            <a:endParaRPr lang="en-US" altLang="en-US" sz="2000" dirty="0"/>
          </a:p>
          <a:p>
            <a:pPr lvl="1"/>
            <a:r>
              <a:rPr lang="en-US" altLang="en-US" sz="2000" dirty="0"/>
              <a:t>Page table size </a:t>
            </a:r>
            <a:endParaRPr lang="en-US" altLang="en-US" sz="2000" dirty="0"/>
          </a:p>
          <a:p>
            <a:pPr lvl="1"/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Resolution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pPr lvl="1"/>
            <a:r>
              <a:rPr lang="en-US" altLang="en-US" sz="2000" dirty="0"/>
              <a:t>I/O overhead</a:t>
            </a:r>
            <a:endParaRPr lang="en-US" altLang="en-US" sz="2000" dirty="0"/>
          </a:p>
          <a:p>
            <a:pPr lvl="1"/>
            <a:r>
              <a:rPr lang="en-US" altLang="en-US" sz="2000" dirty="0"/>
              <a:t>Number of page faults</a:t>
            </a:r>
            <a:endParaRPr lang="en-US" altLang="en-US" sz="2000" dirty="0"/>
          </a:p>
          <a:p>
            <a:pPr lvl="1"/>
            <a:r>
              <a:rPr lang="en-US" altLang="en-US" sz="2000" dirty="0"/>
              <a:t>Locality</a:t>
            </a:r>
            <a:endParaRPr lang="en-US" altLang="en-US" sz="2000" dirty="0"/>
          </a:p>
          <a:p>
            <a:pPr lvl="1"/>
            <a:r>
              <a:rPr lang="en-US" altLang="en-US" sz="2000" dirty="0"/>
              <a:t>TLB size and effectiveness</a:t>
            </a:r>
            <a:endParaRPr lang="en-US" altLang="en-US" sz="2000" dirty="0"/>
          </a:p>
          <a:p>
            <a:r>
              <a:rPr lang="en-US" altLang="en-US" sz="2400" dirty="0"/>
              <a:t>Always power of 2, usually in the range 2</a:t>
            </a:r>
            <a:r>
              <a:rPr lang="en-US" altLang="en-US" sz="2400" baseline="30000" dirty="0"/>
              <a:t>12</a:t>
            </a:r>
            <a:r>
              <a:rPr lang="en-US" altLang="en-US" sz="2400" dirty="0"/>
              <a:t> (4,096 bytes) to 2</a:t>
            </a:r>
            <a:r>
              <a:rPr lang="en-US" altLang="en-US" sz="2400" baseline="30000" dirty="0"/>
              <a:t>22</a:t>
            </a:r>
            <a:r>
              <a:rPr lang="en-US" altLang="en-US" sz="2400" dirty="0"/>
              <a:t> (4,194,304 bytes)</a:t>
            </a:r>
            <a:endParaRPr lang="en-US" altLang="en-US" sz="2400" dirty="0"/>
          </a:p>
          <a:p>
            <a:r>
              <a:rPr lang="en-US" altLang="en-US" sz="2400" dirty="0"/>
              <a:t>On average, growing over time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6531" y="232199"/>
            <a:ext cx="7921691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TLB Reach </a:t>
            </a:r>
            <a:endParaRPr lang="en-US" altLang="en-US" dirty="0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7" y="1165225"/>
            <a:ext cx="7694612" cy="4418013"/>
          </a:xfrm>
        </p:spPr>
        <p:txBody>
          <a:bodyPr/>
          <a:lstStyle/>
          <a:p>
            <a:r>
              <a:rPr lang="en-US" altLang="en-US" sz="2400" dirty="0"/>
              <a:t>TLB Reach - The amount of memory accessible from the TLB</a:t>
            </a:r>
            <a:endParaRPr lang="en-US" altLang="en-US" sz="600" dirty="0"/>
          </a:p>
          <a:p>
            <a:r>
              <a:rPr lang="en-US" altLang="en-US" sz="2400" dirty="0"/>
              <a:t>TLB Reach = (TLB Size) X (Page Size)</a:t>
            </a:r>
            <a:endParaRPr lang="en-US" altLang="en-US" sz="600" dirty="0"/>
          </a:p>
          <a:p>
            <a:r>
              <a:rPr lang="en-US" altLang="en-US" sz="2400" dirty="0"/>
              <a:t>Ideally, the working set of each process is stored in the TLB</a:t>
            </a:r>
            <a:endParaRPr lang="en-US" altLang="en-US" sz="2400" dirty="0"/>
          </a:p>
          <a:p>
            <a:pPr lvl="1"/>
            <a:r>
              <a:rPr lang="en-US" altLang="en-US" sz="2000" dirty="0"/>
              <a:t>Otherwise there is a high degree of page faults</a:t>
            </a:r>
            <a:endParaRPr lang="en-US" altLang="en-US" sz="600" dirty="0"/>
          </a:p>
          <a:p>
            <a:r>
              <a:rPr lang="en-US" altLang="en-US" sz="2400" dirty="0"/>
              <a:t>Increase the Page Size</a:t>
            </a:r>
            <a:endParaRPr lang="en-US" altLang="en-US" sz="2400" dirty="0"/>
          </a:p>
          <a:p>
            <a:pPr lvl="1"/>
            <a:r>
              <a:rPr lang="en-US" altLang="en-US" sz="2000" dirty="0"/>
              <a:t>This may lead to an increase in fragmentation as not all applications require a large page size</a:t>
            </a:r>
            <a:endParaRPr lang="en-US" altLang="en-US" sz="600" dirty="0"/>
          </a:p>
          <a:p>
            <a:r>
              <a:rPr lang="en-US" altLang="en-US" sz="2400" dirty="0"/>
              <a:t>Provide Multiple Page Sizes</a:t>
            </a:r>
            <a:endParaRPr lang="en-US" altLang="en-US" sz="2400" dirty="0"/>
          </a:p>
          <a:p>
            <a:pPr lvl="1"/>
            <a:r>
              <a:rPr lang="en-US" altLang="en-US" sz="2000" dirty="0"/>
              <a:t>This allows applications that require larger page sizes the opportunity to use them without an increase in fragmentation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857928" y="238161"/>
            <a:ext cx="76057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Program Structure</a:t>
            </a:r>
            <a:endParaRPr lang="en-US" altLang="en-US" dirty="0"/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1104900"/>
            <a:ext cx="7548562" cy="49958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 sz="2400"/>
              <a:t>Program structure</a:t>
            </a:r>
            <a:endParaRPr lang="en-US" altLang="en-US" sz="2400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 sz="2000">
                <a:latin typeface="Courier New" panose="02070309020205020404" pitchFamily="49" charset="0"/>
              </a:rPr>
              <a:t>int[128,128] data;</a:t>
            </a:r>
            <a:endParaRPr lang="en-US" altLang="en-US" sz="200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 sz="2000"/>
              <a:t>Each row is stored in one page </a:t>
            </a:r>
            <a:endParaRPr lang="en-US" altLang="en-US" sz="2000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 sz="2000"/>
              <a:t>Program 1 	</a:t>
            </a:r>
            <a:endParaRPr lang="en-US" altLang="en-US" sz="200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 sz="2400">
                <a:latin typeface="Courier New" panose="02070309020205020404" pitchFamily="49" charset="0"/>
              </a:rPr>
              <a:t>                for (j = 0; j &lt;128; j++)</a:t>
            </a:r>
            <a:br>
              <a:rPr lang="en-US" altLang="en-US" sz="2400">
                <a:latin typeface="Courier New" panose="02070309020205020404" pitchFamily="49" charset="0"/>
              </a:rPr>
            </a:br>
            <a:r>
              <a:rPr lang="en-US" altLang="en-US" sz="2400">
                <a:latin typeface="Courier New" panose="02070309020205020404" pitchFamily="49" charset="0"/>
              </a:rPr>
              <a:t>                  for (i = 0; i &lt; 128; i++)</a:t>
            </a:r>
            <a:br>
              <a:rPr lang="en-US" altLang="en-US" sz="2400">
                <a:latin typeface="Courier New" panose="02070309020205020404" pitchFamily="49" charset="0"/>
              </a:rPr>
            </a:br>
            <a:r>
              <a:rPr lang="en-US" altLang="en-US" sz="2400">
                <a:latin typeface="Courier New" panose="02070309020205020404" pitchFamily="49" charset="0"/>
              </a:rPr>
              <a:t>                        data[i,j] = 0;</a:t>
            </a:r>
            <a:br>
              <a:rPr lang="en-US" altLang="en-US" sz="2400">
                <a:latin typeface="Courier New" panose="02070309020205020404" pitchFamily="49" charset="0"/>
              </a:rPr>
            </a:br>
            <a:endParaRPr lang="en-US" altLang="en-US" sz="240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 sz="2000"/>
              <a:t>     128 x 128 = 16,384 page faults </a:t>
            </a:r>
            <a:br>
              <a:rPr lang="en-US" altLang="en-US" sz="2000"/>
            </a:br>
            <a:endParaRPr lang="en-US" altLang="en-US" sz="2000"/>
          </a:p>
          <a:p>
            <a:pPr lvl="1">
              <a:lnSpc>
                <a:spcPct val="90000"/>
              </a:lnSpc>
              <a:tabLst>
                <a:tab pos="3317875" algn="l"/>
                <a:tab pos="3649345" algn="l"/>
              </a:tabLst>
            </a:pPr>
            <a:r>
              <a:rPr lang="en-US" altLang="en-US" sz="2000"/>
              <a:t>Program 2 	</a:t>
            </a:r>
            <a:endParaRPr lang="en-US" altLang="en-US" sz="2000"/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r>
              <a:rPr lang="en-US" altLang="en-US" sz="2000">
                <a:latin typeface="Courier New" panose="02070309020205020404" pitchFamily="49" charset="0"/>
              </a:rPr>
              <a:t>             for (i = 0; i &lt; 128; i++)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             for (j = 0; j &lt; 128; j++)</a:t>
            </a:r>
            <a:br>
              <a:rPr lang="en-US" altLang="en-US" sz="2000">
                <a:latin typeface="Courier New" panose="02070309020205020404" pitchFamily="49" charset="0"/>
              </a:rPr>
            </a:br>
            <a:r>
              <a:rPr lang="en-US" altLang="en-US" sz="2000">
                <a:latin typeface="Courier New" panose="02070309020205020404" pitchFamily="49" charset="0"/>
              </a:rPr>
              <a:t>                     data[i,j] = 0;</a:t>
            </a:r>
            <a:endParaRPr lang="en-US" altLang="en-US" sz="2000">
              <a:latin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3317875" algn="l"/>
                <a:tab pos="3649345" algn="l"/>
              </a:tabLst>
            </a:pPr>
            <a:br>
              <a:rPr lang="en-US" altLang="en-US" sz="2000"/>
            </a:br>
            <a:r>
              <a:rPr lang="en-US" altLang="en-US" sz="2000"/>
              <a:t>128 page faults</a:t>
            </a:r>
            <a:endParaRPr lang="en-US" altLang="en-US" sz="200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7203" y="244123"/>
            <a:ext cx="78009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I/O interlock</a:t>
            </a:r>
            <a:endParaRPr lang="en-US" altLang="en-US" dirty="0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54" y="1193800"/>
            <a:ext cx="3929063" cy="4459288"/>
          </a:xfrm>
        </p:spPr>
        <p:txBody>
          <a:bodyPr/>
          <a:lstStyle/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I/O Interlock </a:t>
            </a:r>
            <a:r>
              <a:rPr lang="en-US" altLang="en-US" sz="2400" dirty="0"/>
              <a:t>– Pages must sometimes be locked into memory</a:t>
            </a:r>
            <a:endParaRPr lang="en-US" altLang="en-US" sz="2400" dirty="0"/>
          </a:p>
          <a:p>
            <a:r>
              <a:rPr lang="en-US" altLang="en-US" sz="2400" dirty="0"/>
              <a:t>Consider I/O - Pages that are used for copying a file from a device must be locked from being selected for eviction by a page replacement algorithm</a:t>
            </a:r>
            <a:endParaRPr lang="en-US" altLang="en-US" sz="2400" dirty="0"/>
          </a:p>
          <a:p>
            <a:r>
              <a:rPr lang="en-US" altLang="en-US" sz="2400" b="1" dirty="0">
                <a:solidFill>
                  <a:srgbClr val="006699"/>
                </a:solidFill>
                <a:latin typeface="+mj-lt"/>
              </a:rPr>
              <a:t>Pinning</a:t>
            </a:r>
            <a:r>
              <a:rPr lang="en-US" altLang="en-US" sz="2400" dirty="0"/>
              <a:t> of pages to lock into memory</a:t>
            </a:r>
            <a:endParaRPr lang="en-US" altLang="en-US" sz="2400" dirty="0"/>
          </a:p>
        </p:txBody>
      </p:sp>
      <p:pic>
        <p:nvPicPr>
          <p:cNvPr id="7885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825" y="1430338"/>
            <a:ext cx="2733675" cy="316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727009" y="241529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System Examples</a:t>
            </a:r>
            <a:endParaRPr lang="en-US" altLang="en-US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736" y="1435100"/>
            <a:ext cx="7351712" cy="4483100"/>
          </a:xfrm>
        </p:spPr>
        <p:txBody>
          <a:bodyPr/>
          <a:lstStyle/>
          <a:p>
            <a:r>
              <a:rPr lang="en-US" altLang="en-US" dirty="0"/>
              <a:t>Windows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Solaris </a:t>
            </a:r>
            <a:endParaRPr lang="en-US" altLang="en-US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345230" y="23479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Windows</a:t>
            </a:r>
            <a:endParaRPr lang="en-US" altLang="en-US" dirty="0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8608" y="1194872"/>
            <a:ext cx="7296150" cy="5299075"/>
          </a:xfrm>
        </p:spPr>
        <p:txBody>
          <a:bodyPr/>
          <a:lstStyle/>
          <a:p>
            <a:r>
              <a:rPr lang="en-US" altLang="en-US" sz="2000" dirty="0"/>
              <a:t>Uses demand paging with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clustering</a:t>
            </a:r>
            <a:r>
              <a:rPr lang="en-US" altLang="en-US" sz="2000" dirty="0"/>
              <a:t>. Clustering brings in pages surrounding the faulting page</a:t>
            </a:r>
            <a:endParaRPr lang="en-US" altLang="en-US" sz="500" dirty="0"/>
          </a:p>
          <a:p>
            <a:r>
              <a:rPr lang="en-US" altLang="en-US" sz="2000" dirty="0"/>
              <a:t>Processes are assigned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working set minimum</a:t>
            </a:r>
            <a:r>
              <a:rPr lang="en-US" altLang="en-US" sz="2000" dirty="0">
                <a:solidFill>
                  <a:srgbClr val="3366FF"/>
                </a:solidFill>
              </a:rPr>
              <a:t> </a:t>
            </a:r>
            <a:r>
              <a:rPr lang="en-US" altLang="en-US" sz="2000" dirty="0"/>
              <a:t>and 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working set maximum</a:t>
            </a:r>
            <a:endParaRPr lang="en-US" altLang="en-US" sz="2000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sz="2000" dirty="0"/>
              <a:t>Working set minimum is the minimum number of pages the process is guaranteed to have in memory</a:t>
            </a:r>
            <a:endParaRPr lang="en-US" altLang="en-US" sz="500" dirty="0"/>
          </a:p>
          <a:p>
            <a:r>
              <a:rPr lang="en-US" altLang="en-US" sz="2000" dirty="0"/>
              <a:t>A process may be assigned as many pages up to its working set maximum</a:t>
            </a:r>
            <a:endParaRPr lang="en-US" altLang="en-US" sz="500" dirty="0"/>
          </a:p>
          <a:p>
            <a:r>
              <a:rPr lang="en-US" altLang="en-US" sz="2000" dirty="0"/>
              <a:t>When the amount of free memory in the system falls below a threshold</a:t>
            </a:r>
            <a:r>
              <a:rPr lang="en-US" altLang="en-US" sz="2000" b="1" dirty="0">
                <a:solidFill>
                  <a:srgbClr val="006699"/>
                </a:solidFill>
                <a:latin typeface="+mj-lt"/>
              </a:rPr>
              <a:t>, automatic working set trimming </a:t>
            </a:r>
            <a:r>
              <a:rPr lang="en-US" altLang="en-US" sz="2000" dirty="0"/>
              <a:t>is performed to restore the amount of free memory</a:t>
            </a:r>
            <a:endParaRPr lang="en-US" altLang="en-US" sz="500" dirty="0"/>
          </a:p>
          <a:p>
            <a:r>
              <a:rPr lang="en-US" altLang="en-US" sz="2000" dirty="0"/>
              <a:t>Working set trimming removes pages from processes that have pages in excess of their working set minimum</a:t>
            </a:r>
            <a:endParaRPr lang="en-US" altLang="en-US" sz="2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4334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</a:t>
            </a:r>
            <a:endParaRPr lang="en-US" altLang="en-US" dirty="0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949" y="1226231"/>
            <a:ext cx="7704883" cy="5386387"/>
          </a:xfrm>
        </p:spPr>
        <p:txBody>
          <a:bodyPr/>
          <a:lstStyle/>
          <a:p>
            <a:r>
              <a:rPr lang="en-US" altLang="en-US" sz="2000" dirty="0"/>
              <a:t>Maintains a list of free pages to assign faulting processes</a:t>
            </a:r>
            <a:endParaRPr lang="en-US" altLang="en-US" sz="500" dirty="0"/>
          </a:p>
          <a:p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Lotsfree</a:t>
            </a:r>
            <a:r>
              <a:rPr lang="en-US" altLang="en-US" sz="2000" dirty="0"/>
              <a:t> – threshold parameter (amount of free memory) to begin paging</a:t>
            </a:r>
            <a:endParaRPr lang="en-US" altLang="en-US" sz="500" dirty="0"/>
          </a:p>
          <a:p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Desfree</a:t>
            </a:r>
            <a:r>
              <a:rPr lang="en-US" altLang="en-US" sz="2000" dirty="0"/>
              <a:t> – threshold parameter to increasing paging</a:t>
            </a:r>
            <a:endParaRPr lang="en-US" altLang="en-US" sz="500" dirty="0"/>
          </a:p>
          <a:p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Minfree</a:t>
            </a:r>
            <a:r>
              <a:rPr lang="en-US" altLang="en-US" sz="2000" dirty="0"/>
              <a:t> – threshold parameter to being swapping</a:t>
            </a:r>
            <a:endParaRPr lang="en-US" altLang="en-US" sz="500" dirty="0"/>
          </a:p>
          <a:p>
            <a:r>
              <a:rPr lang="en-US" altLang="en-US" sz="2000" dirty="0"/>
              <a:t>Paging is performed by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sz="2000" dirty="0"/>
              <a:t> process</a:t>
            </a:r>
            <a:endParaRPr lang="en-US" altLang="en-US" sz="500" dirty="0"/>
          </a:p>
          <a:p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sz="2000" dirty="0"/>
              <a:t> scans pages using modified clock algorithm</a:t>
            </a:r>
            <a:endParaRPr lang="en-US" altLang="en-US" sz="500" dirty="0"/>
          </a:p>
          <a:p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Scanrate</a:t>
            </a:r>
            <a:r>
              <a:rPr lang="en-US" altLang="en-US" sz="2000" dirty="0"/>
              <a:t> is the rate at which pages are scanned. This ranges from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slowscan</a:t>
            </a:r>
            <a:r>
              <a:rPr lang="en-US" altLang="en-US" sz="2000" dirty="0"/>
              <a:t> to </a:t>
            </a:r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fastscan</a:t>
            </a:r>
            <a:endParaRPr lang="en-US" alt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Pageout</a:t>
            </a:r>
            <a:r>
              <a:rPr lang="en-US" altLang="en-US" sz="2000" dirty="0"/>
              <a:t> is called more frequently depending upon the amount of free memory available</a:t>
            </a:r>
            <a:endParaRPr lang="en-US" altLang="en-US" sz="2000" dirty="0"/>
          </a:p>
          <a:p>
            <a:r>
              <a:rPr lang="en-US" altLang="en-US" sz="2000" b="1" i="1" dirty="0">
                <a:solidFill>
                  <a:srgbClr val="006699"/>
                </a:solidFill>
                <a:latin typeface="+mj-lt"/>
              </a:rPr>
              <a:t>Priority paging </a:t>
            </a:r>
            <a:r>
              <a:rPr lang="en-US" altLang="en-US" sz="2000" dirty="0"/>
              <a:t>gives priority to process code pages</a:t>
            </a:r>
            <a:endParaRPr lang="en-US" altLang="en-US" sz="2000" dirty="0"/>
          </a:p>
          <a:p>
            <a:endParaRPr lang="en-US" altLang="en-US" sz="20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Solaris 2 Page Scanner</a:t>
            </a:r>
            <a:endParaRPr lang="en-US" altLang="en-US" dirty="0"/>
          </a:p>
        </p:txBody>
      </p:sp>
      <p:pic>
        <p:nvPicPr>
          <p:cNvPr id="82947" name="Picture 1" descr="9_29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200" y="1189038"/>
            <a:ext cx="5454650" cy="413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10</a:t>
            </a:r>
            <a:endParaRPr lang="en-US" alt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817563" y="248268"/>
            <a:ext cx="78692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  <a:endParaRPr lang="en-US" altLang="en-US" dirty="0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2650" y="1081088"/>
            <a:ext cx="7791450" cy="4849812"/>
          </a:xfrm>
        </p:spPr>
        <p:txBody>
          <a:bodyPr/>
          <a:lstStyle/>
          <a:p>
            <a:pPr>
              <a:tabLst>
                <a:tab pos="2163445" algn="l"/>
                <a:tab pos="2855595" algn="l"/>
              </a:tabLst>
            </a:pPr>
            <a:r>
              <a:rPr lang="en-US" altLang="en-US"/>
              <a:t>Stages in Demand Paging (worse case)</a:t>
            </a:r>
            <a:endParaRPr lang="en-US" altLang="en-US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Trap to the operating system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Save the user registers and process state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Determine that the interrupt was a page fault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Check that the page reference was legal and determine the location of the page on the disk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Issue a read from the disk to a free frame: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in a queue for this device until the read request is serviced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for the device seek and/or latency time</a:t>
            </a:r>
            <a:endParaRPr lang="en-US" altLang="en-US" sz="1400"/>
          </a:p>
          <a:p>
            <a:pPr marL="798830" lvl="1" indent="-341630"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Begin the transfer of the page to a free frame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While waiting, allocate the CPU to some other user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Receive an interrupt from the disk I/O subsystem (I/O completed)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Save the registers and process state for the other user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Determine that the interrupt was from the disk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Correct the page table and other tables to show page is now in memory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Wait for the CPU to be allocated to this process again</a:t>
            </a:r>
            <a:endParaRPr lang="en-US" altLang="en-US" sz="1400"/>
          </a:p>
          <a:p>
            <a:pPr>
              <a:buFont typeface="Arial" panose="020B0604020202020204" pitchFamily="34" charset="0"/>
              <a:buAutoNum type="arabicPeriod"/>
              <a:tabLst>
                <a:tab pos="2163445" algn="l"/>
                <a:tab pos="2855595" algn="l"/>
              </a:tabLst>
            </a:pPr>
            <a:r>
              <a:rPr lang="en-US" altLang="en-US" sz="1400"/>
              <a:t>Restore the user registers, process state, and new page table, and then resume the interrupted instruction</a:t>
            </a:r>
            <a:endParaRPr lang="en-US" altLang="en-US" sz="1400"/>
          </a:p>
          <a:p>
            <a:pPr>
              <a:tabLst>
                <a:tab pos="2163445" algn="l"/>
                <a:tab pos="2855595" algn="l"/>
              </a:tabLst>
            </a:pPr>
            <a:endParaRPr lang="en-US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2476" y="244899"/>
            <a:ext cx="7693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Need For Page Replacement</a:t>
            </a:r>
            <a:endParaRPr lang="en-US" altLang="en-US" dirty="0"/>
          </a:p>
        </p:txBody>
      </p:sp>
      <p:pic>
        <p:nvPicPr>
          <p:cNvPr id="86019" name="Picture 4" descr="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200" y="1192213"/>
            <a:ext cx="6192838" cy="451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708152" y="248268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Priority Allocation</a:t>
            </a:r>
            <a:endParaRPr lang="en-US" altLang="en-US" dirty="0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9" y="1190625"/>
            <a:ext cx="7632438" cy="4394200"/>
          </a:xfrm>
        </p:spPr>
        <p:txBody>
          <a:bodyPr/>
          <a:lstStyle/>
          <a:p>
            <a:r>
              <a:rPr lang="en-US" altLang="en-US" dirty="0"/>
              <a:t>Use a proportional allocation scheme using priorities rather than size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If process </a:t>
            </a:r>
            <a:r>
              <a:rPr lang="en-US" altLang="en-US" b="1" i="1" dirty="0"/>
              <a:t>P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 generates a page fault,</a:t>
            </a:r>
            <a:endParaRPr lang="en-US" altLang="en-US" dirty="0"/>
          </a:p>
          <a:p>
            <a:pPr lvl="1"/>
            <a:r>
              <a:rPr lang="en-US" altLang="en-US" dirty="0"/>
              <a:t>select for replacement one of its frames</a:t>
            </a:r>
            <a:endParaRPr lang="en-US" altLang="en-US" dirty="0"/>
          </a:p>
          <a:p>
            <a:pPr lvl="1"/>
            <a:r>
              <a:rPr lang="en-US" altLang="en-US" dirty="0"/>
              <a:t>select for replacement a frame from a process with lower priority number</a:t>
            </a:r>
            <a:endParaRPr lang="en-US" altLang="en-US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6330" y="238161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Compression</a:t>
            </a:r>
            <a:endParaRPr lang="en-US" altLang="en-US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7746" y="1093788"/>
            <a:ext cx="7641771" cy="6929437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70C0"/>
                </a:solidFill>
              </a:rPr>
              <a:t>Memory compression  </a:t>
            </a:r>
            <a:r>
              <a:rPr lang="en-US" altLang="en-US" sz="1600" dirty="0"/>
              <a:t>--  rather than paging out modified frames to swap space, we compress several frames into a single frame, enabling the system to reduce memory usage without resorting to swapping pages.</a:t>
            </a:r>
            <a:endParaRPr lang="en-US" altLang="en-US" sz="1600" dirty="0"/>
          </a:p>
          <a:p>
            <a:r>
              <a:rPr lang="en-US" altLang="en-US" sz="1600" dirty="0"/>
              <a:t>Consider the following free-frame-list consisting of 6 frames</a:t>
            </a:r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endParaRPr lang="en-US" altLang="en-US" sz="1600" dirty="0"/>
          </a:p>
          <a:p>
            <a:r>
              <a:rPr lang="en-US" altLang="en-US" sz="1600" dirty="0"/>
              <a:t>Assume that this number of free frames falls below a certain threshold that triggers page replacement.  The replacement algorithm (say, an LRU approximation algorithm) selects four frames -- 15, 3, 35, and 26 to place on the free-frame list. It first places these frames on a modified-frame list.  Typically, the modified-frame list would next be written to swap space, making the frames available to the free-frame list.  An alternative strategy is to compress a number of frames{\</a:t>
            </a:r>
            <a:r>
              <a:rPr lang="en-US" altLang="en-US" sz="1600" dirty="0" err="1"/>
              <a:t>mdash</a:t>
            </a:r>
            <a:r>
              <a:rPr lang="en-US" altLang="en-US" sz="1600" dirty="0"/>
              <a:t>}say, three{\</a:t>
            </a:r>
            <a:r>
              <a:rPr lang="en-US" altLang="en-US" sz="1600" dirty="0" err="1"/>
              <a:t>mdash</a:t>
            </a:r>
            <a:r>
              <a:rPr lang="en-US" altLang="en-US" sz="1600" dirty="0"/>
              <a:t>}and store their compressed versions n a single page frame.</a:t>
            </a:r>
            <a:endParaRPr lang="en-US" altLang="en-US" sz="1600" dirty="0"/>
          </a:p>
          <a:p>
            <a:endParaRPr lang="en-US" altLang="en-US" sz="1600" dirty="0"/>
          </a:p>
        </p:txBody>
      </p:sp>
      <p:pic>
        <p:nvPicPr>
          <p:cNvPr id="88068" name="Picture 4" descr="B:\os-book\os10-dir\Slides-WORK-area\Figures-dir\ch10\JPG-dir\10_24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52" y="2363949"/>
            <a:ext cx="4449763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954282" y="238159"/>
            <a:ext cx="772318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Compression (Cont.)</a:t>
            </a:r>
            <a:endParaRPr lang="en-US" altLang="en-US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350" y="1093788"/>
            <a:ext cx="7677150" cy="4530725"/>
          </a:xfrm>
        </p:spPr>
        <p:txBody>
          <a:bodyPr/>
          <a:lstStyle/>
          <a:p>
            <a:r>
              <a:rPr lang="en-US" altLang="en-US" dirty="0"/>
              <a:t>An alternative to paging is </a:t>
            </a:r>
            <a:r>
              <a:rPr lang="en-US" altLang="en-US" b="1" dirty="0">
                <a:solidFill>
                  <a:srgbClr val="0070C0"/>
                </a:solidFill>
              </a:rPr>
              <a:t>memory compression</a:t>
            </a:r>
            <a:r>
              <a:rPr lang="en-US" altLang="en-US" dirty="0"/>
              <a:t>. </a:t>
            </a:r>
            <a:endParaRPr lang="en-US" altLang="en-US" dirty="0"/>
          </a:p>
          <a:p>
            <a:r>
              <a:rPr lang="en-US" altLang="en-US" dirty="0"/>
              <a:t>Rather than paging out modified frames to swap space, we compress several frames into a single frame, enabling the system to reduce memory usage without resorting to swapping pages.</a:t>
            </a:r>
            <a:endParaRPr lang="en-US" altLang="en-US" dirty="0"/>
          </a:p>
        </p:txBody>
      </p:sp>
      <p:pic>
        <p:nvPicPr>
          <p:cNvPr id="89092" name="Picture 2" descr="B:\os-book\os10-dir\Slides-WORK-area\Figures-dir\ch10\JPG-dir\10_25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3141663"/>
            <a:ext cx="5159375" cy="190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4569181"/>
            <a:ext cx="9144000" cy="1512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</a:pPr>
            <a:endParaRPr lang="ko-KR" altLang="en-US" dirty="0">
              <a:solidFill>
                <a:prstClr val="white"/>
              </a:solidFill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691680" y="5054142"/>
            <a:ext cx="5472608" cy="542078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altLang="ko-KR" sz="6600" dirty="0">
                <a:solidFill>
                  <a:prstClr val="white"/>
                </a:solidFill>
                <a:latin typeface="Comic Sans MS" panose="030F0702030302020204" pitchFamily="66" charset="0"/>
              </a:rPr>
              <a:t>THANK YOU</a:t>
            </a:r>
            <a:endParaRPr lang="ko-KR" altLang="en-US" sz="6600" dirty="0">
              <a:solidFill>
                <a:prstClr val="white"/>
              </a:solidFill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5356" y="332656"/>
            <a:ext cx="3187852" cy="3193351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lleg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llege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 and End Slide Master">
  <a:themeElements>
    <a:clrScheme name="ALLPPT-COLOR-A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D2906"/>
      </a:accent1>
      <a:accent2>
        <a:srgbClr val="FD2906"/>
      </a:accent2>
      <a:accent3>
        <a:srgbClr val="FD2906"/>
      </a:accent3>
      <a:accent4>
        <a:srgbClr val="FD2906"/>
      </a:accent4>
      <a:accent5>
        <a:srgbClr val="FD2906"/>
      </a:accent5>
      <a:accent6>
        <a:srgbClr val="FD2906"/>
      </a:accent6>
      <a:hlink>
        <a:srgbClr val="000000"/>
      </a:hlink>
      <a:folHlink>
        <a:srgbClr val="00000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lleg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llege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lleg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llege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lleg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llege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olleg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college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llege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llege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48585</Words>
  <Application>WPS Slides</Application>
  <PresentationFormat>On-screen Show (4:3)</PresentationFormat>
  <Paragraphs>1328</Paragraphs>
  <Slides>154</Slides>
  <Notes>9</Notes>
  <HiddenSlides>0</HiddenSlides>
  <MMClips>1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154</vt:i4>
      </vt:variant>
    </vt:vector>
  </HeadingPairs>
  <TitlesOfParts>
    <vt:vector size="185" baseType="lpstr">
      <vt:lpstr>Arial</vt:lpstr>
      <vt:lpstr>SimSun</vt:lpstr>
      <vt:lpstr>Wingdings</vt:lpstr>
      <vt:lpstr>Book Antiqua</vt:lpstr>
      <vt:lpstr>Times New Roman</vt:lpstr>
      <vt:lpstr>Verdana</vt:lpstr>
      <vt:lpstr>Algerian</vt:lpstr>
      <vt:lpstr>Monotype Sorts</vt:lpstr>
      <vt:lpstr>MS PGothic</vt:lpstr>
      <vt:lpstr>Helvetica</vt:lpstr>
      <vt:lpstr>Microsoft YaHei</vt:lpstr>
      <vt:lpstr>Arial Unicode MS</vt:lpstr>
      <vt:lpstr>Symbol</vt:lpstr>
      <vt:lpstr>Wingdings</vt:lpstr>
      <vt:lpstr>Courier New</vt:lpstr>
      <vt:lpstr>Nunito</vt:lpstr>
      <vt:lpstr>Euphorigenic</vt:lpstr>
      <vt:lpstr>Arial</vt:lpstr>
      <vt:lpstr>Webdings</vt:lpstr>
      <vt:lpstr>Monotype Sorts</vt:lpstr>
      <vt:lpstr>Webdings</vt:lpstr>
      <vt:lpstr>Comic Sans MS</vt:lpstr>
      <vt:lpstr>Open Sans</vt:lpstr>
      <vt:lpstr>college template</vt:lpstr>
      <vt:lpstr>Cover and End Slide Master</vt:lpstr>
      <vt:lpstr>1_college template</vt:lpstr>
      <vt:lpstr>2_college template</vt:lpstr>
      <vt:lpstr>3_college template</vt:lpstr>
      <vt:lpstr>4_college template</vt:lpstr>
      <vt:lpstr>Equation.3</vt:lpstr>
      <vt:lpstr>Equation.3</vt:lpstr>
      <vt:lpstr>CS3451 - INTRODUCTION TO OPERATING SYSTEMS </vt:lpstr>
      <vt:lpstr>Syllabus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Oracle SPARC Solaris (Cont.)</vt:lpstr>
      <vt:lpstr>Swapping</vt:lpstr>
      <vt:lpstr>Swapping (Cont.)</vt:lpstr>
      <vt:lpstr>Schematic View of Swapping</vt:lpstr>
      <vt:lpstr>Context Switch Time including Swapping</vt:lpstr>
      <vt:lpstr>Context Switch Time and Swapping (Cont.)</vt:lpstr>
      <vt:lpstr>Swapping on Mobile Systems</vt:lpstr>
      <vt:lpstr>Swapping with Paging</vt:lpstr>
      <vt:lpstr>Segmentation</vt:lpstr>
      <vt:lpstr>Segmentation</vt:lpstr>
      <vt:lpstr>Segment Table</vt:lpstr>
      <vt:lpstr>Segment Table</vt:lpstr>
      <vt:lpstr>Segment Table</vt:lpstr>
      <vt:lpstr>PowerPoint 演示文稿</vt:lpstr>
      <vt:lpstr>Example: The Intel 32 and 64-bit Architectures</vt:lpstr>
      <vt:lpstr>Example: The Intel IA-32 Architecture</vt:lpstr>
      <vt:lpstr>Example: The Intel IA-32 Architecture (Cont.)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Virtual memory </vt:lpstr>
      <vt:lpstr>Virtual memory  (Cont.)</vt:lpstr>
      <vt:lpstr>Virtual Memory That is Larger Than Physical Memory</vt:lpstr>
      <vt:lpstr>Virtual-address Space</vt:lpstr>
      <vt:lpstr>Shared Library Using Virtual Memory</vt:lpstr>
      <vt:lpstr>Demand Paging</vt:lpstr>
      <vt:lpstr>Demand Paging</vt:lpstr>
      <vt:lpstr>Basic Concepts</vt:lpstr>
      <vt:lpstr>Valid-Invalid Bit</vt:lpstr>
      <vt:lpstr>Page Table When Some Pages Are Not in Main Memory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 – Worse Case</vt:lpstr>
      <vt:lpstr>Stages in Demand Paging  (Cont.)</vt:lpstr>
      <vt:lpstr>Performance of Demand Paging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What Happens if There is no Free Frame?</vt:lpstr>
      <vt:lpstr>Page Replacement</vt:lpstr>
      <vt:lpstr>Need For Page Replacement</vt:lpstr>
      <vt:lpstr>Basic Page Replacement</vt:lpstr>
      <vt:lpstr>Page Replacement</vt:lpstr>
      <vt:lpstr>Page and Frame Replacement Algorithms</vt:lpstr>
      <vt:lpstr>Graph of Page Faults Versus the Number of Frames</vt:lpstr>
      <vt:lpstr>First-In-First-Out (FIFO) Algorithm</vt:lpstr>
      <vt:lpstr>FIFO Illustrating Belady’s Anomaly</vt:lpstr>
      <vt:lpstr>Optimal Algorithm</vt:lpstr>
      <vt:lpstr>Least Recently Used (LRU) Algorithm</vt:lpstr>
      <vt:lpstr>LRU Algorithm (Cont.)</vt:lpstr>
      <vt:lpstr>LRU Algorithm (Cont.)</vt:lpstr>
      <vt:lpstr>LRU Approximation Algorithms</vt:lpstr>
      <vt:lpstr>LRU Approximation Algorithms (cont.)</vt:lpstr>
      <vt:lpstr> Second-chance Algorithm</vt:lpstr>
      <vt:lpstr>Enhanced Second-Chance Algorithm</vt:lpstr>
      <vt:lpstr>Counting Algorithms</vt:lpstr>
      <vt:lpstr>Page-Buffering Algorithms</vt:lpstr>
      <vt:lpstr>Applications and Page Replacement</vt:lpstr>
      <vt:lpstr>Allocation of Frames</vt:lpstr>
      <vt:lpstr>Fixed Allocation</vt:lpstr>
      <vt:lpstr>Global vs. Local Allocation</vt:lpstr>
      <vt:lpstr>Reclaiming Pages</vt:lpstr>
      <vt:lpstr>Reclaiming Pages Example </vt:lpstr>
      <vt:lpstr>Non-Uniform Memory Access</vt:lpstr>
      <vt:lpstr>Non-Uniform Memory Access (Cont.)</vt:lpstr>
      <vt:lpstr>Thrashing</vt:lpstr>
      <vt:lpstr>Thrashing (Cont.)</vt:lpstr>
      <vt:lpstr>Demand Paging and Thrashing </vt:lpstr>
      <vt:lpstr>Locality In A Memory-Reference Pattern</vt:lpstr>
      <vt:lpstr>Working-Set Model</vt:lpstr>
      <vt:lpstr>Working-Set Model (Cont.)</vt:lpstr>
      <vt:lpstr>Keeping Track of the Working Set</vt:lpstr>
      <vt:lpstr>Page-Fault Frequency</vt:lpstr>
      <vt:lpstr>Working Sets and Page Fault Rates</vt:lpstr>
      <vt:lpstr>Allocating Kernel Memory</vt:lpstr>
      <vt:lpstr>Buddy System</vt:lpstr>
      <vt:lpstr>Buddy System Allocator</vt:lpstr>
      <vt:lpstr>Slab Allocator</vt:lpstr>
      <vt:lpstr>Slab Allocation</vt:lpstr>
      <vt:lpstr>Slab Allocator in Linux</vt:lpstr>
      <vt:lpstr>Slab Allocator in Linux (Cont.)</vt:lpstr>
      <vt:lpstr>Other Considerations</vt:lpstr>
      <vt:lpstr>Prepaging</vt:lpstr>
      <vt:lpstr>Page Size</vt:lpstr>
      <vt:lpstr>TLB Reach </vt:lpstr>
      <vt:lpstr>Program Structure</vt:lpstr>
      <vt:lpstr>I/O interlock</vt:lpstr>
      <vt:lpstr>Operating System Examples</vt:lpstr>
      <vt:lpstr>Windows</vt:lpstr>
      <vt:lpstr>Solaris </vt:lpstr>
      <vt:lpstr>Solaris 2 Page Scanner</vt:lpstr>
      <vt:lpstr>End of Chapter 10</vt:lpstr>
      <vt:lpstr>Performance of Demand Paging</vt:lpstr>
      <vt:lpstr>Need For Page Replacement</vt:lpstr>
      <vt:lpstr>Priority Allocation</vt:lpstr>
      <vt:lpstr>Memory Compression</vt:lpstr>
      <vt:lpstr>Memory Compression (Cont.)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 Rajesh Ranganathan</dc:creator>
  <cp:lastModifiedBy>Mahavishnu V C</cp:lastModifiedBy>
  <cp:revision>106</cp:revision>
  <cp:lastPrinted>2113-01-01T00:00:00Z</cp:lastPrinted>
  <dcterms:created xsi:type="dcterms:W3CDTF">2009-11-18T04:36:00Z</dcterms:created>
  <dcterms:modified xsi:type="dcterms:W3CDTF">2025-05-28T03:47:48Z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1033-12.2.0.20795</vt:lpwstr>
  </property>
  <property fmtid="{D5CDD505-2E9C-101B-9397-08002B2CF9AE}" pid="4" name="ICV">
    <vt:lpwstr>CCD0F5856F264A8E82D78E9B61411252_13</vt:lpwstr>
  </property>
</Properties>
</file>